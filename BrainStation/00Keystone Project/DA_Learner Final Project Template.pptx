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  <p:sldMasterId id="2147483685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Helvetica Neue" panose="020B0604020202020204" charset="0"/>
      <p:regular r:id="rId23"/>
      <p:bold r:id="rId24"/>
      <p:italic r:id="rId25"/>
      <p:boldItalic r:id="rId26"/>
    </p:embeddedFont>
    <p:embeddedFont>
      <p:font typeface="Merriweather" panose="00000500000000000000" pitchFamily="2" charset="0"/>
      <p:regular r:id="rId27"/>
      <p:bold r:id="rId28"/>
      <p:italic r:id="rId29"/>
      <p:boldItalic r:id="rId30"/>
    </p:embeddedFont>
    <p:embeddedFont>
      <p:font typeface="Merriweather Light" panose="00000400000000000000" pitchFamily="2" charset="0"/>
      <p:regular r:id="rId31"/>
      <p:bold r:id="rId32"/>
      <p:italic r:id="rId33"/>
      <p:boldItalic r:id="rId34"/>
    </p:embeddedFont>
    <p:embeddedFont>
      <p:font typeface="Merriweather Sans" pitchFamily="2" charset="0"/>
      <p:regular r:id="rId35"/>
      <p:bold r:id="rId36"/>
      <p:italic r:id="rId37"/>
      <p:boldItalic r:id="rId38"/>
    </p:embeddedFont>
    <p:embeddedFont>
      <p:font typeface="Nunito" pitchFamily="2" charset="0"/>
      <p:regular r:id="rId39"/>
      <p:bold r:id="rId40"/>
      <p:italic r:id="rId41"/>
      <p:boldItalic r:id="rId42"/>
    </p:embeddedFont>
    <p:embeddedFont>
      <p:font typeface="Nunito Sans" pitchFamily="2" charset="0"/>
      <p:regular r:id="rId43"/>
      <p:bold r:id="rId44"/>
      <p:italic r:id="rId45"/>
      <p:boldItalic r:id="rId46"/>
    </p:embeddedFont>
    <p:embeddedFont>
      <p:font typeface="Proxima Nova" panose="020B0604020202020204" charset="0"/>
      <p:regular r:id="rId47"/>
      <p:bold r:id="rId48"/>
      <p:italic r:id="rId49"/>
      <p:boldItalic r:id="rId50"/>
    </p:embeddedFont>
    <p:embeddedFont>
      <p:font typeface="Roboto" panose="02000000000000000000" pitchFamily="2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font" Target="fonts/font32.fntdata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11.fntdata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3" Type="http://schemas.openxmlformats.org/officeDocument/2006/relationships/font" Target="fonts/font35.fntdata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font" Target="fonts/font30.fntdata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font" Target="fonts/font3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54" Type="http://schemas.openxmlformats.org/officeDocument/2006/relationships/font" Target="fonts/font3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font" Target="fonts/font31.fntdata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52" Type="http://schemas.openxmlformats.org/officeDocument/2006/relationships/font" Target="fonts/font3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7ff3ab599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7ff3ab5996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7ff3ab5996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7ff3ab5996_0_2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b292a6a24b_4_1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b292a6a24b_4_14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b292a6a24b_4_1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b292a6a24b_4_14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b292a6a24b_4_1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b292a6a24b_4_14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b292a6a24b_4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b292a6a24b_4_14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34c8dc71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f34c8dc717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b292a6a24b_4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b292a6a24b_4_1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b292a6a24b_4_1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b292a6a24b_4_149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b292a6a24b_4_1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b292a6a24b_4_14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f34c8dc71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f34c8dc717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7ff3ab5996_0_1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7ff3ab5996_0_1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7ff3ab5996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7ff3ab5996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7ff3ab5996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7ff3ab5996_0_13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BLANK_1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149600" y="3974525"/>
            <a:ext cx="68448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Roboto"/>
              <a:buNone/>
            </a:pPr>
            <a:endParaRPr sz="2100" b="1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-16506" y="3519700"/>
            <a:ext cx="9177000" cy="127200"/>
          </a:xfrm>
          <a:prstGeom prst="rect">
            <a:avLst/>
          </a:prstGeom>
          <a:solidFill>
            <a:srgbClr val="101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011" y="492852"/>
            <a:ext cx="1417427" cy="23677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602375" y="3763775"/>
            <a:ext cx="584700" cy="43500"/>
          </a:xfrm>
          <a:prstGeom prst="rect">
            <a:avLst/>
          </a:prstGeom>
          <a:solidFill>
            <a:srgbClr val="FFC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81625" y="1661408"/>
            <a:ext cx="4995600" cy="20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/>
          </p:nvPr>
        </p:nvSpPr>
        <p:spPr>
          <a:xfrm>
            <a:off x="481625" y="1214325"/>
            <a:ext cx="4995600" cy="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unito Sans"/>
              <a:buNone/>
              <a:defRPr sz="1600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3"/>
          </p:nvPr>
        </p:nvSpPr>
        <p:spPr>
          <a:xfrm>
            <a:off x="489681" y="4077301"/>
            <a:ext cx="49956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None/>
              <a:defRPr sz="1200" b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opic">
  <p:cSld name="Title &amp; Subtitle copy_1_1">
    <p:bg>
      <p:bgPr>
        <a:solidFill>
          <a:schemeClr val="accen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0" y="4214375"/>
            <a:ext cx="3205550" cy="940800"/>
            <a:chOff x="-7375" y="4207325"/>
            <a:chExt cx="3205550" cy="940800"/>
          </a:xfrm>
        </p:grpSpPr>
        <p:cxnSp>
          <p:nvCxnSpPr>
            <p:cNvPr id="61" name="Google Shape;61;p14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14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" name="Google Shape;64;p14"/>
          <p:cNvGrpSpPr/>
          <p:nvPr/>
        </p:nvGrpSpPr>
        <p:grpSpPr>
          <a:xfrm rot="10800000">
            <a:off x="5938450" y="0"/>
            <a:ext cx="3205550" cy="940800"/>
            <a:chOff x="-7375" y="4207325"/>
            <a:chExt cx="3205550" cy="940800"/>
          </a:xfrm>
        </p:grpSpPr>
        <p:cxnSp>
          <p:nvCxnSpPr>
            <p:cNvPr id="65" name="Google Shape;65;p14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14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ard 2">
  <p:cSld name="TITLE_2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None/>
              <a:defRPr sz="2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85800" y="1124025"/>
            <a:ext cx="460500" cy="4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1525950" y="1996138"/>
            <a:ext cx="6092100" cy="3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 idx="2"/>
          </p:nvPr>
        </p:nvSpPr>
        <p:spPr>
          <a:xfrm>
            <a:off x="2442450" y="2815693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3"/>
          </p:nvPr>
        </p:nvSpPr>
        <p:spPr>
          <a:xfrm>
            <a:off x="2442450" y="2982958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ard">
  <p:cSld name="TITLE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None/>
              <a:defRPr sz="2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485800" y="1124025"/>
            <a:ext cx="460500" cy="4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 &amp; Subtitle copy_1_1">
    <p:bg>
      <p:bgPr>
        <a:solidFill>
          <a:srgbClr val="434343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125" y="0"/>
            <a:ext cx="9143740" cy="644743"/>
            <a:chOff x="125" y="0"/>
            <a:chExt cx="9143740" cy="644743"/>
          </a:xfrm>
        </p:grpSpPr>
        <p:grpSp>
          <p:nvGrpSpPr>
            <p:cNvPr id="88" name="Google Shape;88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89" name="Google Shape;8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99" name="Google Shape;9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109" name="Google Shape;10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119" name="Google Shape;11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129" name="Google Shape;12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139" name="Google Shape;13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" name="Google Shape;148;p19"/>
          <p:cNvGrpSpPr/>
          <p:nvPr/>
        </p:nvGrpSpPr>
        <p:grpSpPr>
          <a:xfrm>
            <a:off x="125" y="644750"/>
            <a:ext cx="9143740" cy="644743"/>
            <a:chOff x="125" y="0"/>
            <a:chExt cx="9143740" cy="644743"/>
          </a:xfrm>
        </p:grpSpPr>
        <p:grpSp>
          <p:nvGrpSpPr>
            <p:cNvPr id="149" name="Google Shape;149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150" name="Google Shape;15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160" name="Google Shape;16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170" name="Google Shape;17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180" name="Google Shape;18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190" name="Google Shape;19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" name="Google Shape;199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200" name="Google Shape;20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" name="Google Shape;209;p19"/>
          <p:cNvGrpSpPr/>
          <p:nvPr/>
        </p:nvGrpSpPr>
        <p:grpSpPr>
          <a:xfrm>
            <a:off x="125" y="1289500"/>
            <a:ext cx="9143740" cy="644743"/>
            <a:chOff x="125" y="0"/>
            <a:chExt cx="9143740" cy="644743"/>
          </a:xfrm>
        </p:grpSpPr>
        <p:grpSp>
          <p:nvGrpSpPr>
            <p:cNvPr id="210" name="Google Shape;210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211" name="Google Shape;21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221" name="Google Shape;22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231" name="Google Shape;23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" name="Google Shape;240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241" name="Google Shape;24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" name="Google Shape;250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251" name="Google Shape;25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261" name="Google Shape;26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" name="Google Shape;270;p19"/>
          <p:cNvGrpSpPr/>
          <p:nvPr/>
        </p:nvGrpSpPr>
        <p:grpSpPr>
          <a:xfrm>
            <a:off x="125" y="1934250"/>
            <a:ext cx="9143740" cy="644743"/>
            <a:chOff x="125" y="0"/>
            <a:chExt cx="9143740" cy="644743"/>
          </a:xfrm>
        </p:grpSpPr>
        <p:grpSp>
          <p:nvGrpSpPr>
            <p:cNvPr id="271" name="Google Shape;271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272" name="Google Shape;27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282" name="Google Shape;28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292" name="Google Shape;29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1" name="Google Shape;301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302" name="Google Shape;30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1" name="Google Shape;311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312" name="Google Shape;31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" name="Google Shape;321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322" name="Google Shape;32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1" name="Google Shape;331;p19"/>
          <p:cNvGrpSpPr/>
          <p:nvPr/>
        </p:nvGrpSpPr>
        <p:grpSpPr>
          <a:xfrm>
            <a:off x="125" y="2579000"/>
            <a:ext cx="9143740" cy="644743"/>
            <a:chOff x="125" y="0"/>
            <a:chExt cx="9143740" cy="644743"/>
          </a:xfrm>
        </p:grpSpPr>
        <p:grpSp>
          <p:nvGrpSpPr>
            <p:cNvPr id="332" name="Google Shape;332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333" name="Google Shape;33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" name="Google Shape;342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343" name="Google Shape;34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" name="Google Shape;352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353" name="Google Shape;35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363" name="Google Shape;36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" name="Google Shape;372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373" name="Google Shape;37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2" name="Google Shape;382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383" name="Google Shape;38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2" name="Google Shape;392;p19"/>
          <p:cNvGrpSpPr/>
          <p:nvPr/>
        </p:nvGrpSpPr>
        <p:grpSpPr>
          <a:xfrm>
            <a:off x="125" y="3223750"/>
            <a:ext cx="9143740" cy="644743"/>
            <a:chOff x="125" y="0"/>
            <a:chExt cx="9143740" cy="644743"/>
          </a:xfrm>
        </p:grpSpPr>
        <p:grpSp>
          <p:nvGrpSpPr>
            <p:cNvPr id="393" name="Google Shape;393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394" name="Google Shape;39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" name="Google Shape;403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404" name="Google Shape;40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" name="Google Shape;413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414" name="Google Shape;41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424" name="Google Shape;42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434" name="Google Shape;43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3" name="Google Shape;443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444" name="Google Shape;44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9"/>
          <p:cNvGrpSpPr/>
          <p:nvPr/>
        </p:nvGrpSpPr>
        <p:grpSpPr>
          <a:xfrm>
            <a:off x="125" y="3868500"/>
            <a:ext cx="9143740" cy="644743"/>
            <a:chOff x="125" y="0"/>
            <a:chExt cx="9143740" cy="644743"/>
          </a:xfrm>
        </p:grpSpPr>
        <p:grpSp>
          <p:nvGrpSpPr>
            <p:cNvPr id="454" name="Google Shape;454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455" name="Google Shape;45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4" name="Google Shape;464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465" name="Google Shape;46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" name="Google Shape;474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475" name="Google Shape;47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" name="Google Shape;484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485" name="Google Shape;48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4" name="Google Shape;494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495" name="Google Shape;49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505" name="Google Shape;50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125" y="4513250"/>
            <a:ext cx="9143740" cy="644743"/>
            <a:chOff x="125" y="0"/>
            <a:chExt cx="9143740" cy="644743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516" name="Google Shape;51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5" name="Google Shape;525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526" name="Google Shape;52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536" name="Google Shape;53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546" name="Google Shape;54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556" name="Google Shape;55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" name="Google Shape;565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566" name="Google Shape;56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19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Title &amp; Subtitle copy_1_1_1">
    <p:bg>
      <p:bgPr>
        <a:noFill/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 txBox="1">
            <a:spLocks noGrp="1"/>
          </p:cNvSpPr>
          <p:nvPr>
            <p:ph type="title"/>
          </p:nvPr>
        </p:nvSpPr>
        <p:spPr>
          <a:xfrm>
            <a:off x="1412000" y="1763700"/>
            <a:ext cx="6223800" cy="88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78" name="Google Shape;578;p20"/>
          <p:cNvSpPr txBox="1">
            <a:spLocks noGrp="1"/>
          </p:cNvSpPr>
          <p:nvPr>
            <p:ph type="title" idx="2"/>
          </p:nvPr>
        </p:nvSpPr>
        <p:spPr>
          <a:xfrm>
            <a:off x="2720538" y="3290175"/>
            <a:ext cx="37029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Page Number">
  <p:cSld name="CUSTOM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1"/>
          <p:cNvSpPr txBox="1">
            <a:spLocks noGrp="1"/>
          </p:cNvSpPr>
          <p:nvPr>
            <p:ph type="subTitle" idx="1"/>
          </p:nvPr>
        </p:nvSpPr>
        <p:spPr>
          <a:xfrm>
            <a:off x="131169" y="62902"/>
            <a:ext cx="20406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view 1">
  <p:cSld name="Title &amp; Subtitle copy_1_1_2">
    <p:bg>
      <p:bgPr>
        <a:solidFill>
          <a:srgbClr val="0096FF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2"/>
          <p:cNvPicPr preferRelativeResize="0"/>
          <p:nvPr/>
        </p:nvPicPr>
        <p:blipFill rotWithShape="1">
          <a:blip r:embed="rId2">
            <a:alphaModFix/>
          </a:blip>
          <a:srcRect t="109" b="109"/>
          <a:stretch/>
        </p:blipFill>
        <p:spPr>
          <a:xfrm>
            <a:off x="0" y="5542"/>
            <a:ext cx="9144000" cy="513241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2"/>
          <p:cNvSpPr txBox="1">
            <a:spLocks noGrp="1"/>
          </p:cNvSpPr>
          <p:nvPr>
            <p:ph type="subTitle" idx="1"/>
          </p:nvPr>
        </p:nvSpPr>
        <p:spPr>
          <a:xfrm>
            <a:off x="3033000" y="1968197"/>
            <a:ext cx="3078000" cy="6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22"/>
          <p:cNvSpPr txBox="1">
            <a:spLocks noGrp="1"/>
          </p:cNvSpPr>
          <p:nvPr>
            <p:ph type="title"/>
          </p:nvPr>
        </p:nvSpPr>
        <p:spPr>
          <a:xfrm>
            <a:off x="850500" y="243670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2" name="Google Shape;592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3" name="Google Shape;59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6" name="Google Shape;59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0" name="Google Shape;60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4" name="Google Shape;604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5" name="Google Shape;60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1" name="Google Shape;611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2" name="Google Shape;6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5" name="Google Shape;615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9" name="Google Shape;619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0" name="Google Shape;620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1" name="Google Shape;6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24" name="Google Shape;6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7" name="Google Shape;627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8" name="Google Shape;62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BLANK_1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5"/>
          <p:cNvSpPr txBox="1">
            <a:spLocks noGrp="1"/>
          </p:cNvSpPr>
          <p:nvPr>
            <p:ph type="title"/>
          </p:nvPr>
        </p:nvSpPr>
        <p:spPr>
          <a:xfrm>
            <a:off x="1525950" y="1996138"/>
            <a:ext cx="6092100" cy="3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33" name="Google Shape;633;p35"/>
          <p:cNvSpPr txBox="1">
            <a:spLocks noGrp="1"/>
          </p:cNvSpPr>
          <p:nvPr>
            <p:ph type="title" idx="2"/>
          </p:nvPr>
        </p:nvSpPr>
        <p:spPr>
          <a:xfrm>
            <a:off x="2442450" y="2815693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34" name="Google Shape;634;p35"/>
          <p:cNvSpPr txBox="1">
            <a:spLocks noGrp="1"/>
          </p:cNvSpPr>
          <p:nvPr>
            <p:ph type="title" idx="3"/>
          </p:nvPr>
        </p:nvSpPr>
        <p:spPr>
          <a:xfrm>
            <a:off x="2442450" y="2982958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opic">
  <p:cSld name="Title &amp; Subtitle copy_1_1">
    <p:bg>
      <p:bgPr>
        <a:solidFill>
          <a:schemeClr val="accent2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6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grpSp>
        <p:nvGrpSpPr>
          <p:cNvPr id="637" name="Google Shape;637;p36"/>
          <p:cNvGrpSpPr/>
          <p:nvPr/>
        </p:nvGrpSpPr>
        <p:grpSpPr>
          <a:xfrm>
            <a:off x="0" y="4214375"/>
            <a:ext cx="3205550" cy="940800"/>
            <a:chOff x="-7375" y="4207325"/>
            <a:chExt cx="3205550" cy="940800"/>
          </a:xfrm>
        </p:grpSpPr>
        <p:cxnSp>
          <p:nvCxnSpPr>
            <p:cNvPr id="638" name="Google Shape;638;p36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6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6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1" name="Google Shape;641;p36"/>
          <p:cNvGrpSpPr/>
          <p:nvPr/>
        </p:nvGrpSpPr>
        <p:grpSpPr>
          <a:xfrm rot="10800000">
            <a:off x="5938450" y="0"/>
            <a:ext cx="3205550" cy="940800"/>
            <a:chOff x="-7375" y="4207325"/>
            <a:chExt cx="3205550" cy="940800"/>
          </a:xfrm>
        </p:grpSpPr>
        <p:cxnSp>
          <p:nvCxnSpPr>
            <p:cNvPr id="642" name="Google Shape;642;p36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6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6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ard 1">
  <p:cSld name="TITLE_2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7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None/>
              <a:defRPr sz="2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47" name="Google Shape;647;p37"/>
          <p:cNvSpPr/>
          <p:nvPr/>
        </p:nvSpPr>
        <p:spPr>
          <a:xfrm>
            <a:off x="485800" y="1124025"/>
            <a:ext cx="460500" cy="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37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49" name="Google Shape;649;p37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view 1">
  <p:cSld name="Title &amp; Subtitle copy_1_1_2">
    <p:bg>
      <p:bgPr>
        <a:solidFill>
          <a:srgbClr val="0096FF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38"/>
          <p:cNvPicPr preferRelativeResize="0"/>
          <p:nvPr/>
        </p:nvPicPr>
        <p:blipFill rotWithShape="1">
          <a:blip r:embed="rId2">
            <a:alphaModFix/>
          </a:blip>
          <a:srcRect t="109" b="109"/>
          <a:stretch/>
        </p:blipFill>
        <p:spPr>
          <a:xfrm>
            <a:off x="0" y="5542"/>
            <a:ext cx="9144000" cy="5132414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8"/>
          <p:cNvSpPr txBox="1">
            <a:spLocks noGrp="1"/>
          </p:cNvSpPr>
          <p:nvPr>
            <p:ph type="subTitle" idx="1"/>
          </p:nvPr>
        </p:nvSpPr>
        <p:spPr>
          <a:xfrm>
            <a:off x="3033000" y="1968197"/>
            <a:ext cx="3078000" cy="6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53" name="Google Shape;653;p38"/>
          <p:cNvSpPr txBox="1">
            <a:spLocks noGrp="1"/>
          </p:cNvSpPr>
          <p:nvPr>
            <p:ph type="title"/>
          </p:nvPr>
        </p:nvSpPr>
        <p:spPr>
          <a:xfrm>
            <a:off x="850500" y="243670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None/>
              <a:defRPr sz="2200" b="1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116375" y="1356761"/>
            <a:ext cx="60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●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○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■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●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○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■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●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○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17500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400"/>
              <a:buFont typeface="Georgia"/>
              <a:buChar char="■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8" name="Google Shape;58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9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</a:t>
            </a:r>
            <a:endParaRPr b="0"/>
          </a:p>
        </p:txBody>
      </p:sp>
      <p:pic>
        <p:nvPicPr>
          <p:cNvPr id="659" name="Google Shape;659;p39"/>
          <p:cNvPicPr preferRelativeResize="0"/>
          <p:nvPr/>
        </p:nvPicPr>
        <p:blipFill rotWithShape="1">
          <a:blip r:embed="rId3">
            <a:alphaModFix/>
          </a:blip>
          <a:srcRect t="16072"/>
          <a:stretch/>
        </p:blipFill>
        <p:spPr>
          <a:xfrm>
            <a:off x="0" y="0"/>
            <a:ext cx="91883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9"/>
          <p:cNvSpPr/>
          <p:nvPr/>
        </p:nvSpPr>
        <p:spPr>
          <a:xfrm>
            <a:off x="0" y="1777800"/>
            <a:ext cx="9188400" cy="1587900"/>
          </a:xfrm>
          <a:prstGeom prst="rect">
            <a:avLst/>
          </a:prstGeom>
          <a:solidFill>
            <a:srgbClr val="FFFFFF">
              <a:alpha val="88460"/>
            </a:srgbClr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p39"/>
          <p:cNvSpPr txBox="1"/>
          <p:nvPr/>
        </p:nvSpPr>
        <p:spPr>
          <a:xfrm>
            <a:off x="1525950" y="1996138"/>
            <a:ext cx="60921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 dirty="0">
                <a:latin typeface="Nunito Sans"/>
                <a:ea typeface="Nunito Sans"/>
                <a:cs typeface="Nunito Sans"/>
                <a:sym typeface="Nunito Sans"/>
              </a:rPr>
              <a:t>Shopping Behavior Analysis</a:t>
            </a:r>
            <a:endParaRPr sz="220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62" name="Google Shape;662;p39"/>
          <p:cNvSpPr txBox="1"/>
          <p:nvPr/>
        </p:nvSpPr>
        <p:spPr>
          <a:xfrm>
            <a:off x="2442450" y="2815693"/>
            <a:ext cx="42591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Nunito Sans"/>
                <a:ea typeface="Nunito Sans"/>
                <a:cs typeface="Nunito Sans"/>
                <a:sym typeface="Nunito Sans"/>
              </a:rPr>
              <a:t>Barbara Klimova, Aleem Shaikh</a:t>
            </a:r>
            <a:endParaRPr sz="80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63" name="Google Shape;663;p39"/>
          <p:cNvSpPr txBox="1"/>
          <p:nvPr/>
        </p:nvSpPr>
        <p:spPr>
          <a:xfrm>
            <a:off x="2442450" y="2982958"/>
            <a:ext cx="42591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Nunito Sans"/>
                <a:ea typeface="Nunito Sans"/>
                <a:cs typeface="Nunito Sans"/>
                <a:sym typeface="Nunito Sans"/>
              </a:rPr>
              <a:t>Brain Station - Data Analytics Certificate</a:t>
            </a:r>
            <a:endParaRPr sz="80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0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Agenda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1" name="Google Shape;671;p40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List the main areas you will cover in your project presentation. 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1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The Problem Statement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7" name="Google Shape;677;p41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latin typeface="Nunito Sans"/>
                <a:ea typeface="Nunito Sans"/>
                <a:cs typeface="Nunito Sans"/>
                <a:sym typeface="Nunito Sans"/>
              </a:rPr>
              <a:t>This project explore shopping behavior of customer based on age, gender, season, rating, shipping method and payment method  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2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Hypothesis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3" name="Google Shape;683;p42"/>
          <p:cNvSpPr txBox="1">
            <a:spLocks noGrp="1"/>
          </p:cNvSpPr>
          <p:nvPr>
            <p:ph type="body" idx="1"/>
          </p:nvPr>
        </p:nvSpPr>
        <p:spPr>
          <a:xfrm>
            <a:off x="380999" y="1435790"/>
            <a:ext cx="7886075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eriod"/>
            </a:pPr>
            <a:r>
              <a:rPr lang="en-US" dirty="0"/>
              <a:t>Older customers tend to spend more per purchase than younger customers.</a:t>
            </a:r>
          </a:p>
          <a:p>
            <a:pPr marL="228600" lvl="0" indent="-228600">
              <a:buAutoNum type="arabicPeriod"/>
            </a:pPr>
            <a:r>
              <a:rPr lang="en-US" dirty="0"/>
              <a:t>Subscribed customers have higher purchase frequency and total purchase count than unsubscribed ones.</a:t>
            </a:r>
          </a:p>
          <a:p>
            <a:pPr marL="228600" lvl="0" indent="-228600">
              <a:buAutoNum type="arabicPeriod"/>
            </a:pPr>
            <a:r>
              <a:rPr lang="en-US" dirty="0"/>
              <a:t>Product category preferences vary significantly by gender (e.g., tech vs. apparel).</a:t>
            </a:r>
          </a:p>
          <a:p>
            <a:pPr marL="228600" lvl="0" indent="-228600">
              <a:buAutoNum type="arabicPeriod"/>
            </a:pPr>
            <a:r>
              <a:rPr lang="en-US" dirty="0"/>
              <a:t>Products labeled as “summer” or “winter” show seasonal spikes in purchase amount.</a:t>
            </a:r>
          </a:p>
          <a:p>
            <a:pPr marL="228600" lvl="0" indent="-228600">
              <a:buAutoNum type="arabicPeriod"/>
            </a:pPr>
            <a:r>
              <a:rPr lang="en-US" dirty="0"/>
              <a:t>Higher-rated products are purchased more frequently and generate higher revenue.</a:t>
            </a:r>
          </a:p>
          <a:p>
            <a:pPr marL="228600" lvl="0" indent="-228600">
              <a:buAutoNum type="arabicPeriod"/>
            </a:pPr>
            <a:r>
              <a:rPr lang="en-US" dirty="0"/>
              <a:t>Certain sizes or </a:t>
            </a:r>
            <a:r>
              <a:rPr lang="en-US" dirty="0" err="1"/>
              <a:t>colours</a:t>
            </a:r>
            <a:r>
              <a:rPr lang="en-US" dirty="0"/>
              <a:t> are more popular in specific regions or among specific demographics.</a:t>
            </a:r>
          </a:p>
          <a:p>
            <a:pPr marL="228600" lvl="0" indent="-228600">
              <a:buAutoNum type="arabicPeriod"/>
            </a:pPr>
            <a:r>
              <a:rPr lang="en-US" dirty="0"/>
              <a:t>Younger customers prefer digital wallets (e.g., PayPal), while older customers lean toward credit cards.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Data and Tools Used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9" name="Google Shape;689;p43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Where did you find the dataset?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Did you have to join multiple datasets in order to create the ideal dataset? 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What other data would you have liked to  have in an ideal scenario?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Which tools did you use to undertake the processing and statistical analysis?</a:t>
            </a:r>
          </a:p>
          <a:p>
            <a:pPr lvl="1">
              <a:spcBef>
                <a:spcPts val="0"/>
              </a:spcBef>
              <a:buFont typeface="Nunito Sans"/>
              <a:buChar char="-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Excel, </a:t>
            </a:r>
            <a:r>
              <a:rPr lang="en-US" dirty="0" err="1">
                <a:latin typeface="Nunito Sans"/>
                <a:ea typeface="Nunito Sans"/>
                <a:cs typeface="Nunito Sans"/>
                <a:sym typeface="Nunito Sans"/>
              </a:rPr>
              <a:t>Sql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4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Data Processing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95" name="Google Shape;695;p44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What did you do to refine your data: outline your process.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b="1">
                <a:latin typeface="Nunito Sans"/>
                <a:ea typeface="Nunito Sans"/>
                <a:cs typeface="Nunito Sans"/>
                <a:sym typeface="Nunito Sans"/>
              </a:rPr>
              <a:t>Outliers</a:t>
            </a: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. How did you determine outliers in your dataset? What thresholds did you set? Did you have to make any additional assumptions?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5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Data Processing 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01" name="Google Shape;701;p45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Were there any surprising insights from your data processing/exploration?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Plots showing these insights? These can be visuals exported from Tableau.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6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Statistical Analysis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07" name="Google Shape;707;p46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An overview of the different statistical analyses performed, and </a:t>
            </a:r>
            <a:r>
              <a:rPr lang="en-US" b="1">
                <a:latin typeface="Nunito Sans"/>
                <a:ea typeface="Nunito Sans"/>
                <a:cs typeface="Nunito Sans"/>
                <a:sym typeface="Nunito Sans"/>
              </a:rPr>
              <a:t>why</a:t>
            </a: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 they were chosen.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Note: Feel free to make multiple slides to discuss each one in more detail.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7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Insights Discussion 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13" name="Google Shape;713;p47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What were the main insights from the Statistical Analyses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Note: Using visuals to discuss these would be ideal. These can be visuals exported from Tableau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8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Summary Conclusions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19" name="Google Shape;719;p48"/>
          <p:cNvSpPr txBox="1">
            <a:spLocks noGrp="1"/>
          </p:cNvSpPr>
          <p:nvPr>
            <p:ph type="body" idx="1"/>
          </p:nvPr>
        </p:nvSpPr>
        <p:spPr>
          <a:xfrm>
            <a:off x="381000" y="1435800"/>
            <a:ext cx="39672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Was your expected Hypothesis confirmed or not?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Did the problem get solved from your analysis?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If not, then where do you think the issue happened.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i="1">
                <a:latin typeface="Nunito Sans"/>
                <a:ea typeface="Nunito Sans"/>
                <a:cs typeface="Nunito Sans"/>
                <a:sym typeface="Nunito Sans"/>
              </a:rPr>
              <a:t>Note: A Hypothesis not getting confirmed is </a:t>
            </a:r>
            <a:r>
              <a:rPr lang="en-US" b="1" i="1">
                <a:latin typeface="Nunito Sans"/>
                <a:ea typeface="Nunito Sans"/>
                <a:cs typeface="Nunito Sans"/>
                <a:sym typeface="Nunito Sans"/>
              </a:rPr>
              <a:t>not</a:t>
            </a:r>
            <a:r>
              <a:rPr lang="en-US" i="1">
                <a:latin typeface="Nunito Sans"/>
                <a:ea typeface="Nunito Sans"/>
                <a:cs typeface="Nunito Sans"/>
                <a:sym typeface="Nunito Sans"/>
              </a:rPr>
              <a:t> a failure. It is a scientific method of improving understanding. Be comfortable with negative results as they are just as important in informing decisions!</a:t>
            </a:r>
            <a:endParaRPr i="1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9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Key Learnings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25" name="Google Shape;725;p49"/>
          <p:cNvSpPr txBox="1">
            <a:spLocks noGrp="1"/>
          </p:cNvSpPr>
          <p:nvPr>
            <p:ph type="body" idx="1"/>
          </p:nvPr>
        </p:nvSpPr>
        <p:spPr>
          <a:xfrm>
            <a:off x="381000" y="1435800"/>
            <a:ext cx="39672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What would you change in this project process if you could do this all over again?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0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Thank You</a:t>
            </a:r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1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Appendix</a:t>
            </a:r>
            <a:endParaRPr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"/>
                <a:ea typeface="Nunito"/>
                <a:cs typeface="Nunito"/>
                <a:sym typeface="Nunito"/>
              </a:rPr>
              <a:t>References</a:t>
            </a:r>
            <a:endParaRPr b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1" name="Google Shape;741;p52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References for the entire workflow can go here or in Speaker Notes per slide.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rainStation Learner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451</Words>
  <Application>Microsoft Office PowerPoint</Application>
  <PresentationFormat>On-screen Show (16:9)</PresentationFormat>
  <Paragraphs>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Nunito</vt:lpstr>
      <vt:lpstr>Merriweather Sans</vt:lpstr>
      <vt:lpstr>Avenir</vt:lpstr>
      <vt:lpstr>Merriweather</vt:lpstr>
      <vt:lpstr>Helvetica Neue</vt:lpstr>
      <vt:lpstr>Proxima Nova</vt:lpstr>
      <vt:lpstr>Merriweather Light</vt:lpstr>
      <vt:lpstr>Arial</vt:lpstr>
      <vt:lpstr>Georgia</vt:lpstr>
      <vt:lpstr>Nunito Sans</vt:lpstr>
      <vt:lpstr>Roboto</vt:lpstr>
      <vt:lpstr>Simple Light</vt:lpstr>
      <vt:lpstr>BrainStation Learner Slide Template</vt:lpstr>
      <vt:lpstr>Simple Light</vt:lpstr>
      <vt:lpstr>Welcome</vt:lpstr>
      <vt:lpstr>Agenda</vt:lpstr>
      <vt:lpstr>The Problem Statement</vt:lpstr>
      <vt:lpstr>Hypothesis</vt:lpstr>
      <vt:lpstr>Data and Tools Used</vt:lpstr>
      <vt:lpstr>Data Processing</vt:lpstr>
      <vt:lpstr>Data Processing </vt:lpstr>
      <vt:lpstr>Statistical Analysis</vt:lpstr>
      <vt:lpstr>Insights Discussion </vt:lpstr>
      <vt:lpstr>Summary Conclusions</vt:lpstr>
      <vt:lpstr>Key Learnings</vt:lpstr>
      <vt:lpstr>Thank You</vt:lpstr>
      <vt:lpstr>Appendix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Aleem Shaikh</cp:lastModifiedBy>
  <cp:revision>5</cp:revision>
  <dcterms:modified xsi:type="dcterms:W3CDTF">2025-10-01T00:45:55Z</dcterms:modified>
</cp:coreProperties>
</file>