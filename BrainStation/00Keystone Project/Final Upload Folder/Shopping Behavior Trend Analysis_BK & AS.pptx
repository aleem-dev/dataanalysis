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Aptos Narrow" panose="020B0004020202020204" pitchFamily="34" charset="0"/>
      <p:regular r:id="rId25"/>
    </p:embeddedFont>
    <p:embeddedFont>
      <p:font typeface="Georgia" panose="02040502050405020303" pitchFamily="18" charset="0"/>
      <p:regular r:id="rId26"/>
      <p:bold r:id="rId27"/>
      <p:italic r:id="rId28"/>
      <p:boldItalic r:id="rId29"/>
    </p:embeddedFont>
    <p:embeddedFont>
      <p:font typeface="Helvetica Neue" panose="020B0604020202020204" charset="0"/>
      <p:regular r:id="rId30"/>
      <p:bold r:id="rId31"/>
      <p:italic r:id="rId32"/>
      <p:boldItalic r:id="rId33"/>
    </p:embeddedFont>
    <p:embeddedFont>
      <p:font typeface="Merriweather" panose="00000500000000000000" pitchFamily="2" charset="0"/>
      <p:regular r:id="rId34"/>
      <p:bold r:id="rId35"/>
      <p:italic r:id="rId36"/>
      <p:boldItalic r:id="rId37"/>
    </p:embeddedFont>
    <p:embeddedFont>
      <p:font typeface="Merriweather Sans" pitchFamily="2" charset="0"/>
      <p:regular r:id="rId38"/>
      <p:bold r:id="rId39"/>
      <p:italic r:id="rId40"/>
      <p:boldItalic r:id="rId41"/>
    </p:embeddedFont>
    <p:embeddedFont>
      <p:font typeface="Nunito" pitchFamily="2" charset="0"/>
      <p:regular r:id="rId42"/>
      <p:bold r:id="rId43"/>
      <p:italic r:id="rId44"/>
      <p:boldItalic r:id="rId45"/>
    </p:embeddedFont>
    <p:embeddedFont>
      <p:font typeface="Nunito Sans" pitchFamily="2" charset="0"/>
      <p:regular r:id="rId46"/>
      <p:bold r:id="rId47"/>
      <p:italic r:id="rId48"/>
      <p:boldItalic r:id="rId49"/>
    </p:embeddedFont>
    <p:embeddedFont>
      <p:font typeface="Proxima Nova" panose="020B0604020202020204" charset="0"/>
      <p:regular r:id="rId50"/>
      <p:bold r:id="rId51"/>
      <p:italic r:id="rId52"/>
      <p:boldItalic r:id="rId53"/>
    </p:embeddedFont>
    <p:embeddedFont>
      <p:font typeface="Roboto" panose="02000000000000000000" pitchFamily="2"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8" roundtripDataSignature="AMtx7mhN84wTzBZCV+lR7XT7lLD/ga03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E4BD29-9E1E-44A8-9DF3-6AC0856018A4}">
  <a:tblStyle styleId="{1DE4BD29-9E1E-44A8-9DF3-6AC0856018A4}"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1E8"/>
          </a:solidFill>
        </a:fill>
      </a:tcStyle>
    </a:wholeTbl>
    <a:band1H>
      <a:tcTxStyle/>
      <a:tcStyle>
        <a:tcBdr/>
        <a:fill>
          <a:solidFill>
            <a:srgbClr val="FFE2CD"/>
          </a:solidFill>
        </a:fill>
      </a:tcStyle>
    </a:band1H>
    <a:band2H>
      <a:tcTxStyle/>
      <a:tcStyle>
        <a:tcBdr/>
      </a:tcStyle>
    </a:band2H>
    <a:band1V>
      <a:tcTxStyle/>
      <a:tcStyle>
        <a:tcBdr/>
        <a:fill>
          <a:solidFill>
            <a:srgbClr val="FFE2CD"/>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FB1331AA-CF8B-4E79-A247-7F1ADCFCCCF5}" styleName="Table_1">
    <a:wholeTbl>
      <a:tcTxStyle b="off" i="off">
        <a:font>
          <a:latin typeface="Arial"/>
          <a:ea typeface="Arial"/>
          <a:cs typeface="Arial"/>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FFF1E8"/>
          </a:solidFill>
        </a:fill>
      </a:tcStyle>
    </a:band1H>
    <a:band2H>
      <a:tcTxStyle/>
      <a:tcStyle>
        <a:tcBdr/>
      </a:tcStyle>
    </a:band2H>
    <a:band1V>
      <a:tcTxStyle/>
      <a:tcStyle>
        <a:tcBdr/>
        <a:fill>
          <a:solidFill>
            <a:srgbClr val="FFF1E8"/>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fill>
          <a:solidFill>
            <a:schemeClr val="accent1"/>
          </a:solidFill>
        </a:fill>
      </a:tcStyle>
    </a:firstRow>
    <a:neCell>
      <a:tcTxStyle/>
      <a:tcStyle>
        <a:tcBdr/>
      </a:tcStyle>
    </a:neCell>
    <a:nwCell>
      <a:tcTxStyle/>
      <a:tcStyle>
        <a:tcBdr/>
      </a:tcStyle>
    </a:nwCell>
  </a:tblStyle>
  <a:tblStyle styleId="{E9A9AF08-3B43-4BBE-A805-83A6691AED2B}"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8" d="100"/>
          <a:sy n="128" d="100"/>
        </p:scale>
        <p:origin x="1134" y="3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font" Target="fonts/font26.fntdata"/><Relationship Id="rId55" Type="http://schemas.openxmlformats.org/officeDocument/2006/relationships/font" Target="fonts/font3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font" Target="fonts/font29.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56" Type="http://schemas.openxmlformats.org/officeDocument/2006/relationships/font" Target="fonts/font32.fntdata"/><Relationship Id="rId8" Type="http://schemas.openxmlformats.org/officeDocument/2006/relationships/slide" Target="slides/slide7.xml"/><Relationship Id="rId51" Type="http://schemas.openxmlformats.org/officeDocument/2006/relationships/font" Target="fonts/font2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font" Target="fonts/font30.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 Id="rId57" Type="http://schemas.openxmlformats.org/officeDocument/2006/relationships/font" Target="fonts/font33.fntdata"/><Relationship Id="rId10" Type="http://schemas.openxmlformats.org/officeDocument/2006/relationships/slide" Target="slides/slide9.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font" Target="fonts/font28.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1pPr>
            <a:lvl2pPr marL="914400" marR="0" lvl="1"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2pPr>
            <a:lvl3pPr marL="1371600" marR="0" lvl="2"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3pPr>
            <a:lvl4pPr marL="1828800" marR="0" lvl="3"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4pPr>
            <a:lvl5pPr marL="2286000" marR="0" lvl="4"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5pPr>
            <a:lvl6pPr marL="2743200" marR="0" lvl="5"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6pPr>
            <a:lvl7pPr marL="3200400" marR="0" lvl="6"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7pPr>
            <a:lvl8pPr marL="3657600" marR="0" lvl="7"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8pPr>
            <a:lvl9pPr marL="4114800" marR="0" lvl="8" indent="-228600" algn="l" rtl="0">
              <a:lnSpc>
                <a:spcPct val="100000"/>
              </a:lnSpc>
              <a:spcBef>
                <a:spcPts val="0"/>
              </a:spcBef>
              <a:spcAft>
                <a:spcPts val="0"/>
              </a:spcAft>
              <a:buClr>
                <a:srgbClr val="000000"/>
              </a:buClr>
              <a:buSzPts val="1400"/>
              <a:buFont typeface="Arial"/>
              <a:buNone/>
              <a:defRPr sz="2200" b="0" i="0" u="none" strike="noStrike" cap="none">
                <a:solidFill>
                  <a:srgbClr val="000000"/>
                </a:solidFill>
                <a:latin typeface="Merriweather Sans"/>
                <a:ea typeface="Merriweather Sans"/>
                <a:cs typeface="Merriweather Sans"/>
                <a:sym typeface="Merriweather Sans"/>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400"/>
              <a:buNone/>
            </a:pPr>
            <a:r>
              <a:rPr lang="en-US"/>
              <a:t>*Aleem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 name="Google Shape;71;p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a:t>*Aleem to add background to presentation + image here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a:solidFill>
                  <a:schemeClr val="dk1"/>
                </a:solidFill>
                <a:latin typeface="Georgia"/>
                <a:ea typeface="Georgia"/>
                <a:cs typeface="Georgia"/>
                <a:sym typeface="Georgia"/>
              </a:rPr>
              <a:t>*Barbara: The </a:t>
            </a:r>
            <a:r>
              <a:rPr lang="en-US" sz="1200" b="1" u="sng">
                <a:solidFill>
                  <a:schemeClr val="dk1"/>
                </a:solidFill>
                <a:latin typeface="Georgia"/>
                <a:ea typeface="Georgia"/>
                <a:cs typeface="Georgia"/>
                <a:sym typeface="Georgia"/>
              </a:rPr>
              <a:t>Target Audience</a:t>
            </a:r>
            <a:r>
              <a:rPr lang="en-US" sz="1200">
                <a:solidFill>
                  <a:schemeClr val="dk1"/>
                </a:solidFill>
                <a:latin typeface="Georgia"/>
                <a:ea typeface="Georgia"/>
                <a:cs typeface="Georgia"/>
                <a:sym typeface="Georgia"/>
              </a:rPr>
              <a:t> is the Leadership Team at Dress to Impress who has an interest to increase revenue and scale the business into further product lines.</a:t>
            </a:r>
            <a:endParaRPr sz="1200">
              <a:solidFill>
                <a:schemeClr val="dk1"/>
              </a:solidFill>
              <a:latin typeface="Georgia"/>
              <a:ea typeface="Georgia"/>
              <a:cs typeface="Georgia"/>
              <a:sym typeface="Georgia"/>
            </a:endParaRPr>
          </a:p>
          <a:p>
            <a:pPr marL="0" lvl="0" indent="0" algn="l" rtl="0">
              <a:lnSpc>
                <a:spcPct val="130000"/>
              </a:lnSpc>
              <a:spcBef>
                <a:spcPts val="0"/>
              </a:spcBef>
              <a:spcAft>
                <a:spcPts val="0"/>
              </a:spcAft>
              <a:buClr>
                <a:schemeClr val="dk1"/>
              </a:buClr>
              <a:buSzPts val="1200"/>
              <a:buFont typeface="Arial"/>
              <a:buNone/>
            </a:pPr>
            <a:endParaRPr sz="1200">
              <a:solidFill>
                <a:schemeClr val="dk1"/>
              </a:solidFill>
              <a:latin typeface="Georgia"/>
              <a:ea typeface="Georgia"/>
              <a:cs typeface="Georgia"/>
              <a:sym typeface="Georgia"/>
            </a:endParaRPr>
          </a:p>
          <a:p>
            <a:pPr marL="0" lvl="0" indent="0" algn="l" rtl="0">
              <a:lnSpc>
                <a:spcPct val="130000"/>
              </a:lnSpc>
              <a:spcBef>
                <a:spcPts val="0"/>
              </a:spcBef>
              <a:spcAft>
                <a:spcPts val="0"/>
              </a:spcAft>
              <a:buClr>
                <a:schemeClr val="dk1"/>
              </a:buClr>
              <a:buSzPts val="1200"/>
              <a:buFont typeface="Arial"/>
              <a:buNone/>
            </a:pPr>
            <a:r>
              <a:rPr lang="en-US" sz="1200">
                <a:solidFill>
                  <a:schemeClr val="dk1"/>
                </a:solidFill>
                <a:latin typeface="Georgia"/>
                <a:ea typeface="Georgia"/>
                <a:cs typeface="Georgia"/>
                <a:sym typeface="Georgia"/>
              </a:rPr>
              <a:t>The </a:t>
            </a:r>
            <a:r>
              <a:rPr lang="en-US" sz="1200" b="1" u="sng">
                <a:solidFill>
                  <a:schemeClr val="dk1"/>
                </a:solidFill>
                <a:latin typeface="Georgia"/>
                <a:ea typeface="Georgia"/>
                <a:cs typeface="Georgia"/>
                <a:sym typeface="Georgia"/>
              </a:rPr>
              <a:t>target focus</a:t>
            </a:r>
            <a:r>
              <a:rPr lang="en-US" sz="1200">
                <a:solidFill>
                  <a:schemeClr val="dk1"/>
                </a:solidFill>
                <a:latin typeface="Georgia"/>
                <a:ea typeface="Georgia"/>
                <a:cs typeface="Georgia"/>
                <a:sym typeface="Georgia"/>
              </a:rPr>
              <a:t> is on on evaluating seasonality and consumer trends by demographic profile based on age, gender and shopping behaviour patterns. </a:t>
            </a:r>
            <a:endParaRPr sz="1200">
              <a:solidFill>
                <a:schemeClr val="dk1"/>
              </a:solidFill>
              <a:latin typeface="Georgia"/>
              <a:ea typeface="Georgia"/>
              <a:cs typeface="Georgia"/>
              <a:sym typeface="Georgia"/>
            </a:endParaRPr>
          </a:p>
          <a:p>
            <a:pPr marL="0" lvl="0" indent="0" algn="l" rtl="0">
              <a:lnSpc>
                <a:spcPct val="130000"/>
              </a:lnSpc>
              <a:spcBef>
                <a:spcPts val="0"/>
              </a:spcBef>
              <a:spcAft>
                <a:spcPts val="0"/>
              </a:spcAft>
              <a:buClr>
                <a:schemeClr val="dk1"/>
              </a:buClr>
              <a:buSzPts val="1200"/>
              <a:buFont typeface="Arial"/>
              <a:buNone/>
            </a:pPr>
            <a:r>
              <a:rPr lang="en-US" sz="1200">
                <a:solidFill>
                  <a:schemeClr val="dk1"/>
                </a:solidFill>
                <a:latin typeface="Georgia"/>
                <a:ea typeface="Georgia"/>
                <a:cs typeface="Georgia"/>
                <a:sym typeface="Georgia"/>
              </a:rPr>
              <a:t>And the </a:t>
            </a:r>
            <a:r>
              <a:rPr lang="en-US" sz="1200" b="1" u="sng">
                <a:solidFill>
                  <a:schemeClr val="dk1"/>
                </a:solidFill>
                <a:latin typeface="Georgia"/>
                <a:ea typeface="Georgia"/>
                <a:cs typeface="Georgia"/>
                <a:sym typeface="Georgia"/>
              </a:rPr>
              <a:t>target purpose </a:t>
            </a:r>
            <a:r>
              <a:rPr lang="en-US" sz="1200">
                <a:solidFill>
                  <a:schemeClr val="dk1"/>
                </a:solidFill>
                <a:latin typeface="Georgia"/>
                <a:ea typeface="Georgia"/>
                <a:cs typeface="Georgia"/>
                <a:sym typeface="Georgia"/>
              </a:rPr>
              <a:t>of our project is to provide recommendation to each of the leadership team respectively. To the Head of Sales we will support the establishment of a sales strategy for expansion of product lines and to set promotions by seasonal trends.</a:t>
            </a:r>
            <a:endParaRPr sz="1200">
              <a:solidFill>
                <a:schemeClr val="dk1"/>
              </a:solidFill>
              <a:latin typeface="Georgia"/>
              <a:ea typeface="Georgia"/>
              <a:cs typeface="Georgia"/>
              <a:sym typeface="Georgia"/>
            </a:endParaRPr>
          </a:p>
          <a:p>
            <a:pPr marL="0" lvl="0" indent="0" algn="l" rtl="0">
              <a:lnSpc>
                <a:spcPct val="130000"/>
              </a:lnSpc>
              <a:spcBef>
                <a:spcPts val="0"/>
              </a:spcBef>
              <a:spcAft>
                <a:spcPts val="0"/>
              </a:spcAft>
              <a:buClr>
                <a:schemeClr val="dk1"/>
              </a:buClr>
              <a:buSzPts val="1200"/>
              <a:buFont typeface="Arial"/>
              <a:buNone/>
            </a:pPr>
            <a:r>
              <a:rPr lang="en-US" sz="1200">
                <a:solidFill>
                  <a:schemeClr val="dk1"/>
                </a:solidFill>
                <a:latin typeface="Georgia"/>
                <a:ea typeface="Georgia"/>
                <a:cs typeface="Georgia"/>
                <a:sym typeface="Georgia"/>
              </a:rPr>
              <a:t>We will also assist the Head of Ops on decision making around free shipping over a certain threshold and whether AfterPay is a sought after payment method.</a:t>
            </a:r>
            <a:endParaRPr sz="1200">
              <a:solidFill>
                <a:schemeClr val="dk1"/>
              </a:solidFill>
              <a:latin typeface="Georgia"/>
              <a:ea typeface="Georgia"/>
              <a:cs typeface="Georgia"/>
              <a:sym typeface="Georgia"/>
            </a:endParaRPr>
          </a:p>
          <a:p>
            <a:pPr marL="0" lvl="0" indent="0" algn="l" rtl="0">
              <a:lnSpc>
                <a:spcPct val="130000"/>
              </a:lnSpc>
              <a:spcBef>
                <a:spcPts val="0"/>
              </a:spcBef>
              <a:spcAft>
                <a:spcPts val="0"/>
              </a:spcAft>
              <a:buClr>
                <a:schemeClr val="dk1"/>
              </a:buClr>
              <a:buSzPts val="1200"/>
              <a:buFont typeface="Arial"/>
              <a:buNone/>
            </a:pPr>
            <a:r>
              <a:rPr lang="en-US" sz="1200">
                <a:solidFill>
                  <a:schemeClr val="dk1"/>
                </a:solidFill>
                <a:latin typeface="Georgia"/>
                <a:ea typeface="Georgia"/>
                <a:cs typeface="Georgia"/>
                <a:sym typeface="Georgia"/>
              </a:rPr>
              <a:t>We will assist the Head of MKT on determining which seasonal product line expansions to consider as well as evaluating shopping behavior by territory.</a:t>
            </a:r>
            <a:endParaRPr sz="1200">
              <a:solidFill>
                <a:schemeClr val="dk1"/>
              </a:solidFill>
              <a:latin typeface="Georgia"/>
              <a:ea typeface="Georgia"/>
              <a:cs typeface="Georgia"/>
              <a:sym typeface="Georgia"/>
            </a:endParaRPr>
          </a:p>
          <a:p>
            <a:pPr marL="0" lvl="0" indent="0" algn="l" rtl="0">
              <a:lnSpc>
                <a:spcPct val="130000"/>
              </a:lnSpc>
              <a:spcBef>
                <a:spcPts val="0"/>
              </a:spcBef>
              <a:spcAft>
                <a:spcPts val="0"/>
              </a:spcAft>
              <a:buClr>
                <a:schemeClr val="dk1"/>
              </a:buClr>
              <a:buSzPts val="1200"/>
              <a:buFont typeface="Arial"/>
              <a:buNone/>
            </a:pPr>
            <a:r>
              <a:rPr lang="en-US" sz="1200">
                <a:solidFill>
                  <a:schemeClr val="dk1"/>
                </a:solidFill>
                <a:latin typeface="Georgia"/>
                <a:ea typeface="Georgia"/>
                <a:cs typeface="Georgia"/>
                <a:sym typeface="Georgia"/>
              </a:rPr>
              <a:t>Last but not lease we will assist the Leadership team on creating a marketing promotional calendar strategy for 2026.</a:t>
            </a:r>
            <a:endParaRPr sz="1200">
              <a:solidFill>
                <a:schemeClr val="dk1"/>
              </a:solidFill>
              <a:latin typeface="Georgia"/>
              <a:ea typeface="Georgia"/>
              <a:cs typeface="Georgia"/>
              <a:sym typeface="Georgi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a:t>*Aleem to share first four &amp; Barbara to share last four  ; animation of just one sentence at a time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 name="Google Shape;98;p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a:t>*Aleem; when speaking to territories you can share if you want that if we had territories and sales rep allocation we could suggest potential strategies for setting sales targets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9ae2a8eac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g39ae2a8eace_2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a:t>*Aleem</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9ae2a8eace_2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g39ae2a8eace_2_6: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latin typeface="Georgia"/>
                <a:ea typeface="Georgia"/>
                <a:cs typeface="Georgia"/>
                <a:sym typeface="Georgia"/>
              </a:rPr>
              <a:t>*Barbara -</a:t>
            </a:r>
            <a:r>
              <a:rPr lang="en-US" sz="1200">
                <a:solidFill>
                  <a:srgbClr val="434343"/>
                </a:solidFill>
                <a:latin typeface="Georgia"/>
                <a:ea typeface="Georgia"/>
                <a:cs typeface="Georgia"/>
                <a:sym typeface="Georgia"/>
              </a:rPr>
              <a:t>The gap between average purchase count between subscribed and unsubscribed customers was quite narrow only 2% higher for subscribed customers a opposed to unsubscribed </a:t>
            </a:r>
            <a:endParaRPr sz="1200">
              <a:solidFill>
                <a:srgbClr val="FF0000"/>
              </a:solidFill>
              <a:latin typeface="Georgia"/>
              <a:ea typeface="Georgia"/>
              <a:cs typeface="Georgia"/>
              <a:sym typeface="Georgia"/>
            </a:endParaRPr>
          </a:p>
          <a:p>
            <a:pPr marL="914400" lvl="0" indent="0" algn="l" rtl="0">
              <a:lnSpc>
                <a:spcPct val="130000"/>
              </a:lnSpc>
              <a:spcBef>
                <a:spcPts val="0"/>
              </a:spcBef>
              <a:spcAft>
                <a:spcPts val="0"/>
              </a:spcAft>
              <a:buNone/>
            </a:pPr>
            <a:r>
              <a:rPr lang="en-US" sz="1200">
                <a:solidFill>
                  <a:srgbClr val="434343"/>
                </a:solidFill>
                <a:latin typeface="Georgia"/>
                <a:ea typeface="Georgia"/>
                <a:cs typeface="Georgia"/>
                <a:sym typeface="Georgia"/>
              </a:rPr>
              <a:t>Males seem to be purchasing twice as much in every category compared to females </a:t>
            </a:r>
            <a:endParaRPr sz="1200">
              <a:solidFill>
                <a:srgbClr val="434343"/>
              </a:solidFill>
              <a:latin typeface="Georgia"/>
              <a:ea typeface="Georgia"/>
              <a:cs typeface="Georgia"/>
              <a:sym typeface="Georgia"/>
            </a:endParaRPr>
          </a:p>
          <a:p>
            <a:pPr marL="914400" lvl="0" indent="0" algn="l" rtl="0">
              <a:lnSpc>
                <a:spcPct val="130000"/>
              </a:lnSpc>
              <a:spcBef>
                <a:spcPts val="0"/>
              </a:spcBef>
              <a:spcAft>
                <a:spcPts val="0"/>
              </a:spcAft>
              <a:buNone/>
            </a:pPr>
            <a:r>
              <a:rPr lang="en-US" sz="1200">
                <a:solidFill>
                  <a:srgbClr val="434343"/>
                </a:solidFill>
                <a:latin typeface="Georgia"/>
                <a:ea typeface="Georgia"/>
                <a:cs typeface="Georgia"/>
                <a:sym typeface="Georgia"/>
              </a:rPr>
              <a:t>Highest rated products have not necessarily been purchased the most frequently and didn’t generate higher revenue than the lower rated products. </a:t>
            </a:r>
            <a:endParaRPr sz="1200">
              <a:solidFill>
                <a:srgbClr val="434343"/>
              </a:solidFill>
              <a:latin typeface="Georgia"/>
              <a:ea typeface="Georgia"/>
              <a:cs typeface="Georgia"/>
              <a:sym typeface="Georgia"/>
            </a:endParaRPr>
          </a:p>
          <a:p>
            <a:pPr marL="914400" lvl="0" indent="0" algn="l" rtl="0">
              <a:lnSpc>
                <a:spcPct val="130000"/>
              </a:lnSpc>
              <a:spcBef>
                <a:spcPts val="0"/>
              </a:spcBef>
              <a:spcAft>
                <a:spcPts val="0"/>
              </a:spcAft>
              <a:buNone/>
            </a:pPr>
            <a:r>
              <a:rPr lang="en-US" sz="1200">
                <a:solidFill>
                  <a:srgbClr val="434343"/>
                </a:solidFill>
                <a:latin typeface="Georgia"/>
                <a:ea typeface="Georgia"/>
                <a:cs typeface="Georgia"/>
                <a:sym typeface="Georgia"/>
              </a:rPr>
              <a:t>The youngest customer actually prefer cash and the customers thay are 65+ prefer payment by credit card </a:t>
            </a:r>
            <a:endParaRPr sz="1200">
              <a:latin typeface="Georgia"/>
              <a:ea typeface="Georgia"/>
              <a:cs typeface="Georgia"/>
              <a:sym typeface="Georgia"/>
            </a:endParaRPr>
          </a:p>
          <a:p>
            <a:pPr marL="0" lvl="0" indent="0" algn="l" rtl="0">
              <a:lnSpc>
                <a:spcPct val="100000"/>
              </a:lnSpc>
              <a:spcBef>
                <a:spcPts val="0"/>
              </a:spcBef>
              <a:spcAft>
                <a:spcPts val="0"/>
              </a:spcAft>
              <a:buSzPts val="1400"/>
              <a:buNone/>
            </a:pPr>
            <a:r>
              <a:rPr lang="en-US" sz="1200">
                <a:latin typeface="Georgia"/>
                <a:ea typeface="Georgia"/>
                <a:cs typeface="Georgia"/>
                <a:sym typeface="Georgia"/>
              </a:rPr>
              <a:t>* I know you might not be able to see the graphs, however we are just highlighting them here and we will be displaying them individually on the next slides.</a:t>
            </a:r>
            <a:endParaRPr sz="1200">
              <a:latin typeface="Georgia"/>
              <a:ea typeface="Georgia"/>
              <a:cs typeface="Georgia"/>
              <a:sym typeface="Georgi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9ae2a8eace_2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g39ae2a8eace_2_1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latin typeface="Georgia"/>
                <a:ea typeface="Georgia"/>
                <a:cs typeface="Georgia"/>
                <a:sym typeface="Georgia"/>
              </a:rPr>
              <a:t>*Barbara: We first analyzed the consumer demographic trends to establish our target market for expanding the product lines. Furthermore, we looked at purchasing patterns by ratings to establish whether consumer behavior is affected by rating of product. </a:t>
            </a:r>
            <a:endParaRPr sz="1200">
              <a:latin typeface="Georgia"/>
              <a:ea typeface="Georgia"/>
              <a:cs typeface="Georgia"/>
              <a:sym typeface="Georgia"/>
            </a:endParaRPr>
          </a:p>
          <a:p>
            <a:pPr marL="0" lvl="0" indent="0" algn="l" rtl="0">
              <a:lnSpc>
                <a:spcPct val="100000"/>
              </a:lnSpc>
              <a:spcBef>
                <a:spcPts val="0"/>
              </a:spcBef>
              <a:spcAft>
                <a:spcPts val="0"/>
              </a:spcAft>
              <a:buSzPts val="1400"/>
              <a:buNone/>
            </a:pPr>
            <a:endParaRPr sz="1200">
              <a:latin typeface="Georgia"/>
              <a:ea typeface="Georgia"/>
              <a:cs typeface="Georgia"/>
              <a:sym typeface="Georgia"/>
            </a:endParaRPr>
          </a:p>
          <a:p>
            <a:pPr marL="0" lvl="0" indent="0" algn="l" rtl="0">
              <a:lnSpc>
                <a:spcPct val="100000"/>
              </a:lnSpc>
              <a:spcBef>
                <a:spcPts val="0"/>
              </a:spcBef>
              <a:spcAft>
                <a:spcPts val="0"/>
              </a:spcAft>
              <a:buSzPts val="1400"/>
              <a:buNone/>
            </a:pPr>
            <a:r>
              <a:rPr lang="en-US" sz="1200">
                <a:latin typeface="Georgia"/>
                <a:ea typeface="Georgia"/>
                <a:cs typeface="Georgia"/>
                <a:sym typeface="Georgia"/>
              </a:rPr>
              <a:t>We also </a:t>
            </a:r>
            <a:r>
              <a:rPr lang="en-US" sz="1200">
                <a:solidFill>
                  <a:schemeClr val="dk1"/>
                </a:solidFill>
                <a:latin typeface="Georgia"/>
                <a:ea typeface="Georgia"/>
                <a:cs typeface="Georgia"/>
                <a:sym typeface="Georgia"/>
              </a:rPr>
              <a:t>analyzed shipping preferences to provide the Head of Operations guidance on allowing free shipping and we will be sharing the payment type trend analysis by age to establish whether we would like to offer afterpay as a payment solution; based on credit card use. </a:t>
            </a:r>
            <a:endParaRPr sz="1200">
              <a:latin typeface="Georgia"/>
              <a:ea typeface="Georgia"/>
              <a:cs typeface="Georgia"/>
              <a:sym typeface="Georgia"/>
            </a:endParaRPr>
          </a:p>
          <a:p>
            <a:pPr marL="0" lvl="0" indent="0" algn="l" rtl="0">
              <a:lnSpc>
                <a:spcPct val="100000"/>
              </a:lnSpc>
              <a:spcBef>
                <a:spcPts val="0"/>
              </a:spcBef>
              <a:spcAft>
                <a:spcPts val="0"/>
              </a:spcAft>
              <a:buSzPts val="1400"/>
              <a:buNone/>
            </a:pPr>
            <a:r>
              <a:rPr lang="en-US" sz="1200">
                <a:latin typeface="Georgia"/>
                <a:ea typeface="Georgia"/>
                <a:cs typeface="Georgia"/>
                <a:sym typeface="Georgia"/>
              </a:rPr>
              <a:t>We then analyzed the subscriber seasonal patterns to establish a rewards program for the subscribers customers.</a:t>
            </a:r>
            <a:endParaRPr sz="1200">
              <a:latin typeface="Georgia"/>
              <a:ea typeface="Georgia"/>
              <a:cs typeface="Georgia"/>
              <a:sym typeface="Georgia"/>
            </a:endParaRPr>
          </a:p>
          <a:p>
            <a:pPr marL="0" lvl="0" indent="0" algn="l" rtl="0">
              <a:lnSpc>
                <a:spcPct val="100000"/>
              </a:lnSpc>
              <a:spcBef>
                <a:spcPts val="0"/>
              </a:spcBef>
              <a:spcAft>
                <a:spcPts val="0"/>
              </a:spcAft>
              <a:buSzPts val="1400"/>
              <a:buNone/>
            </a:pPr>
            <a:r>
              <a:rPr lang="en-US" sz="1200">
                <a:latin typeface="Georgia"/>
                <a:ea typeface="Georgia"/>
                <a:cs typeface="Georgia"/>
                <a:sym typeface="Georgia"/>
              </a:rPr>
              <a:t>We also evaluated the seasonal spikes based on the trends in each season to establish a strategy for setting a marketing promotional calendar. </a:t>
            </a:r>
            <a:endParaRPr sz="1200">
              <a:latin typeface="Georgia"/>
              <a:ea typeface="Georgia"/>
              <a:cs typeface="Georgia"/>
              <a:sym typeface="Georgi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9ae2a8eace_2_3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*Aleem</a:t>
            </a:r>
            <a:endParaRPr/>
          </a:p>
        </p:txBody>
      </p:sp>
      <p:sp>
        <p:nvSpPr>
          <p:cNvPr id="135" name="Google Shape;135;g39ae2a8eace_2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9ae2a8eace_2_1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*Aleem</a:t>
            </a:r>
            <a:endParaRPr/>
          </a:p>
        </p:txBody>
      </p:sp>
      <p:sp>
        <p:nvSpPr>
          <p:cNvPr id="144" name="Google Shape;144;g39ae2a8eace_2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9ba28e7bea_0_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*Aleem</a:t>
            </a:r>
            <a:endParaRPr/>
          </a:p>
        </p:txBody>
      </p:sp>
      <p:sp>
        <p:nvSpPr>
          <p:cNvPr id="152" name="Google Shape;152;g39ba28e7be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9ae2a8eace_2_4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*Aleem: change title and add summary of findings in the speaker notes</a:t>
            </a:r>
            <a:endParaRPr/>
          </a:p>
          <a:p>
            <a:pPr marL="914400" lvl="0" indent="0" algn="l" rtl="0">
              <a:lnSpc>
                <a:spcPct val="130000"/>
              </a:lnSpc>
              <a:spcBef>
                <a:spcPts val="0"/>
              </a:spcBef>
              <a:spcAft>
                <a:spcPts val="0"/>
              </a:spcAft>
              <a:buNone/>
            </a:pPr>
            <a:r>
              <a:rPr lang="en-US" sz="1800">
                <a:solidFill>
                  <a:schemeClr val="dk1"/>
                </a:solidFill>
                <a:latin typeface="Nunito Sans"/>
                <a:ea typeface="Nunito Sans"/>
                <a:cs typeface="Nunito Sans"/>
                <a:sym typeface="Nunito Sans"/>
              </a:rPr>
              <a:t> </a:t>
            </a:r>
            <a:r>
              <a:rPr lang="en-US" sz="1800">
                <a:solidFill>
                  <a:srgbClr val="FF0000"/>
                </a:solidFill>
                <a:latin typeface="Nunito Sans"/>
                <a:ea typeface="Nunito Sans"/>
                <a:cs typeface="Nunito Sans"/>
                <a:sym typeface="Nunito Sans"/>
              </a:rPr>
              <a:t>-&gt; incentivising for buying in bulk via subscribers rewards scheme</a:t>
            </a:r>
            <a:endParaRPr/>
          </a:p>
        </p:txBody>
      </p:sp>
      <p:sp>
        <p:nvSpPr>
          <p:cNvPr id="159" name="Google Shape;159;g39ae2a8eace_2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9b6bfe189f_0_27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*Aleem</a:t>
            </a:r>
            <a:endParaRPr/>
          </a:p>
        </p:txBody>
      </p:sp>
      <p:sp>
        <p:nvSpPr>
          <p:cNvPr id="166" name="Google Shape;166;g39b6bfe189f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9ae4339ae2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9ae4339ae2_0_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a:solidFill>
                  <a:schemeClr val="dk1"/>
                </a:solidFill>
                <a:latin typeface="Georgia"/>
                <a:ea typeface="Georgia"/>
                <a:cs typeface="Georgia"/>
                <a:sym typeface="Georgia"/>
              </a:rPr>
              <a:t>*Barbara: The Gen Z's actually prefer cash, perhaps as they are not yet so used to using a bank account. Early Millennials prefer Venmo; fast &amp; easy and Credit Card due to most of their disposable income going towards the high cost of living. Late Millennials and Gen X prefer PayPal and Debit Cards as they don’t want to aggregate debt later in their life.  </a:t>
            </a:r>
            <a:endParaRPr sz="1200">
              <a:solidFill>
                <a:schemeClr val="dk1"/>
              </a:solidFill>
              <a:latin typeface="Georgia"/>
              <a:ea typeface="Georgia"/>
              <a:cs typeface="Georgia"/>
              <a:sym typeface="Georgia"/>
            </a:endParaRPr>
          </a:p>
          <a:p>
            <a:pPr marL="0" lvl="0" indent="0" algn="l" rtl="0">
              <a:spcBef>
                <a:spcPts val="0"/>
              </a:spcBef>
              <a:spcAft>
                <a:spcPts val="0"/>
              </a:spcAft>
              <a:buNone/>
            </a:pPr>
            <a:r>
              <a:rPr lang="en-US" sz="1200">
                <a:solidFill>
                  <a:schemeClr val="dk1"/>
                </a:solidFill>
                <a:latin typeface="Georgia"/>
                <a:ea typeface="Georgia"/>
                <a:cs typeface="Georgia"/>
                <a:sym typeface="Georgia"/>
              </a:rPr>
              <a:t>Whereas the Baby Boomers once again prefer good old cash, however it is surprising that they also prefer credit card as they enter retirement. Lastly, the Generation Jones prefers to pay by old school bank transfer or credit card as well, nevertheless we can see that this age group only made half the orders of what each other group made. </a:t>
            </a:r>
            <a:endParaRPr sz="1200">
              <a:solidFill>
                <a:schemeClr val="dk1"/>
              </a:solidFill>
              <a:latin typeface="Georgia"/>
              <a:ea typeface="Georgia"/>
              <a:cs typeface="Georgia"/>
              <a:sym typeface="Georgi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9ae2a8eace_2_2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*Aleem - request from Barbara; if this graph is updated please also update in slide 7 for data processing; thanks</a:t>
            </a:r>
            <a:endParaRPr/>
          </a:p>
        </p:txBody>
      </p:sp>
      <p:sp>
        <p:nvSpPr>
          <p:cNvPr id="181" name="Google Shape;181;g39ae2a8eace_2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9" name="Google Shape;189;p9: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SzPts val="1400"/>
              <a:buNone/>
            </a:pPr>
            <a:r>
              <a:rPr lang="en-US" sz="1200">
                <a:latin typeface="Georgia"/>
                <a:ea typeface="Georgia"/>
                <a:cs typeface="Georgia"/>
                <a:sym typeface="Georgia"/>
              </a:rPr>
              <a:t>*Barbara: It was surprising for us to see that among the top 5 average # of products sold the company had sold 34 units of dresses per subscriber in winter amd 33 units of scarves in the summer. Makes us wonder if there was a special promo going on to offer dresses from the last season on high discount and if the scarves were just summer scarves or a promo was run for the winter scarves from last season as well. If margins allow and if we are overstocking, we can repeat a similar promo this year. Other than that we would recommend to focus on following the trends in this product line range for possible revamp of products and then spotlighting the following products; Belts &amp; Shirts in Fall, Blouses and in Spring and Pants and Scarves in Winter and dresses in Summer.</a:t>
            </a:r>
            <a:endParaRPr sz="1200">
              <a:latin typeface="Georgia"/>
              <a:ea typeface="Georgia"/>
              <a:cs typeface="Georgia"/>
              <a:sym typeface="Georgia"/>
            </a:endParaRPr>
          </a:p>
          <a:p>
            <a:pPr marL="457200" marR="0" lvl="0" indent="-228600" algn="l" rtl="0">
              <a:lnSpc>
                <a:spcPct val="100000"/>
              </a:lnSpc>
              <a:spcBef>
                <a:spcPts val="0"/>
              </a:spcBef>
              <a:spcAft>
                <a:spcPts val="0"/>
              </a:spcAft>
              <a:buSzPts val="1400"/>
              <a:buNone/>
            </a:pPr>
            <a:endParaRPr sz="1200">
              <a:latin typeface="Georgia"/>
              <a:ea typeface="Georgia"/>
              <a:cs typeface="Georgia"/>
              <a:sym typeface="Georgia"/>
            </a:endParaRPr>
          </a:p>
          <a:p>
            <a:pPr marL="457200" marR="0" lvl="0" indent="-228600" algn="l" rtl="0">
              <a:lnSpc>
                <a:spcPct val="100000"/>
              </a:lnSpc>
              <a:spcBef>
                <a:spcPts val="0"/>
              </a:spcBef>
              <a:spcAft>
                <a:spcPts val="0"/>
              </a:spcAft>
              <a:buSzPts val="1400"/>
              <a:buNone/>
            </a:pPr>
            <a:r>
              <a:rPr lang="en-US" sz="1200">
                <a:latin typeface="Georgia"/>
                <a:ea typeface="Georgia"/>
                <a:cs typeface="Georgia"/>
                <a:sym typeface="Georgia"/>
              </a:rPr>
              <a:t>As for the lowest average products sold, which are Pants in Fall, Handbags in summer and Blouses, Gloves and Jeans in winter, we would advise the teams to also revisit the product line quality and range and try to spotlight them via EDMs to boost sales. </a:t>
            </a:r>
            <a:endParaRPr sz="1200">
              <a:latin typeface="Georgia"/>
              <a:ea typeface="Georgia"/>
              <a:cs typeface="Georgia"/>
              <a:sym typeface="Georgia"/>
            </a:endParaRPr>
          </a:p>
          <a:p>
            <a:pPr marL="457200" marR="0" lvl="0" indent="-228600" algn="l" rtl="0">
              <a:lnSpc>
                <a:spcPct val="100000"/>
              </a:lnSpc>
              <a:spcBef>
                <a:spcPts val="0"/>
              </a:spcBef>
              <a:spcAft>
                <a:spcPts val="0"/>
              </a:spcAft>
              <a:buSzPts val="1400"/>
              <a:buNone/>
            </a:pPr>
            <a:endParaRPr sz="1200">
              <a:latin typeface="Georgia"/>
              <a:ea typeface="Georgia"/>
              <a:cs typeface="Georgia"/>
              <a:sym typeface="Georgia"/>
            </a:endParaRPr>
          </a:p>
          <a:p>
            <a:pPr marL="457200" marR="0" lvl="0" indent="-228600" algn="l" rtl="0">
              <a:lnSpc>
                <a:spcPct val="100000"/>
              </a:lnSpc>
              <a:spcBef>
                <a:spcPts val="0"/>
              </a:spcBef>
              <a:spcAft>
                <a:spcPts val="0"/>
              </a:spcAft>
              <a:buSzPts val="1400"/>
              <a:buNone/>
            </a:pPr>
            <a:endParaRPr sz="1200">
              <a:latin typeface="Georgia"/>
              <a:ea typeface="Georgia"/>
              <a:cs typeface="Georgia"/>
              <a:sym typeface="Georgi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9ae4339ae2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9ae4339ae2_0_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Georgia"/>
                <a:ea typeface="Georgia"/>
                <a:cs typeface="Georgia"/>
                <a:sym typeface="Georgia"/>
              </a:rPr>
              <a:t>Barbara: </a:t>
            </a:r>
            <a:r>
              <a:rPr lang="en-US" sz="1200">
                <a:solidFill>
                  <a:schemeClr val="dk1"/>
                </a:solidFill>
                <a:latin typeface="Georgia"/>
                <a:ea typeface="Georgia"/>
                <a:cs typeface="Georgia"/>
                <a:sym typeface="Georgia"/>
              </a:rPr>
              <a:t>As per the above we have concluded that Northeast and Midwest customers were purchasing high amounts of products in winter and fall; highest purchases were in boots and jackets, whilst in spring and summer they purchased highest amount of coats, sneakers and sunglasses, which is a moderate type of purchase based on their climate.</a:t>
            </a:r>
            <a:endParaRPr sz="1200">
              <a:solidFill>
                <a:schemeClr val="dk1"/>
              </a:solidFill>
              <a:latin typeface="Georgia"/>
              <a:ea typeface="Georgia"/>
              <a:cs typeface="Georgia"/>
              <a:sym typeface="Georgia"/>
            </a:endParaRPr>
          </a:p>
          <a:p>
            <a:pPr marL="0" lvl="0" indent="0" algn="l" rtl="0">
              <a:spcBef>
                <a:spcPts val="0"/>
              </a:spcBef>
              <a:spcAft>
                <a:spcPts val="0"/>
              </a:spcAft>
              <a:buNone/>
            </a:pPr>
            <a:endParaRPr sz="1200">
              <a:solidFill>
                <a:schemeClr val="dk1"/>
              </a:solidFill>
              <a:latin typeface="Georgia"/>
              <a:ea typeface="Georgia"/>
              <a:cs typeface="Georgia"/>
              <a:sym typeface="Georgia"/>
            </a:endParaRPr>
          </a:p>
          <a:p>
            <a:pPr marL="0" lvl="0" indent="0" algn="l" rtl="0">
              <a:spcBef>
                <a:spcPts val="0"/>
              </a:spcBef>
              <a:spcAft>
                <a:spcPts val="0"/>
              </a:spcAft>
              <a:buNone/>
            </a:pPr>
            <a:r>
              <a:rPr lang="en-US" sz="1200">
                <a:solidFill>
                  <a:schemeClr val="dk1"/>
                </a:solidFill>
                <a:latin typeface="Georgia"/>
                <a:ea typeface="Georgia"/>
                <a:cs typeface="Georgia"/>
                <a:sym typeface="Georgia"/>
              </a:rPr>
              <a:t>Whereas customers from the South and West territory had the highest number of purchases in Spring, Fall and Summer purchasing accessories, shorts, shirts, hoodies and sweaters as well as summer coats. Whilst in winters their highest purchases were of blouses, hoodies and gloves which again shows moderate purchasing patterns as per their climate. </a:t>
            </a:r>
            <a:endParaRPr sz="1200">
              <a:solidFill>
                <a:schemeClr val="dk1"/>
              </a:solidFill>
              <a:latin typeface="Georgia"/>
              <a:ea typeface="Georgia"/>
              <a:cs typeface="Georgia"/>
              <a:sym typeface="Georgia"/>
            </a:endParaRPr>
          </a:p>
          <a:p>
            <a:pPr marL="0" lvl="0" indent="0" algn="l" rtl="0">
              <a:spcBef>
                <a:spcPts val="0"/>
              </a:spcBef>
              <a:spcAft>
                <a:spcPts val="0"/>
              </a:spcAft>
              <a:buNone/>
            </a:pPr>
            <a:endParaRPr sz="1200">
              <a:solidFill>
                <a:schemeClr val="dk1"/>
              </a:solidFill>
              <a:latin typeface="Georgia"/>
              <a:ea typeface="Georgia"/>
              <a:cs typeface="Georgia"/>
              <a:sym typeface="Georgi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9ae2a8eace_2_3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*Aleem. This query was run to set promotional strategies : when is the right time to send out the EDM? Perhaps Change to trend line and update table and chart by month</a:t>
            </a:r>
            <a:endParaRPr/>
          </a:p>
        </p:txBody>
      </p:sp>
      <p:sp>
        <p:nvSpPr>
          <p:cNvPr id="205" name="Google Shape;205;g39ae2a8eace_2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3" name="Google Shape;213;p1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200">
                <a:latin typeface="Georgia"/>
                <a:ea typeface="Georgia"/>
                <a:cs typeface="Georgia"/>
                <a:sym typeface="Georgia"/>
              </a:rPr>
              <a:t>*Aleem: Sales, Ops &amp; Barbara: MKT, Both</a:t>
            </a:r>
            <a:endParaRPr sz="1200">
              <a:latin typeface="Georgia"/>
              <a:ea typeface="Georgia"/>
              <a:cs typeface="Georgia"/>
              <a:sym typeface="Georgia"/>
            </a:endParaRPr>
          </a:p>
          <a:p>
            <a:pPr marL="0" lvl="0" indent="0" algn="l" rtl="0">
              <a:lnSpc>
                <a:spcPct val="100000"/>
              </a:lnSpc>
              <a:spcBef>
                <a:spcPts val="0"/>
              </a:spcBef>
              <a:spcAft>
                <a:spcPts val="0"/>
              </a:spcAft>
              <a:buSzPts val="1400"/>
              <a:buNone/>
            </a:pPr>
            <a:endParaRPr sz="1200">
              <a:latin typeface="Georgia"/>
              <a:ea typeface="Georgia"/>
              <a:cs typeface="Georgia"/>
              <a:sym typeface="Georgia"/>
            </a:endParaRPr>
          </a:p>
          <a:p>
            <a:pPr marL="0" lvl="0" indent="0" algn="l" rtl="0">
              <a:lnSpc>
                <a:spcPct val="100000"/>
              </a:lnSpc>
              <a:spcBef>
                <a:spcPts val="0"/>
              </a:spcBef>
              <a:spcAft>
                <a:spcPts val="0"/>
              </a:spcAft>
              <a:buSzPts val="1400"/>
              <a:buNone/>
            </a:pPr>
            <a:r>
              <a:rPr lang="en-US" sz="1200">
                <a:latin typeface="Georgia"/>
                <a:ea typeface="Georgia"/>
                <a:cs typeface="Georgia"/>
                <a:sym typeface="Georgia"/>
              </a:rPr>
              <a:t>Barbara: </a:t>
            </a:r>
            <a:r>
              <a:rPr lang="en-US" sz="1200" b="1" u="sng">
                <a:latin typeface="Georgia"/>
                <a:ea typeface="Georgia"/>
                <a:cs typeface="Georgia"/>
                <a:sym typeface="Georgia"/>
              </a:rPr>
              <a:t>Recommendation 5</a:t>
            </a:r>
            <a:r>
              <a:rPr lang="en-US" sz="1200">
                <a:latin typeface="Georgia"/>
                <a:ea typeface="Georgia"/>
                <a:cs typeface="Georgia"/>
                <a:sym typeface="Georgia"/>
              </a:rPr>
              <a:t>: </a:t>
            </a:r>
            <a:r>
              <a:rPr lang="en-US" sz="1200">
                <a:solidFill>
                  <a:schemeClr val="dk1"/>
                </a:solidFill>
                <a:latin typeface="Georgia"/>
                <a:ea typeface="Georgia"/>
                <a:cs typeface="Georgia"/>
                <a:sym typeface="Georgia"/>
              </a:rPr>
              <a:t>Send out an EDM notifying all customers about the rewards program for subscribers who make the highest amount of purchases to obtain reward points for each time they buy 10 units or more of each item, they will receive tiered discounts.</a:t>
            </a:r>
            <a:r>
              <a:rPr lang="en-US" sz="1200">
                <a:latin typeface="Georgia"/>
                <a:ea typeface="Georgia"/>
                <a:cs typeface="Georgia"/>
                <a:sym typeface="Georgia"/>
              </a:rPr>
              <a:t>The rewards program will not only motivate the unsubscribed customers to subscribe but also for the customers to buy more as on average currently 26 units are purchased by a subscribed customer and 25 by unsubscribed. If they push it up to 30 this will increase sales and provide customers with an incentive to receive a discount.Furthermore ensure that only subscribers have access </a:t>
            </a:r>
            <a:r>
              <a:rPr lang="en-US" sz="1200">
                <a:solidFill>
                  <a:schemeClr val="dk1"/>
                </a:solidFill>
                <a:latin typeface="Georgia"/>
                <a:ea typeface="Georgia"/>
                <a:cs typeface="Georgia"/>
                <a:sym typeface="Georgia"/>
              </a:rPr>
              <a:t>to the newest product line range for more predictable, recurring revenue and more personalized marketing to increase customer lifetime value. </a:t>
            </a:r>
            <a:endParaRPr sz="1200">
              <a:solidFill>
                <a:schemeClr val="dk1"/>
              </a:solidFill>
              <a:latin typeface="Georgia"/>
              <a:ea typeface="Georgia"/>
              <a:cs typeface="Georgia"/>
              <a:sym typeface="Georgia"/>
            </a:endParaRPr>
          </a:p>
          <a:p>
            <a:pPr marL="0" lvl="0" indent="0" algn="l" rtl="0">
              <a:lnSpc>
                <a:spcPct val="100000"/>
              </a:lnSpc>
              <a:spcBef>
                <a:spcPts val="0"/>
              </a:spcBef>
              <a:spcAft>
                <a:spcPts val="0"/>
              </a:spcAft>
              <a:buSzPts val="1400"/>
              <a:buNone/>
            </a:pPr>
            <a:r>
              <a:rPr lang="en-US" sz="1200" b="1" u="sng">
                <a:latin typeface="Georgia"/>
                <a:ea typeface="Georgia"/>
                <a:cs typeface="Georgia"/>
                <a:sym typeface="Georgia"/>
              </a:rPr>
              <a:t>Recommendation 6</a:t>
            </a:r>
            <a:r>
              <a:rPr lang="en-US" sz="1200">
                <a:latin typeface="Georgia"/>
                <a:ea typeface="Georgia"/>
                <a:cs typeface="Georgia"/>
                <a:sym typeface="Georgia"/>
              </a:rPr>
              <a:t>: Send out an EDM </a:t>
            </a:r>
            <a:r>
              <a:rPr lang="en-US" sz="1200">
                <a:solidFill>
                  <a:schemeClr val="dk1"/>
                </a:solidFill>
                <a:latin typeface="Nunito Sans"/>
                <a:ea typeface="Nunito Sans"/>
                <a:cs typeface="Nunito Sans"/>
                <a:sym typeface="Nunito Sans"/>
              </a:rPr>
              <a:t>EDM by geographic location to set trends via blogs and promotional incentives on items per each territory’s climate. </a:t>
            </a:r>
            <a:endParaRPr sz="1200">
              <a:solidFill>
                <a:schemeClr val="dk1"/>
              </a:solidFill>
              <a:latin typeface="Nunito Sans"/>
              <a:ea typeface="Nunito Sans"/>
              <a:cs typeface="Nunito Sans"/>
              <a:sym typeface="Nunito Sans"/>
            </a:endParaRPr>
          </a:p>
          <a:p>
            <a:pPr marL="0" lvl="0" indent="0" algn="l" rtl="0">
              <a:spcBef>
                <a:spcPts val="0"/>
              </a:spcBef>
              <a:spcAft>
                <a:spcPts val="0"/>
              </a:spcAft>
              <a:buSzPts val="1400"/>
              <a:buNone/>
            </a:pPr>
            <a:r>
              <a:rPr lang="en-US" sz="1200" b="1" u="sng">
                <a:solidFill>
                  <a:schemeClr val="dk1"/>
                </a:solidFill>
                <a:latin typeface="Georgia"/>
                <a:ea typeface="Georgia"/>
                <a:cs typeface="Georgia"/>
                <a:sym typeface="Georgia"/>
              </a:rPr>
              <a:t>Recommendation 7:</a:t>
            </a:r>
            <a:r>
              <a:rPr lang="en-US" sz="1200">
                <a:solidFill>
                  <a:schemeClr val="dk1"/>
                </a:solidFill>
                <a:latin typeface="Georgia"/>
                <a:ea typeface="Georgia"/>
                <a:cs typeface="Georgia"/>
                <a:sym typeface="Georgia"/>
              </a:rPr>
              <a:t> </a:t>
            </a:r>
            <a:r>
              <a:rPr lang="en-US" sz="1200">
                <a:solidFill>
                  <a:schemeClr val="dk1"/>
                </a:solidFill>
                <a:latin typeface="Nunito Sans"/>
                <a:ea typeface="Nunito Sans"/>
                <a:cs typeface="Nunito Sans"/>
                <a:sym typeface="Nunito Sans"/>
              </a:rPr>
              <a:t>Based on findings from the trends in seasonal spikes set a promotional calendar per each territory for subscribed customers</a:t>
            </a:r>
            <a:endParaRPr sz="1200">
              <a:solidFill>
                <a:schemeClr val="dk1"/>
              </a:solidFill>
              <a:latin typeface="Nunito Sans"/>
              <a:ea typeface="Nunito Sans"/>
              <a:cs typeface="Nunito Sans"/>
              <a:sym typeface="Nunito Sans"/>
            </a:endParaRPr>
          </a:p>
          <a:p>
            <a:pPr marL="0" lvl="0" indent="0" algn="l" rtl="0">
              <a:spcBef>
                <a:spcPts val="0"/>
              </a:spcBef>
              <a:spcAft>
                <a:spcPts val="0"/>
              </a:spcAft>
              <a:buClr>
                <a:schemeClr val="dk1"/>
              </a:buClr>
              <a:buSzPts val="1400"/>
              <a:buFont typeface="Arial"/>
              <a:buNone/>
            </a:pPr>
            <a:endParaRPr sz="1200">
              <a:solidFill>
                <a:schemeClr val="dk1"/>
              </a:solidFill>
              <a:latin typeface="Georgia"/>
              <a:ea typeface="Georgia"/>
              <a:cs typeface="Georgia"/>
              <a:sym typeface="Georgia"/>
            </a:endParaRPr>
          </a:p>
          <a:p>
            <a:pPr marL="0" lvl="0" indent="0" algn="l" rtl="0">
              <a:spcBef>
                <a:spcPts val="0"/>
              </a:spcBef>
              <a:spcAft>
                <a:spcPts val="0"/>
              </a:spcAft>
              <a:buClr>
                <a:schemeClr val="dk1"/>
              </a:buClr>
              <a:buSzPts val="1100"/>
              <a:buFont typeface="Arial"/>
              <a:buNone/>
            </a:pPr>
            <a:endParaRPr sz="1200">
              <a:solidFill>
                <a:schemeClr val="dk1"/>
              </a:solidFill>
              <a:latin typeface="Aptos Narrow"/>
              <a:ea typeface="Aptos Narrow"/>
              <a:cs typeface="Aptos Narrow"/>
              <a:sym typeface="Aptos Narrow"/>
            </a:endParaRPr>
          </a:p>
          <a:p>
            <a:pPr marL="0" lvl="0" indent="0" algn="l" rtl="0">
              <a:lnSpc>
                <a:spcPct val="100000"/>
              </a:lnSpc>
              <a:spcBef>
                <a:spcPts val="0"/>
              </a:spcBef>
              <a:spcAft>
                <a:spcPts val="0"/>
              </a:spcAft>
              <a:buSzPts val="1400"/>
              <a:buNone/>
            </a:pPr>
            <a:endParaRPr sz="1200">
              <a:solidFill>
                <a:schemeClr val="dk1"/>
              </a:solidFill>
              <a:latin typeface="Nunito Sans"/>
              <a:ea typeface="Nunito Sans"/>
              <a:cs typeface="Nunito Sans"/>
              <a:sym typeface="Nunito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1" name="Google Shape;221;p1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200">
              <a:latin typeface="Georgia"/>
              <a:ea typeface="Georgia"/>
              <a:cs typeface="Georgia"/>
              <a:sym typeface="Georgia"/>
            </a:endParaRPr>
          </a:p>
          <a:p>
            <a:pPr marL="0" lvl="0" indent="0" algn="l" rtl="0">
              <a:lnSpc>
                <a:spcPct val="100000"/>
              </a:lnSpc>
              <a:spcBef>
                <a:spcPts val="0"/>
              </a:spcBef>
              <a:spcAft>
                <a:spcPts val="0"/>
              </a:spcAft>
              <a:buSzPts val="1400"/>
              <a:buNone/>
            </a:pPr>
            <a:r>
              <a:rPr lang="en-US" sz="1200">
                <a:latin typeface="Georgia"/>
                <a:ea typeface="Georgia"/>
                <a:cs typeface="Georgia"/>
                <a:sym typeface="Georgia"/>
              </a:rPr>
              <a:t>Barbara: </a:t>
            </a:r>
            <a:r>
              <a:rPr lang="en-US" sz="1200">
                <a:solidFill>
                  <a:srgbClr val="434343"/>
                </a:solidFill>
                <a:latin typeface="Georgia"/>
                <a:ea typeface="Georgia"/>
                <a:cs typeface="Georgia"/>
                <a:sym typeface="Georgia"/>
              </a:rPr>
              <a:t>When running the queries and realising that some of the results don’t make much sense (e.g. purchasing trends of items based on climate or payment method usage based on age group). </a:t>
            </a:r>
            <a:r>
              <a:rPr lang="en-US" sz="1200">
                <a:solidFill>
                  <a:srgbClr val="434343"/>
                </a:solidFill>
                <a:latin typeface="Nunito Sans"/>
                <a:ea typeface="Nunito Sans"/>
                <a:cs typeface="Nunito Sans"/>
                <a:sym typeface="Nunito Sans"/>
              </a:rPr>
              <a:t>Ensure that the data has been inputted in the dataset; reporting in real life accurately as sometimes data might not be accurate which can skew our statistical analysis. </a:t>
            </a:r>
            <a:endParaRPr sz="1200">
              <a:latin typeface="Georgia"/>
              <a:ea typeface="Georgia"/>
              <a:cs typeface="Georgia"/>
              <a:sym typeface="Georgi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8" name="Google Shape;22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1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g39b6bfe189f_0_360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g39b6bfe189f_0_360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g39b6bfe189f_0_36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g39b6bfe189f_0_361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7" name="Google Shape;17;g39b6bfe189f_0_36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g39b6bfe189f_0_36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g39b6bfe189f_0_36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g39b6bfe189f_0_36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g39b6bfe189f_0_36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g39b6bfe189f_0_361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g39b6bfe189f_0_361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g39b6bfe189f_0_36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g39b6bfe189f_0_36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g39b6bfe189f_0_36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g39b6bfe189f_0_362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 name="Google Shape;32;g39b6bfe189f_0_362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g39b6bfe189f_0_36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g39b6bfe189f_0_363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6" name="Google Shape;36;g39b6bfe189f_0_36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g39b6bfe189f_0_36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g39b6bfe189f_0_363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0" name="Google Shape;40;g39b6bfe189f_0_363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g39b6bfe189f_0_363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2" name="Google Shape;42;g39b6bfe189f_0_36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g39b6bfe189f_0_364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5" name="Google Shape;45;g39b6bfe189f_0_36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g39b6bfe189f_0_364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g39b6bfe189f_0_364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g39b6bfe189f_0_36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g39b6bfe189f_0_36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Review 1">
  <p:cSld name="Title &amp; Subtitle copy_1_1_2">
    <p:bg>
      <p:bgPr>
        <a:solidFill>
          <a:srgbClr val="0096FF"/>
        </a:solidFill>
        <a:effectLst/>
      </p:bgPr>
    </p:bg>
    <p:spTree>
      <p:nvGrpSpPr>
        <p:cNvPr id="1" name="Shape 52"/>
        <p:cNvGrpSpPr/>
        <p:nvPr/>
      </p:nvGrpSpPr>
      <p:grpSpPr>
        <a:xfrm>
          <a:off x="0" y="0"/>
          <a:ext cx="0" cy="0"/>
          <a:chOff x="0" y="0"/>
          <a:chExt cx="0" cy="0"/>
        </a:xfrm>
      </p:grpSpPr>
      <p:pic>
        <p:nvPicPr>
          <p:cNvPr id="53" name="Google Shape;53;g39b6bfe189f_0_3649"/>
          <p:cNvPicPr preferRelativeResize="0"/>
          <p:nvPr/>
        </p:nvPicPr>
        <p:blipFill rotWithShape="1">
          <a:blip r:embed="rId2">
            <a:alphaModFix/>
          </a:blip>
          <a:srcRect t="109" b="109"/>
          <a:stretch/>
        </p:blipFill>
        <p:spPr>
          <a:xfrm>
            <a:off x="0" y="5542"/>
            <a:ext cx="9144000" cy="5132414"/>
          </a:xfrm>
          <a:prstGeom prst="rect">
            <a:avLst/>
          </a:prstGeom>
          <a:noFill/>
          <a:ln>
            <a:noFill/>
          </a:ln>
        </p:spPr>
      </p:pic>
      <p:sp>
        <p:nvSpPr>
          <p:cNvPr id="54" name="Google Shape;54;g39b6bfe189f_0_3649"/>
          <p:cNvSpPr txBox="1">
            <a:spLocks noGrp="1"/>
          </p:cNvSpPr>
          <p:nvPr>
            <p:ph type="subTitle" idx="1"/>
          </p:nvPr>
        </p:nvSpPr>
        <p:spPr>
          <a:xfrm>
            <a:off x="3033000" y="1968197"/>
            <a:ext cx="3078000" cy="639600"/>
          </a:xfrm>
          <a:prstGeom prst="rect">
            <a:avLst/>
          </a:prstGeom>
          <a:noFill/>
          <a:ln>
            <a:noFill/>
          </a:ln>
        </p:spPr>
        <p:txBody>
          <a:bodyPr spcFirstLastPara="1" wrap="square" lIns="91425" tIns="91425" rIns="91425" bIns="91425" anchor="ctr" anchorCtr="0">
            <a:normAutofit/>
          </a:bodyPr>
          <a:lstStyle>
            <a:lvl1pPr lvl="0" algn="ctr">
              <a:lnSpc>
                <a:spcPct val="115000"/>
              </a:lnSpc>
              <a:spcBef>
                <a:spcPts val="0"/>
              </a:spcBef>
              <a:spcAft>
                <a:spcPts val="0"/>
              </a:spcAft>
              <a:buSzPts val="1800"/>
              <a:buNone/>
              <a:defRPr>
                <a:solidFill>
                  <a:srgbClr val="FFFFFF"/>
                </a:solidFill>
                <a:latin typeface="Nunito Sans"/>
                <a:ea typeface="Nunito Sans"/>
                <a:cs typeface="Nunito Sans"/>
                <a:sym typeface="Nunito Sans"/>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5" name="Google Shape;55;g39b6bfe189f_0_3649"/>
          <p:cNvSpPr txBox="1">
            <a:spLocks noGrp="1"/>
          </p:cNvSpPr>
          <p:nvPr>
            <p:ph type="title"/>
          </p:nvPr>
        </p:nvSpPr>
        <p:spPr>
          <a:xfrm>
            <a:off x="850500" y="2436700"/>
            <a:ext cx="7443000" cy="738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000">
                <a:solidFill>
                  <a:srgbClr val="FFFFFF"/>
                </a:solidFill>
                <a:latin typeface="Nunito Sans"/>
                <a:ea typeface="Nunito Sans"/>
                <a:cs typeface="Nunito Sans"/>
                <a:sym typeface="Nunito Sans"/>
              </a:defRPr>
            </a:lvl1pPr>
            <a:lvl2pPr lvl="1" algn="ctr">
              <a:lnSpc>
                <a:spcPct val="100000"/>
              </a:lnSpc>
              <a:spcBef>
                <a:spcPts val="0"/>
              </a:spcBef>
              <a:spcAft>
                <a:spcPts val="0"/>
              </a:spcAft>
              <a:buSzPts val="2800"/>
              <a:buNone/>
              <a:defRPr sz="3000">
                <a:solidFill>
                  <a:srgbClr val="FFFFFF"/>
                </a:solidFill>
                <a:latin typeface="Avenir"/>
                <a:ea typeface="Avenir"/>
                <a:cs typeface="Avenir"/>
                <a:sym typeface="Avenir"/>
              </a:defRPr>
            </a:lvl2pPr>
            <a:lvl3pPr lvl="2" algn="ctr">
              <a:lnSpc>
                <a:spcPct val="100000"/>
              </a:lnSpc>
              <a:spcBef>
                <a:spcPts val="0"/>
              </a:spcBef>
              <a:spcAft>
                <a:spcPts val="0"/>
              </a:spcAft>
              <a:buSzPts val="2800"/>
              <a:buNone/>
              <a:defRPr sz="3000">
                <a:solidFill>
                  <a:srgbClr val="FFFFFF"/>
                </a:solidFill>
                <a:latin typeface="Avenir"/>
                <a:ea typeface="Avenir"/>
                <a:cs typeface="Avenir"/>
                <a:sym typeface="Avenir"/>
              </a:defRPr>
            </a:lvl3pPr>
            <a:lvl4pPr lvl="3" algn="ctr">
              <a:lnSpc>
                <a:spcPct val="100000"/>
              </a:lnSpc>
              <a:spcBef>
                <a:spcPts val="0"/>
              </a:spcBef>
              <a:spcAft>
                <a:spcPts val="0"/>
              </a:spcAft>
              <a:buSzPts val="2800"/>
              <a:buNone/>
              <a:defRPr sz="3000">
                <a:solidFill>
                  <a:srgbClr val="FFFFFF"/>
                </a:solidFill>
                <a:latin typeface="Avenir"/>
                <a:ea typeface="Avenir"/>
                <a:cs typeface="Avenir"/>
                <a:sym typeface="Avenir"/>
              </a:defRPr>
            </a:lvl4pPr>
            <a:lvl5pPr lvl="4" algn="ctr">
              <a:lnSpc>
                <a:spcPct val="100000"/>
              </a:lnSpc>
              <a:spcBef>
                <a:spcPts val="0"/>
              </a:spcBef>
              <a:spcAft>
                <a:spcPts val="0"/>
              </a:spcAft>
              <a:buSzPts val="2800"/>
              <a:buNone/>
              <a:defRPr sz="3000">
                <a:solidFill>
                  <a:srgbClr val="FFFFFF"/>
                </a:solidFill>
                <a:latin typeface="Avenir"/>
                <a:ea typeface="Avenir"/>
                <a:cs typeface="Avenir"/>
                <a:sym typeface="Avenir"/>
              </a:defRPr>
            </a:lvl5pPr>
            <a:lvl6pPr lvl="5" algn="ctr">
              <a:lnSpc>
                <a:spcPct val="100000"/>
              </a:lnSpc>
              <a:spcBef>
                <a:spcPts val="0"/>
              </a:spcBef>
              <a:spcAft>
                <a:spcPts val="0"/>
              </a:spcAft>
              <a:buSzPts val="2800"/>
              <a:buNone/>
              <a:defRPr sz="3000">
                <a:solidFill>
                  <a:srgbClr val="FFFFFF"/>
                </a:solidFill>
                <a:latin typeface="Avenir"/>
                <a:ea typeface="Avenir"/>
                <a:cs typeface="Avenir"/>
                <a:sym typeface="Avenir"/>
              </a:defRPr>
            </a:lvl6pPr>
            <a:lvl7pPr lvl="6" algn="ctr">
              <a:lnSpc>
                <a:spcPct val="100000"/>
              </a:lnSpc>
              <a:spcBef>
                <a:spcPts val="0"/>
              </a:spcBef>
              <a:spcAft>
                <a:spcPts val="0"/>
              </a:spcAft>
              <a:buSzPts val="2800"/>
              <a:buNone/>
              <a:defRPr sz="3000">
                <a:solidFill>
                  <a:srgbClr val="FFFFFF"/>
                </a:solidFill>
                <a:latin typeface="Avenir"/>
                <a:ea typeface="Avenir"/>
                <a:cs typeface="Avenir"/>
                <a:sym typeface="Avenir"/>
              </a:defRPr>
            </a:lvl7pPr>
            <a:lvl8pPr lvl="7" algn="ctr">
              <a:lnSpc>
                <a:spcPct val="100000"/>
              </a:lnSpc>
              <a:spcBef>
                <a:spcPts val="0"/>
              </a:spcBef>
              <a:spcAft>
                <a:spcPts val="0"/>
              </a:spcAft>
              <a:buSzPts val="2800"/>
              <a:buNone/>
              <a:defRPr sz="3000">
                <a:solidFill>
                  <a:srgbClr val="FFFFFF"/>
                </a:solidFill>
                <a:latin typeface="Avenir"/>
                <a:ea typeface="Avenir"/>
                <a:cs typeface="Avenir"/>
                <a:sym typeface="Avenir"/>
              </a:defRPr>
            </a:lvl8pPr>
            <a:lvl9pPr lvl="8" algn="ctr">
              <a:lnSpc>
                <a:spcPct val="100000"/>
              </a:lnSpc>
              <a:spcBef>
                <a:spcPts val="0"/>
              </a:spcBef>
              <a:spcAft>
                <a:spcPts val="0"/>
              </a:spcAft>
              <a:buSzPts val="2800"/>
              <a:buNone/>
              <a:defRPr sz="3000">
                <a:solidFill>
                  <a:srgbClr val="FFFFFF"/>
                </a:solidFill>
                <a:latin typeface="Avenir"/>
                <a:ea typeface="Avenir"/>
                <a:cs typeface="Avenir"/>
                <a:sym typeface="Aveni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Standard">
  <p:cSld name="TITLE_2">
    <p:spTree>
      <p:nvGrpSpPr>
        <p:cNvPr id="1" name="Shape 56"/>
        <p:cNvGrpSpPr/>
        <p:nvPr/>
      </p:nvGrpSpPr>
      <p:grpSpPr>
        <a:xfrm>
          <a:off x="0" y="0"/>
          <a:ext cx="0" cy="0"/>
          <a:chOff x="0" y="0"/>
          <a:chExt cx="0" cy="0"/>
        </a:xfrm>
      </p:grpSpPr>
      <p:sp>
        <p:nvSpPr>
          <p:cNvPr id="57" name="Google Shape;57;g39b6bfe189f_0_3653"/>
          <p:cNvSpPr txBox="1">
            <a:spLocks noGrp="1"/>
          </p:cNvSpPr>
          <p:nvPr>
            <p:ph type="title"/>
          </p:nvPr>
        </p:nvSpPr>
        <p:spPr>
          <a:xfrm>
            <a:off x="381000" y="609600"/>
            <a:ext cx="4686000" cy="347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00000"/>
              </a:buClr>
              <a:buSzPts val="2200"/>
              <a:buFont typeface="Proxima Nova"/>
              <a:buNone/>
              <a:defRPr sz="2200">
                <a:solidFill>
                  <a:srgbClr val="000000"/>
                </a:solidFill>
                <a:latin typeface="Proxima Nova"/>
                <a:ea typeface="Proxima Nova"/>
                <a:cs typeface="Proxima Nova"/>
                <a:sym typeface="Proxima Nova"/>
              </a:defRPr>
            </a:lvl1pPr>
            <a:lvl2pPr lvl="1" algn="l">
              <a:lnSpc>
                <a:spcPct val="100000"/>
              </a:lnSpc>
              <a:spcBef>
                <a:spcPts val="0"/>
              </a:spcBef>
              <a:spcAft>
                <a:spcPts val="0"/>
              </a:spcAft>
              <a:buClr>
                <a:srgbClr val="0096FF"/>
              </a:buClr>
              <a:buSzPts val="2200"/>
              <a:buFont typeface="Merriweather"/>
              <a:buNone/>
              <a:defRPr sz="2200">
                <a:solidFill>
                  <a:srgbClr val="0096FF"/>
                </a:solidFill>
                <a:latin typeface="Merriweather"/>
                <a:ea typeface="Merriweather"/>
                <a:cs typeface="Merriweather"/>
                <a:sym typeface="Merriweather"/>
              </a:defRPr>
            </a:lvl2pPr>
            <a:lvl3pPr lvl="2" algn="l">
              <a:lnSpc>
                <a:spcPct val="100000"/>
              </a:lnSpc>
              <a:spcBef>
                <a:spcPts val="0"/>
              </a:spcBef>
              <a:spcAft>
                <a:spcPts val="0"/>
              </a:spcAft>
              <a:buClr>
                <a:srgbClr val="0096FF"/>
              </a:buClr>
              <a:buSzPts val="2200"/>
              <a:buFont typeface="Merriweather"/>
              <a:buNone/>
              <a:defRPr sz="2200">
                <a:solidFill>
                  <a:srgbClr val="0096FF"/>
                </a:solidFill>
                <a:latin typeface="Merriweather"/>
                <a:ea typeface="Merriweather"/>
                <a:cs typeface="Merriweather"/>
                <a:sym typeface="Merriweather"/>
              </a:defRPr>
            </a:lvl3pPr>
            <a:lvl4pPr lvl="3" algn="l">
              <a:lnSpc>
                <a:spcPct val="100000"/>
              </a:lnSpc>
              <a:spcBef>
                <a:spcPts val="0"/>
              </a:spcBef>
              <a:spcAft>
                <a:spcPts val="0"/>
              </a:spcAft>
              <a:buClr>
                <a:srgbClr val="0096FF"/>
              </a:buClr>
              <a:buSzPts val="2200"/>
              <a:buFont typeface="Merriweather"/>
              <a:buNone/>
              <a:defRPr sz="2200">
                <a:solidFill>
                  <a:srgbClr val="0096FF"/>
                </a:solidFill>
                <a:latin typeface="Merriweather"/>
                <a:ea typeface="Merriweather"/>
                <a:cs typeface="Merriweather"/>
                <a:sym typeface="Merriweather"/>
              </a:defRPr>
            </a:lvl4pPr>
            <a:lvl5pPr lvl="4" algn="l">
              <a:lnSpc>
                <a:spcPct val="100000"/>
              </a:lnSpc>
              <a:spcBef>
                <a:spcPts val="0"/>
              </a:spcBef>
              <a:spcAft>
                <a:spcPts val="0"/>
              </a:spcAft>
              <a:buClr>
                <a:srgbClr val="0096FF"/>
              </a:buClr>
              <a:buSzPts val="2200"/>
              <a:buFont typeface="Merriweather"/>
              <a:buNone/>
              <a:defRPr sz="2200">
                <a:solidFill>
                  <a:srgbClr val="0096FF"/>
                </a:solidFill>
                <a:latin typeface="Merriweather"/>
                <a:ea typeface="Merriweather"/>
                <a:cs typeface="Merriweather"/>
                <a:sym typeface="Merriweather"/>
              </a:defRPr>
            </a:lvl5pPr>
            <a:lvl6pPr lvl="5" algn="l">
              <a:lnSpc>
                <a:spcPct val="100000"/>
              </a:lnSpc>
              <a:spcBef>
                <a:spcPts val="0"/>
              </a:spcBef>
              <a:spcAft>
                <a:spcPts val="0"/>
              </a:spcAft>
              <a:buClr>
                <a:srgbClr val="0096FF"/>
              </a:buClr>
              <a:buSzPts val="2200"/>
              <a:buFont typeface="Merriweather"/>
              <a:buNone/>
              <a:defRPr sz="2200">
                <a:solidFill>
                  <a:srgbClr val="0096FF"/>
                </a:solidFill>
                <a:latin typeface="Merriweather"/>
                <a:ea typeface="Merriweather"/>
                <a:cs typeface="Merriweather"/>
                <a:sym typeface="Merriweather"/>
              </a:defRPr>
            </a:lvl6pPr>
            <a:lvl7pPr lvl="6" algn="l">
              <a:lnSpc>
                <a:spcPct val="100000"/>
              </a:lnSpc>
              <a:spcBef>
                <a:spcPts val="0"/>
              </a:spcBef>
              <a:spcAft>
                <a:spcPts val="0"/>
              </a:spcAft>
              <a:buClr>
                <a:srgbClr val="0096FF"/>
              </a:buClr>
              <a:buSzPts val="2200"/>
              <a:buFont typeface="Merriweather"/>
              <a:buNone/>
              <a:defRPr sz="2200">
                <a:solidFill>
                  <a:srgbClr val="0096FF"/>
                </a:solidFill>
                <a:latin typeface="Merriweather"/>
                <a:ea typeface="Merriweather"/>
                <a:cs typeface="Merriweather"/>
                <a:sym typeface="Merriweather"/>
              </a:defRPr>
            </a:lvl7pPr>
            <a:lvl8pPr lvl="7" algn="l">
              <a:lnSpc>
                <a:spcPct val="100000"/>
              </a:lnSpc>
              <a:spcBef>
                <a:spcPts val="0"/>
              </a:spcBef>
              <a:spcAft>
                <a:spcPts val="0"/>
              </a:spcAft>
              <a:buClr>
                <a:srgbClr val="0096FF"/>
              </a:buClr>
              <a:buSzPts val="2200"/>
              <a:buFont typeface="Merriweather"/>
              <a:buNone/>
              <a:defRPr sz="2200">
                <a:solidFill>
                  <a:srgbClr val="0096FF"/>
                </a:solidFill>
                <a:latin typeface="Merriweather"/>
                <a:ea typeface="Merriweather"/>
                <a:cs typeface="Merriweather"/>
                <a:sym typeface="Merriweather"/>
              </a:defRPr>
            </a:lvl8pPr>
            <a:lvl9pPr lvl="8" algn="l">
              <a:lnSpc>
                <a:spcPct val="100000"/>
              </a:lnSpc>
              <a:spcBef>
                <a:spcPts val="0"/>
              </a:spcBef>
              <a:spcAft>
                <a:spcPts val="0"/>
              </a:spcAft>
              <a:buClr>
                <a:srgbClr val="0096FF"/>
              </a:buClr>
              <a:buSzPts val="2200"/>
              <a:buFont typeface="Merriweather"/>
              <a:buNone/>
              <a:defRPr sz="2200">
                <a:solidFill>
                  <a:srgbClr val="0096FF"/>
                </a:solidFill>
                <a:latin typeface="Merriweather"/>
                <a:ea typeface="Merriweather"/>
                <a:cs typeface="Merriweather"/>
                <a:sym typeface="Merriweather"/>
              </a:defRPr>
            </a:lvl9pPr>
          </a:lstStyle>
          <a:p>
            <a:endParaRPr/>
          </a:p>
        </p:txBody>
      </p:sp>
      <p:sp>
        <p:nvSpPr>
          <p:cNvPr id="58" name="Google Shape;58;g39b6bfe189f_0_3653"/>
          <p:cNvSpPr/>
          <p:nvPr/>
        </p:nvSpPr>
        <p:spPr>
          <a:xfrm>
            <a:off x="485800" y="1124025"/>
            <a:ext cx="460500" cy="498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g39b6bfe189f_0_3653"/>
          <p:cNvSpPr txBox="1">
            <a:spLocks noGrp="1"/>
          </p:cNvSpPr>
          <p:nvPr>
            <p:ph type="body" idx="1"/>
          </p:nvPr>
        </p:nvSpPr>
        <p:spPr>
          <a:xfrm>
            <a:off x="381000" y="1435790"/>
            <a:ext cx="3452400" cy="2617500"/>
          </a:xfrm>
          <a:prstGeom prst="rect">
            <a:avLst/>
          </a:prstGeom>
          <a:noFill/>
          <a:ln>
            <a:noFill/>
          </a:ln>
        </p:spPr>
        <p:txBody>
          <a:bodyPr spcFirstLastPara="1" wrap="square" lIns="91425" tIns="91425" rIns="91425" bIns="91425" anchor="t" anchorCtr="0">
            <a:noAutofit/>
          </a:bodyPr>
          <a:lstStyle>
            <a:lvl1pPr marL="457200" lvl="0" indent="-304800" algn="l">
              <a:lnSpc>
                <a:spcPct val="130000"/>
              </a:lnSpc>
              <a:spcBef>
                <a:spcPts val="0"/>
              </a:spcBef>
              <a:spcAft>
                <a:spcPts val="0"/>
              </a:spcAft>
              <a:buSzPts val="1200"/>
              <a:buFont typeface="Georgia"/>
              <a:buChar char="●"/>
              <a:defRPr sz="1200">
                <a:latin typeface="Georgia"/>
                <a:ea typeface="Georgia"/>
                <a:cs typeface="Georgia"/>
                <a:sym typeface="Georgia"/>
              </a:defRPr>
            </a:lvl1pPr>
            <a:lvl2pPr marL="914400" lvl="1" indent="-304800" algn="l">
              <a:lnSpc>
                <a:spcPct val="130000"/>
              </a:lnSpc>
              <a:spcBef>
                <a:spcPts val="1000"/>
              </a:spcBef>
              <a:spcAft>
                <a:spcPts val="0"/>
              </a:spcAft>
              <a:buSzPts val="1200"/>
              <a:buFont typeface="Georgia"/>
              <a:buChar char="○"/>
              <a:defRPr sz="1200">
                <a:latin typeface="Georgia"/>
                <a:ea typeface="Georgia"/>
                <a:cs typeface="Georgia"/>
                <a:sym typeface="Georgia"/>
              </a:defRPr>
            </a:lvl2pPr>
            <a:lvl3pPr marL="1371600" lvl="2" indent="-304800" algn="l">
              <a:lnSpc>
                <a:spcPct val="130000"/>
              </a:lnSpc>
              <a:spcBef>
                <a:spcPts val="1000"/>
              </a:spcBef>
              <a:spcAft>
                <a:spcPts val="0"/>
              </a:spcAft>
              <a:buSzPts val="1200"/>
              <a:buFont typeface="Georgia"/>
              <a:buChar char="■"/>
              <a:defRPr sz="1200">
                <a:latin typeface="Georgia"/>
                <a:ea typeface="Georgia"/>
                <a:cs typeface="Georgia"/>
                <a:sym typeface="Georgia"/>
              </a:defRPr>
            </a:lvl3pPr>
            <a:lvl4pPr marL="1828800" lvl="3" indent="-304800" algn="l">
              <a:lnSpc>
                <a:spcPct val="130000"/>
              </a:lnSpc>
              <a:spcBef>
                <a:spcPts val="1000"/>
              </a:spcBef>
              <a:spcAft>
                <a:spcPts val="0"/>
              </a:spcAft>
              <a:buSzPts val="1200"/>
              <a:buFont typeface="Georgia"/>
              <a:buChar char="●"/>
              <a:defRPr sz="1200">
                <a:latin typeface="Georgia"/>
                <a:ea typeface="Georgia"/>
                <a:cs typeface="Georgia"/>
                <a:sym typeface="Georgia"/>
              </a:defRPr>
            </a:lvl4pPr>
            <a:lvl5pPr marL="2286000" lvl="4" indent="-304800" algn="l">
              <a:lnSpc>
                <a:spcPct val="130000"/>
              </a:lnSpc>
              <a:spcBef>
                <a:spcPts val="1000"/>
              </a:spcBef>
              <a:spcAft>
                <a:spcPts val="0"/>
              </a:spcAft>
              <a:buSzPts val="1200"/>
              <a:buFont typeface="Georgia"/>
              <a:buChar char="○"/>
              <a:defRPr sz="1200">
                <a:latin typeface="Georgia"/>
                <a:ea typeface="Georgia"/>
                <a:cs typeface="Georgia"/>
                <a:sym typeface="Georgia"/>
              </a:defRPr>
            </a:lvl5pPr>
            <a:lvl6pPr marL="2743200" lvl="5" indent="-304800" algn="l">
              <a:lnSpc>
                <a:spcPct val="130000"/>
              </a:lnSpc>
              <a:spcBef>
                <a:spcPts val="1000"/>
              </a:spcBef>
              <a:spcAft>
                <a:spcPts val="0"/>
              </a:spcAft>
              <a:buSzPts val="1200"/>
              <a:buFont typeface="Georgia"/>
              <a:buChar char="■"/>
              <a:defRPr sz="1200">
                <a:latin typeface="Georgia"/>
                <a:ea typeface="Georgia"/>
                <a:cs typeface="Georgia"/>
                <a:sym typeface="Georgia"/>
              </a:defRPr>
            </a:lvl6pPr>
            <a:lvl7pPr marL="3200400" lvl="6" indent="-304800" algn="l">
              <a:lnSpc>
                <a:spcPct val="130000"/>
              </a:lnSpc>
              <a:spcBef>
                <a:spcPts val="1000"/>
              </a:spcBef>
              <a:spcAft>
                <a:spcPts val="0"/>
              </a:spcAft>
              <a:buSzPts val="1200"/>
              <a:buFont typeface="Georgia"/>
              <a:buChar char="●"/>
              <a:defRPr sz="1200">
                <a:latin typeface="Georgia"/>
                <a:ea typeface="Georgia"/>
                <a:cs typeface="Georgia"/>
                <a:sym typeface="Georgia"/>
              </a:defRPr>
            </a:lvl7pPr>
            <a:lvl8pPr marL="3657600" lvl="7" indent="-304800" algn="l">
              <a:lnSpc>
                <a:spcPct val="130000"/>
              </a:lnSpc>
              <a:spcBef>
                <a:spcPts val="1000"/>
              </a:spcBef>
              <a:spcAft>
                <a:spcPts val="0"/>
              </a:spcAft>
              <a:buSzPts val="1200"/>
              <a:buFont typeface="Georgia"/>
              <a:buChar char="○"/>
              <a:defRPr sz="1200">
                <a:latin typeface="Georgia"/>
                <a:ea typeface="Georgia"/>
                <a:cs typeface="Georgia"/>
                <a:sym typeface="Georgia"/>
              </a:defRPr>
            </a:lvl8pPr>
            <a:lvl9pPr marL="4114800" lvl="8" indent="-304800" algn="l">
              <a:lnSpc>
                <a:spcPct val="130000"/>
              </a:lnSpc>
              <a:spcBef>
                <a:spcPts val="1000"/>
              </a:spcBef>
              <a:spcAft>
                <a:spcPts val="1000"/>
              </a:spcAft>
              <a:buSzPts val="1200"/>
              <a:buFont typeface="Georgia"/>
              <a:buChar char="■"/>
              <a:defRPr sz="1200">
                <a:latin typeface="Georgia"/>
                <a:ea typeface="Georgia"/>
                <a:cs typeface="Georgia"/>
                <a:sym typeface="Georgia"/>
              </a:defRPr>
            </a:lvl9pPr>
          </a:lstStyle>
          <a:p>
            <a:endParaRPr/>
          </a:p>
        </p:txBody>
      </p:sp>
      <p:sp>
        <p:nvSpPr>
          <p:cNvPr id="60" name="Google Shape;60;g39b6bfe189f_0_3653"/>
          <p:cNvSpPr txBox="1"/>
          <p:nvPr/>
        </p:nvSpPr>
        <p:spPr>
          <a:xfrm>
            <a:off x="8651249" y="4824025"/>
            <a:ext cx="330600" cy="191700"/>
          </a:xfrm>
          <a:prstGeom prst="rect">
            <a:avLst/>
          </a:prstGeom>
          <a:noFill/>
          <a:ln>
            <a:noFill/>
          </a:ln>
        </p:spPr>
        <p:txBody>
          <a:bodyPr spcFirstLastPara="1" wrap="square" lIns="26775" tIns="26775" rIns="26775" bIns="26775" anchor="t"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999999"/>
                </a:solidFill>
                <a:latin typeface="Helvetica Neue"/>
                <a:ea typeface="Helvetica Neue"/>
                <a:cs typeface="Helvetica Neue"/>
                <a:sym typeface="Helvetica Neue"/>
              </a:rPr>
              <a:t>‹#›</a:t>
            </a:fld>
            <a:endParaRPr sz="900" b="0" i="0" u="none" strike="noStrike" cap="none">
              <a:solidFill>
                <a:srgbClr val="999999"/>
              </a:solidFill>
              <a:latin typeface="Nunito Sans"/>
              <a:ea typeface="Nunito Sans"/>
              <a:cs typeface="Nunito Sans"/>
              <a:sym typeface="Nuni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39b6bfe189f_0_360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g39b6bfe189f_0_360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SzPts val="1800"/>
              <a:buChar char="●"/>
              <a:defRPr sz="18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8" name="Google Shape;8;g39b6bfe189f_0_360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
        <p:nvSpPr>
          <p:cNvPr id="9" name="Google Shape;9;g39b6bfe189f_0_3604"/>
          <p:cNvSpPr/>
          <p:nvPr/>
        </p:nvSpPr>
        <p:spPr>
          <a:xfrm>
            <a:off x="100" y="5061471"/>
            <a:ext cx="9144000" cy="870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 name="Google Shape;10;g39b6bfe189f_0_3604"/>
          <p:cNvSpPr/>
          <p:nvPr/>
        </p:nvSpPr>
        <p:spPr>
          <a:xfrm>
            <a:off x="-8123" y="223275"/>
            <a:ext cx="311700" cy="87000"/>
          </a:xfrm>
          <a:prstGeom prst="rect">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kaggle.com/datasets/zubairamuti/shopping-behaviours-dataset"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
        <p:cNvGrpSpPr/>
        <p:nvPr/>
      </p:nvGrpSpPr>
      <p:grpSpPr>
        <a:xfrm>
          <a:off x="0" y="0"/>
          <a:ext cx="0" cy="0"/>
          <a:chOff x="0" y="0"/>
          <a:chExt cx="0" cy="0"/>
        </a:xfrm>
      </p:grpSpPr>
      <p:sp>
        <p:nvSpPr>
          <p:cNvPr id="65" name="Google Shape;65;p1"/>
          <p:cNvSpPr/>
          <p:nvPr/>
        </p:nvSpPr>
        <p:spPr>
          <a:xfrm>
            <a:off x="0" y="1248325"/>
            <a:ext cx="9144000" cy="2420400"/>
          </a:xfrm>
          <a:prstGeom prst="rect">
            <a:avLst/>
          </a:prstGeom>
          <a:solidFill>
            <a:srgbClr val="4F4F4F">
              <a:alpha val="50000"/>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 name="Google Shape;66;p1"/>
          <p:cNvSpPr txBox="1">
            <a:spLocks noGrp="1"/>
          </p:cNvSpPr>
          <p:nvPr>
            <p:ph type="ctrTitle"/>
          </p:nvPr>
        </p:nvSpPr>
        <p:spPr>
          <a:xfrm>
            <a:off x="311700" y="1591224"/>
            <a:ext cx="8520600" cy="918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ctr" anchorCtr="0">
            <a:normAutofit fontScale="90000"/>
          </a:bodyPr>
          <a:lstStyle/>
          <a:p>
            <a:pPr marL="0" lvl="0" indent="0" algn="ctr" rtl="0">
              <a:lnSpc>
                <a:spcPct val="100000"/>
              </a:lnSpc>
              <a:spcBef>
                <a:spcPts val="0"/>
              </a:spcBef>
              <a:spcAft>
                <a:spcPts val="0"/>
              </a:spcAft>
              <a:buClr>
                <a:srgbClr val="000000"/>
              </a:buClr>
              <a:buSzPct val="56000"/>
              <a:buFont typeface="Arial"/>
              <a:buNone/>
            </a:pPr>
            <a:r>
              <a:rPr lang="en-US" sz="5000">
                <a:solidFill>
                  <a:srgbClr val="FFFFFF"/>
                </a:solidFill>
              </a:rPr>
              <a:t>Shopping Behaviour Analysis</a:t>
            </a:r>
            <a:endParaRPr sz="5000" b="0">
              <a:solidFill>
                <a:srgbClr val="FFFFFF"/>
              </a:solidFill>
            </a:endParaRPr>
          </a:p>
        </p:txBody>
      </p:sp>
      <p:sp>
        <p:nvSpPr>
          <p:cNvPr id="67" name="Google Shape;67;p1"/>
          <p:cNvSpPr txBox="1">
            <a:spLocks noGrp="1"/>
          </p:cNvSpPr>
          <p:nvPr>
            <p:ph type="subTitle" idx="1"/>
          </p:nvPr>
        </p:nvSpPr>
        <p:spPr>
          <a:xfrm>
            <a:off x="300500" y="2655375"/>
            <a:ext cx="8520600" cy="5838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US" sz="1500" b="1">
                <a:solidFill>
                  <a:srgbClr val="FFFFFF"/>
                </a:solidFill>
                <a:latin typeface="Nunito Sans"/>
                <a:ea typeface="Nunito Sans"/>
                <a:cs typeface="Nunito Sans"/>
                <a:sym typeface="Nunito Sans"/>
              </a:rPr>
              <a:t>Barbara Klimova, Aleem Shaikh</a:t>
            </a:r>
            <a:endParaRPr sz="1500" b="1">
              <a:solidFill>
                <a:srgbClr val="FFFFFF"/>
              </a:solidFill>
              <a:latin typeface="Nunito Sans"/>
              <a:ea typeface="Nunito Sans"/>
              <a:cs typeface="Nunito Sans"/>
              <a:sym typeface="Nunito Sans"/>
            </a:endParaRPr>
          </a:p>
          <a:p>
            <a:pPr marL="0" lvl="0" indent="0" algn="ctr" rtl="0">
              <a:lnSpc>
                <a:spcPct val="90000"/>
              </a:lnSpc>
              <a:spcBef>
                <a:spcPts val="0"/>
              </a:spcBef>
              <a:spcAft>
                <a:spcPts val="0"/>
              </a:spcAft>
              <a:buNone/>
            </a:pPr>
            <a:r>
              <a:rPr lang="en-US" sz="1500" b="1">
                <a:solidFill>
                  <a:srgbClr val="FFFFFF"/>
                </a:solidFill>
                <a:latin typeface="Nunito Sans"/>
                <a:ea typeface="Nunito Sans"/>
                <a:cs typeface="Nunito Sans"/>
                <a:sym typeface="Nunito Sans"/>
              </a:rPr>
              <a:t>Brain Station - Data Analytics Certificate</a:t>
            </a:r>
            <a:endParaRPr sz="1500" b="1">
              <a:solidFill>
                <a:srgbClr val="FFFFFF"/>
              </a:solidFill>
              <a:latin typeface="Nunito Sans"/>
              <a:ea typeface="Nunito Sans"/>
              <a:cs typeface="Nunito Sans"/>
              <a:sym typeface="Nunito Sans"/>
            </a:endParaRPr>
          </a:p>
          <a:p>
            <a:pPr marL="0" lvl="0" indent="0" algn="ctr" rtl="0">
              <a:lnSpc>
                <a:spcPct val="90000"/>
              </a:lnSpc>
              <a:spcBef>
                <a:spcPts val="0"/>
              </a:spcBef>
              <a:spcAft>
                <a:spcPts val="0"/>
              </a:spcAft>
              <a:buNone/>
            </a:pPr>
            <a:r>
              <a:rPr lang="en-US" sz="1500" b="1">
                <a:solidFill>
                  <a:srgbClr val="FFFFFF"/>
                </a:solidFill>
                <a:latin typeface="Nunito Sans"/>
                <a:ea typeface="Nunito Sans"/>
                <a:cs typeface="Nunito Sans"/>
                <a:sym typeface="Nunito Sans"/>
              </a:rPr>
              <a:t>22.10.2025</a:t>
            </a:r>
            <a:endParaRPr sz="1500" b="1">
              <a:solidFill>
                <a:srgbClr val="FFFFFF"/>
              </a:solidFill>
              <a:latin typeface="Nunito Sans"/>
              <a:ea typeface="Nunito Sans"/>
              <a:cs typeface="Nunito Sans"/>
              <a:sym typeface="Nunito Sans"/>
            </a:endParaRPr>
          </a:p>
        </p:txBody>
      </p:sp>
      <p:sp>
        <p:nvSpPr>
          <p:cNvPr id="68" name="Google Shape;68;p1"/>
          <p:cNvSpPr/>
          <p:nvPr/>
        </p:nvSpPr>
        <p:spPr>
          <a:xfrm>
            <a:off x="2162700" y="2555300"/>
            <a:ext cx="4818600" cy="36600"/>
          </a:xfrm>
          <a:prstGeom prst="rect">
            <a:avLst/>
          </a:prstGeom>
          <a:gradFill>
            <a:gsLst>
              <a:gs pos="0">
                <a:srgbClr val="FF9900"/>
              </a:gs>
              <a:gs pos="25000">
                <a:srgbClr val="FF9900"/>
              </a:gs>
              <a:gs pos="38000">
                <a:srgbClr val="FF9900"/>
              </a:gs>
              <a:gs pos="50000">
                <a:srgbClr val="FF9900"/>
              </a:gs>
              <a:gs pos="75000">
                <a:srgbClr val="FF9900"/>
              </a:gs>
              <a:gs pos="100000">
                <a:srgbClr val="737373"/>
              </a:gs>
            </a:gsLst>
            <a:path path="circle">
              <a:fillToRect l="50000" t="50000" r="50000" b="50000"/>
            </a:path>
            <a:tileRect/>
          </a:gradFill>
          <a:ln w="9525" cap="flat" cmpd="sng">
            <a:solidFill>
              <a:srgbClr val="FF99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Agenda</a:t>
            </a:r>
            <a:endParaRPr b="0">
              <a:latin typeface="Nunito Sans"/>
              <a:ea typeface="Nunito Sans"/>
              <a:cs typeface="Nunito Sans"/>
              <a:sym typeface="Nunito Sans"/>
            </a:endParaRPr>
          </a:p>
        </p:txBody>
      </p:sp>
      <p:sp>
        <p:nvSpPr>
          <p:cNvPr id="74" name="Google Shape;74;p2"/>
          <p:cNvSpPr txBox="1">
            <a:spLocks noGrp="1"/>
          </p:cNvSpPr>
          <p:nvPr>
            <p:ph type="body" idx="2"/>
          </p:nvPr>
        </p:nvSpPr>
        <p:spPr>
          <a:xfrm>
            <a:off x="4939500" y="724200"/>
            <a:ext cx="3837000" cy="3264300"/>
          </a:xfrm>
          <a:prstGeom prst="rect">
            <a:avLst/>
          </a:prstGeom>
          <a:noFill/>
          <a:ln>
            <a:noFill/>
          </a:ln>
        </p:spPr>
        <p:txBody>
          <a:bodyPr spcFirstLastPara="1" wrap="square" lIns="91425" tIns="91425" rIns="91425" bIns="91425" anchor="t" anchorCtr="0">
            <a:normAutofit/>
          </a:bodyPr>
          <a:lstStyle/>
          <a:p>
            <a:pPr marL="285750" lvl="0" indent="-285750" algn="l" rtl="0">
              <a:lnSpc>
                <a:spcPct val="130000"/>
              </a:lnSpc>
              <a:spcBef>
                <a:spcPts val="1000"/>
              </a:spcBef>
              <a:spcAft>
                <a:spcPts val="0"/>
              </a:spcAft>
              <a:buSzPts val="1100"/>
              <a:buFont typeface="Arial"/>
              <a:buAutoNum type="romanUcPeriod"/>
            </a:pPr>
            <a:r>
              <a:rPr lang="en-US">
                <a:latin typeface="Nunito Sans"/>
                <a:ea typeface="Nunito Sans"/>
                <a:cs typeface="Nunito Sans"/>
                <a:sym typeface="Nunito Sans"/>
              </a:rPr>
              <a:t>Problem Statement</a:t>
            </a:r>
            <a:endParaRPr>
              <a:latin typeface="Nunito Sans"/>
              <a:ea typeface="Nunito Sans"/>
              <a:cs typeface="Nunito Sans"/>
              <a:sym typeface="Nunito Sans"/>
            </a:endParaRPr>
          </a:p>
          <a:p>
            <a:pPr marL="285750" lvl="0" indent="-285750" algn="l" rtl="0">
              <a:lnSpc>
                <a:spcPct val="130000"/>
              </a:lnSpc>
              <a:spcBef>
                <a:spcPts val="1000"/>
              </a:spcBef>
              <a:spcAft>
                <a:spcPts val="0"/>
              </a:spcAft>
              <a:buSzPts val="1100"/>
              <a:buFont typeface="Arial"/>
              <a:buAutoNum type="romanUcPeriod"/>
            </a:pPr>
            <a:r>
              <a:rPr lang="en-US">
                <a:latin typeface="Nunito Sans"/>
                <a:ea typeface="Nunito Sans"/>
                <a:cs typeface="Nunito Sans"/>
                <a:sym typeface="Nunito Sans"/>
              </a:rPr>
              <a:t>Hypothesis Formulation</a:t>
            </a:r>
            <a:endParaRPr>
              <a:latin typeface="Nunito Sans"/>
              <a:ea typeface="Nunito Sans"/>
              <a:cs typeface="Nunito Sans"/>
              <a:sym typeface="Nunito Sans"/>
            </a:endParaRPr>
          </a:p>
          <a:p>
            <a:pPr marL="285750" lvl="0" indent="-285750" algn="l" rtl="0">
              <a:lnSpc>
                <a:spcPct val="130000"/>
              </a:lnSpc>
              <a:spcBef>
                <a:spcPts val="1000"/>
              </a:spcBef>
              <a:spcAft>
                <a:spcPts val="0"/>
              </a:spcAft>
              <a:buSzPts val="1100"/>
              <a:buFont typeface="Arial"/>
              <a:buAutoNum type="romanUcPeriod"/>
            </a:pPr>
            <a:r>
              <a:rPr lang="en-US">
                <a:latin typeface="Nunito Sans"/>
                <a:ea typeface="Nunito Sans"/>
                <a:cs typeface="Nunito Sans"/>
                <a:sym typeface="Nunito Sans"/>
              </a:rPr>
              <a:t>Data Cleansing &amp; Organization</a:t>
            </a:r>
            <a:endParaRPr>
              <a:latin typeface="Nunito Sans"/>
              <a:ea typeface="Nunito Sans"/>
              <a:cs typeface="Nunito Sans"/>
              <a:sym typeface="Nunito Sans"/>
            </a:endParaRPr>
          </a:p>
          <a:p>
            <a:pPr marL="285750" lvl="0" indent="-285750" algn="l" rtl="0">
              <a:lnSpc>
                <a:spcPct val="130000"/>
              </a:lnSpc>
              <a:spcBef>
                <a:spcPts val="1000"/>
              </a:spcBef>
              <a:spcAft>
                <a:spcPts val="0"/>
              </a:spcAft>
              <a:buSzPts val="1100"/>
              <a:buFont typeface="Arial"/>
              <a:buAutoNum type="romanUcPeriod"/>
            </a:pPr>
            <a:r>
              <a:rPr lang="en-US">
                <a:latin typeface="Nunito Sans"/>
                <a:ea typeface="Nunito Sans"/>
                <a:cs typeface="Nunito Sans"/>
                <a:sym typeface="Nunito Sans"/>
              </a:rPr>
              <a:t>Analysis of Findings</a:t>
            </a:r>
            <a:endParaRPr>
              <a:latin typeface="Nunito Sans"/>
              <a:ea typeface="Nunito Sans"/>
              <a:cs typeface="Nunito Sans"/>
              <a:sym typeface="Nunito Sans"/>
            </a:endParaRPr>
          </a:p>
          <a:p>
            <a:pPr marL="285750" lvl="0" indent="-285750" algn="l" rtl="0">
              <a:lnSpc>
                <a:spcPct val="130000"/>
              </a:lnSpc>
              <a:spcBef>
                <a:spcPts val="1000"/>
              </a:spcBef>
              <a:spcAft>
                <a:spcPts val="0"/>
              </a:spcAft>
              <a:buSzPts val="1100"/>
              <a:buFont typeface="Arial"/>
              <a:buAutoNum type="romanUcPeriod"/>
            </a:pPr>
            <a:r>
              <a:rPr lang="en-US">
                <a:latin typeface="Nunito Sans"/>
                <a:ea typeface="Nunito Sans"/>
                <a:cs typeface="Nunito Sans"/>
                <a:sym typeface="Nunito Sans"/>
              </a:rPr>
              <a:t>Visualization of the Storyline </a:t>
            </a:r>
            <a:endParaRPr>
              <a:latin typeface="Nunito Sans"/>
              <a:ea typeface="Nunito Sans"/>
              <a:cs typeface="Nunito Sans"/>
              <a:sym typeface="Nunito Sans"/>
            </a:endParaRPr>
          </a:p>
          <a:p>
            <a:pPr marL="285750" lvl="0" indent="-285750" algn="l" rtl="0">
              <a:lnSpc>
                <a:spcPct val="130000"/>
              </a:lnSpc>
              <a:spcBef>
                <a:spcPts val="1000"/>
              </a:spcBef>
              <a:spcAft>
                <a:spcPts val="0"/>
              </a:spcAft>
              <a:buSzPts val="1100"/>
              <a:buFont typeface="Nunito Sans"/>
              <a:buAutoNum type="romanUcPeriod"/>
            </a:pPr>
            <a:r>
              <a:rPr lang="en-US">
                <a:latin typeface="Nunito Sans"/>
                <a:ea typeface="Nunito Sans"/>
                <a:cs typeface="Nunito Sans"/>
                <a:sym typeface="Nunito Sans"/>
              </a:rPr>
              <a:t>Summary &amp; Recommended Solutions</a:t>
            </a:r>
            <a:endParaRPr>
              <a:latin typeface="Nunito Sans"/>
              <a:ea typeface="Nunito Sans"/>
              <a:cs typeface="Nunito Sans"/>
              <a:sym typeface="Nunito Sans"/>
            </a:endParaRPr>
          </a:p>
        </p:txBody>
      </p:sp>
      <p:sp>
        <p:nvSpPr>
          <p:cNvPr id="75" name="Google Shape;75;p2"/>
          <p:cNvSpPr txBox="1"/>
          <p:nvPr/>
        </p:nvSpPr>
        <p:spPr>
          <a:xfrm>
            <a:off x="5234300" y="2021225"/>
            <a:ext cx="2483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a:p>
        </p:txBody>
      </p:sp>
      <p:pic>
        <p:nvPicPr>
          <p:cNvPr id="76" name="Google Shape;76;p2"/>
          <p:cNvPicPr preferRelativeResize="0"/>
          <p:nvPr/>
        </p:nvPicPr>
        <p:blipFill rotWithShape="1">
          <a:blip r:embed="rId3">
            <a:alphaModFix/>
          </a:blip>
          <a:srcRect/>
          <a:stretch/>
        </p:blipFill>
        <p:spPr>
          <a:xfrm>
            <a:off x="3430873" y="2951792"/>
            <a:ext cx="577275" cy="1249050"/>
          </a:xfrm>
          <a:prstGeom prst="rect">
            <a:avLst/>
          </a:prstGeom>
          <a:noFill/>
          <a:ln>
            <a:noFill/>
          </a:ln>
        </p:spPr>
      </p:pic>
      <p:pic>
        <p:nvPicPr>
          <p:cNvPr id="77" name="Google Shape;77;p2"/>
          <p:cNvPicPr preferRelativeResize="0"/>
          <p:nvPr/>
        </p:nvPicPr>
        <p:blipFill rotWithShape="1">
          <a:blip r:embed="rId4">
            <a:alphaModFix/>
          </a:blip>
          <a:srcRect/>
          <a:stretch/>
        </p:blipFill>
        <p:spPr>
          <a:xfrm>
            <a:off x="366350" y="2951794"/>
            <a:ext cx="535925" cy="1249049"/>
          </a:xfrm>
          <a:prstGeom prst="rect">
            <a:avLst/>
          </a:prstGeom>
          <a:noFill/>
          <a:ln>
            <a:noFill/>
          </a:ln>
        </p:spPr>
      </p:pic>
      <p:sp>
        <p:nvSpPr>
          <p:cNvPr id="78" name="Google Shape;78;p2"/>
          <p:cNvSpPr txBox="1">
            <a:spLocks noGrp="1"/>
          </p:cNvSpPr>
          <p:nvPr>
            <p:ph type="subTitle" idx="1"/>
          </p:nvPr>
        </p:nvSpPr>
        <p:spPr>
          <a:xfrm>
            <a:off x="967475" y="2951719"/>
            <a:ext cx="2398200" cy="1249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sz="2000" u="sng">
                <a:latin typeface="Arial"/>
                <a:ea typeface="Arial"/>
                <a:cs typeface="Arial"/>
                <a:sym typeface="Arial"/>
              </a:rPr>
              <a:t>Dress </a:t>
            </a:r>
            <a:endParaRPr sz="1400">
              <a:latin typeface="Arial"/>
              <a:ea typeface="Arial"/>
              <a:cs typeface="Arial"/>
              <a:sym typeface="Arial"/>
            </a:endParaRPr>
          </a:p>
          <a:p>
            <a:pPr marL="0" lvl="0" indent="0" algn="ctr" rtl="0">
              <a:spcBef>
                <a:spcPts val="0"/>
              </a:spcBef>
              <a:spcAft>
                <a:spcPts val="0"/>
              </a:spcAft>
              <a:buNone/>
            </a:pPr>
            <a:r>
              <a:rPr lang="en-US" sz="2000" u="sng">
                <a:latin typeface="Arial"/>
                <a:ea typeface="Arial"/>
                <a:cs typeface="Arial"/>
                <a:sym typeface="Arial"/>
              </a:rPr>
              <a:t>to </a:t>
            </a:r>
            <a:endParaRPr sz="1400">
              <a:latin typeface="Arial"/>
              <a:ea typeface="Arial"/>
              <a:cs typeface="Arial"/>
              <a:sym typeface="Arial"/>
            </a:endParaRPr>
          </a:p>
          <a:p>
            <a:pPr marL="0" lvl="0" indent="0" algn="ctr" rtl="0">
              <a:spcBef>
                <a:spcPts val="0"/>
              </a:spcBef>
              <a:spcAft>
                <a:spcPts val="0"/>
              </a:spcAft>
              <a:buNone/>
            </a:pPr>
            <a:r>
              <a:rPr lang="en-US" sz="2000" u="sng">
                <a:latin typeface="Arial"/>
                <a:ea typeface="Arial"/>
                <a:cs typeface="Arial"/>
                <a:sym typeface="Arial"/>
              </a:rPr>
              <a:t>Impress</a:t>
            </a:r>
            <a:endParaRPr sz="1400">
              <a:latin typeface="Arial"/>
              <a:ea typeface="Arial"/>
              <a:cs typeface="Arial"/>
              <a:sym typeface="Arial"/>
            </a:endParaRPr>
          </a:p>
          <a:p>
            <a:pPr marL="0" lvl="0" indent="0" algn="ctr" rtl="0">
              <a:spcBef>
                <a:spcPts val="0"/>
              </a:spcBef>
              <a:spcAft>
                <a:spcPts val="0"/>
              </a:spcAft>
              <a:buNone/>
            </a:pPr>
            <a:r>
              <a:rPr lang="en-US" sz="900">
                <a:latin typeface="Arial"/>
                <a:ea typeface="Arial"/>
                <a:cs typeface="Arial"/>
                <a:sym typeface="Arial"/>
              </a:rPr>
              <a:t>Basic to premium clothing &amp; accessories </a:t>
            </a:r>
            <a:endParaRPr sz="2000" u="sng">
              <a:latin typeface="Arial"/>
              <a:ea typeface="Arial"/>
              <a:cs typeface="Arial"/>
              <a:sym typeface="Arial"/>
            </a:endParaRPr>
          </a:p>
        </p:txBody>
      </p:sp>
      <p:sp>
        <p:nvSpPr>
          <p:cNvPr id="79" name="Google Shape;79;p2"/>
          <p:cNvSpPr/>
          <p:nvPr/>
        </p:nvSpPr>
        <p:spPr>
          <a:xfrm>
            <a:off x="343941" y="2338050"/>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The Problem Statement</a:t>
            </a:r>
            <a:endParaRPr b="0">
              <a:latin typeface="Nunito Sans"/>
              <a:ea typeface="Nunito Sans"/>
              <a:cs typeface="Nunito Sans"/>
              <a:sym typeface="Nunito Sans"/>
            </a:endParaRPr>
          </a:p>
        </p:txBody>
      </p:sp>
      <p:sp>
        <p:nvSpPr>
          <p:cNvPr id="85" name="Google Shape;85;p3"/>
          <p:cNvSpPr txBox="1">
            <a:spLocks noGrp="1"/>
          </p:cNvSpPr>
          <p:nvPr>
            <p:ph type="body" idx="1"/>
          </p:nvPr>
        </p:nvSpPr>
        <p:spPr>
          <a:xfrm>
            <a:off x="449500" y="1152475"/>
            <a:ext cx="3999900" cy="2641200"/>
          </a:xfrm>
          <a:prstGeom prst="rect">
            <a:avLst/>
          </a:prstGeom>
          <a:noFill/>
          <a:ln>
            <a:noFill/>
          </a:ln>
        </p:spPr>
        <p:txBody>
          <a:bodyPr spcFirstLastPara="1" wrap="square" lIns="91425" tIns="91425" rIns="91425" bIns="91425" anchor="t" anchorCtr="0">
            <a:normAutofit fontScale="92500"/>
          </a:bodyPr>
          <a:lstStyle/>
          <a:p>
            <a:pPr marL="0" lvl="0" indent="0" algn="l" rtl="0">
              <a:lnSpc>
                <a:spcPct val="200000"/>
              </a:lnSpc>
              <a:spcBef>
                <a:spcPts val="0"/>
              </a:spcBef>
              <a:spcAft>
                <a:spcPts val="0"/>
              </a:spcAft>
              <a:buClr>
                <a:srgbClr val="000000"/>
              </a:buClr>
              <a:buSzPct val="85714"/>
              <a:buFont typeface="Arial"/>
              <a:buNone/>
            </a:pPr>
            <a:r>
              <a:rPr lang="en-US" b="1" u="sng">
                <a:latin typeface="Nunito Sans"/>
                <a:ea typeface="Nunito Sans"/>
                <a:cs typeface="Nunito Sans"/>
                <a:sym typeface="Nunito Sans"/>
              </a:rPr>
              <a:t>Target Audience</a:t>
            </a:r>
            <a:endParaRPr/>
          </a:p>
          <a:p>
            <a:pPr marL="0" lvl="0" indent="0" algn="l" rtl="0">
              <a:lnSpc>
                <a:spcPct val="130000"/>
              </a:lnSpc>
              <a:spcBef>
                <a:spcPts val="0"/>
              </a:spcBef>
              <a:spcAft>
                <a:spcPts val="0"/>
              </a:spcAft>
              <a:buSzPct val="85714"/>
              <a:buNone/>
            </a:pPr>
            <a:r>
              <a:rPr lang="en-US">
                <a:latin typeface="Nunito Sans"/>
                <a:ea typeface="Nunito Sans"/>
                <a:cs typeface="Nunito Sans"/>
                <a:sym typeface="Nunito Sans"/>
              </a:rPr>
              <a:t>The Leadership Team at Dress to Impress has an interest to increase revenue and scale the business into further product lines.</a:t>
            </a:r>
            <a:endParaRPr/>
          </a:p>
          <a:p>
            <a:pPr marL="0" lvl="0" indent="0" algn="l" rtl="0">
              <a:lnSpc>
                <a:spcPct val="200000"/>
              </a:lnSpc>
              <a:spcBef>
                <a:spcPts val="1000"/>
              </a:spcBef>
              <a:spcAft>
                <a:spcPts val="0"/>
              </a:spcAft>
              <a:buSzPct val="85714"/>
              <a:buNone/>
            </a:pPr>
            <a:r>
              <a:rPr lang="en-US" b="1" u="sng">
                <a:latin typeface="Nunito Sans"/>
                <a:ea typeface="Nunito Sans"/>
                <a:cs typeface="Nunito Sans"/>
                <a:sym typeface="Nunito Sans"/>
              </a:rPr>
              <a:t>Target Focus</a:t>
            </a:r>
            <a:endParaRPr b="1" u="sng">
              <a:latin typeface="Nunito Sans"/>
              <a:ea typeface="Nunito Sans"/>
              <a:cs typeface="Nunito Sans"/>
              <a:sym typeface="Nunito Sans"/>
            </a:endParaRPr>
          </a:p>
          <a:p>
            <a:pPr marL="0" lvl="0" indent="0" algn="l" rtl="0">
              <a:lnSpc>
                <a:spcPct val="130000"/>
              </a:lnSpc>
              <a:spcBef>
                <a:spcPts val="0"/>
              </a:spcBef>
              <a:spcAft>
                <a:spcPts val="0"/>
              </a:spcAft>
              <a:buSzPct val="85714"/>
              <a:buNone/>
            </a:pPr>
            <a:r>
              <a:rPr lang="en-US">
                <a:latin typeface="Nunito Sans"/>
                <a:ea typeface="Nunito Sans"/>
                <a:cs typeface="Nunito Sans"/>
                <a:sym typeface="Nunito Sans"/>
              </a:rPr>
              <a:t>The focus is on on evaluating seasonality and consumer trends by demographic profile based on age, gender and shopping behaviour patterns. </a:t>
            </a:r>
            <a:endParaRPr>
              <a:latin typeface="Nunito Sans"/>
              <a:ea typeface="Nunito Sans"/>
              <a:cs typeface="Nunito Sans"/>
              <a:sym typeface="Nunito Sans"/>
            </a:endParaRPr>
          </a:p>
        </p:txBody>
      </p:sp>
      <p:sp>
        <p:nvSpPr>
          <p:cNvPr id="86" name="Google Shape;86;p3"/>
          <p:cNvSpPr txBox="1"/>
          <p:nvPr/>
        </p:nvSpPr>
        <p:spPr>
          <a:xfrm>
            <a:off x="919650" y="591625"/>
            <a:ext cx="16086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endParaRPr/>
          </a:p>
        </p:txBody>
      </p:sp>
      <p:sp>
        <p:nvSpPr>
          <p:cNvPr id="87" name="Google Shape;87;p3"/>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fontScale="92500" lnSpcReduction="20000"/>
          </a:bodyPr>
          <a:lstStyle/>
          <a:p>
            <a:pPr marL="0" lvl="0" indent="0" algn="l" rtl="0">
              <a:lnSpc>
                <a:spcPct val="200000"/>
              </a:lnSpc>
              <a:spcBef>
                <a:spcPts val="0"/>
              </a:spcBef>
              <a:spcAft>
                <a:spcPts val="0"/>
              </a:spcAft>
              <a:buNone/>
            </a:pPr>
            <a:r>
              <a:rPr lang="en-US" sz="1200" b="1" u="sng">
                <a:solidFill>
                  <a:srgbClr val="000000"/>
                </a:solidFill>
                <a:latin typeface="Nunito Sans"/>
                <a:ea typeface="Nunito Sans"/>
                <a:cs typeface="Nunito Sans"/>
                <a:sym typeface="Nunito Sans"/>
              </a:rPr>
              <a:t>Target Purpose</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r>
              <a:rPr lang="en-US" sz="1200" b="1">
                <a:solidFill>
                  <a:srgbClr val="000000"/>
                </a:solidFill>
                <a:latin typeface="Nunito Sans"/>
                <a:ea typeface="Nunito Sans"/>
                <a:cs typeface="Nunito Sans"/>
                <a:sym typeface="Nunito Sans"/>
              </a:rPr>
              <a:t>The Head of Sales would like to…</a:t>
            </a:r>
            <a:endParaRPr>
              <a:solidFill>
                <a:srgbClr val="000000"/>
              </a:solidFill>
              <a:latin typeface="Arial"/>
              <a:ea typeface="Arial"/>
              <a:cs typeface="Arial"/>
              <a:sym typeface="Arial"/>
            </a:endParaRPr>
          </a:p>
          <a:p>
            <a:pPr marL="171450" lvl="0" indent="-165735" algn="l" rtl="0">
              <a:lnSpc>
                <a:spcPct val="100000"/>
              </a:lnSpc>
              <a:spcBef>
                <a:spcPts val="0"/>
              </a:spcBef>
              <a:spcAft>
                <a:spcPts val="0"/>
              </a:spcAft>
              <a:buClr>
                <a:srgbClr val="000000"/>
              </a:buClr>
              <a:buSzPct val="100000"/>
              <a:buFont typeface="Arial"/>
              <a:buChar char="•"/>
            </a:pPr>
            <a:r>
              <a:rPr lang="en-US" sz="1200">
                <a:solidFill>
                  <a:srgbClr val="000000"/>
                </a:solidFill>
                <a:latin typeface="Nunito Sans"/>
                <a:ea typeface="Nunito Sans"/>
                <a:cs typeface="Nunito Sans"/>
                <a:sym typeface="Nunito Sans"/>
              </a:rPr>
              <a:t>Understand their consumer demographic trends to establish a sales strategy for expansion of product lines</a:t>
            </a:r>
            <a:endParaRPr sz="1200">
              <a:solidFill>
                <a:srgbClr val="000000"/>
              </a:solidFill>
              <a:latin typeface="Nunito Sans"/>
              <a:ea typeface="Nunito Sans"/>
              <a:cs typeface="Nunito Sans"/>
              <a:sym typeface="Nunito Sans"/>
            </a:endParaRPr>
          </a:p>
          <a:p>
            <a:pPr marL="171450" lvl="0" indent="-165735" algn="l" rtl="0">
              <a:lnSpc>
                <a:spcPct val="100000"/>
              </a:lnSpc>
              <a:spcBef>
                <a:spcPts val="0"/>
              </a:spcBef>
              <a:spcAft>
                <a:spcPts val="0"/>
              </a:spcAft>
              <a:buClr>
                <a:srgbClr val="000000"/>
              </a:buClr>
              <a:buSzPct val="100000"/>
              <a:buFont typeface="Arial"/>
              <a:buChar char="•"/>
            </a:pPr>
            <a:r>
              <a:rPr lang="en-US" sz="1200">
                <a:solidFill>
                  <a:srgbClr val="000000"/>
                </a:solidFill>
                <a:latin typeface="Nunito Sans"/>
                <a:ea typeface="Nunito Sans"/>
                <a:cs typeface="Nunito Sans"/>
                <a:sym typeface="Nunito Sans"/>
              </a:rPr>
              <a:t>Set promotions by seasonal trends</a:t>
            </a:r>
            <a:endParaRPr sz="1200">
              <a:solidFill>
                <a:srgbClr val="000000"/>
              </a:solidFill>
              <a:latin typeface="Nunito Sans"/>
              <a:ea typeface="Nunito Sans"/>
              <a:cs typeface="Nunito Sans"/>
              <a:sym typeface="Nunito Sans"/>
            </a:endParaRPr>
          </a:p>
          <a:p>
            <a:pPr marL="0" lvl="0" indent="0" algn="l" rtl="0">
              <a:lnSpc>
                <a:spcPct val="100000"/>
              </a:lnSpc>
              <a:spcBef>
                <a:spcPts val="0"/>
              </a:spcBef>
              <a:spcAft>
                <a:spcPts val="0"/>
              </a:spcAft>
              <a:buNone/>
            </a:pPr>
            <a:endParaRPr sz="1200">
              <a:solidFill>
                <a:srgbClr val="000000"/>
              </a:solidFill>
              <a:latin typeface="Nunito Sans"/>
              <a:ea typeface="Nunito Sans"/>
              <a:cs typeface="Nunito Sans"/>
              <a:sym typeface="Nunito Sans"/>
            </a:endParaRPr>
          </a:p>
          <a:p>
            <a:pPr marL="0" lvl="0" indent="0" algn="l" rtl="0">
              <a:lnSpc>
                <a:spcPct val="100000"/>
              </a:lnSpc>
              <a:spcBef>
                <a:spcPts val="0"/>
              </a:spcBef>
              <a:spcAft>
                <a:spcPts val="0"/>
              </a:spcAft>
              <a:buNone/>
            </a:pPr>
            <a:r>
              <a:rPr lang="en-US" sz="1200" b="1">
                <a:solidFill>
                  <a:srgbClr val="000000"/>
                </a:solidFill>
                <a:latin typeface="Nunito Sans"/>
                <a:ea typeface="Nunito Sans"/>
                <a:cs typeface="Nunito Sans"/>
                <a:sym typeface="Nunito Sans"/>
              </a:rPr>
              <a:t>The Head of OPS would like to…</a:t>
            </a:r>
            <a:endParaRPr sz="1200" b="1">
              <a:solidFill>
                <a:srgbClr val="000000"/>
              </a:solidFill>
              <a:latin typeface="Nunito Sans"/>
              <a:ea typeface="Nunito Sans"/>
              <a:cs typeface="Nunito Sans"/>
              <a:sym typeface="Nunito Sans"/>
            </a:endParaRPr>
          </a:p>
          <a:p>
            <a:pPr marL="171450" lvl="0" indent="-165735" algn="l" rtl="0">
              <a:lnSpc>
                <a:spcPct val="100000"/>
              </a:lnSpc>
              <a:spcBef>
                <a:spcPts val="0"/>
              </a:spcBef>
              <a:spcAft>
                <a:spcPts val="0"/>
              </a:spcAft>
              <a:buClr>
                <a:srgbClr val="000000"/>
              </a:buClr>
              <a:buSzPct val="100000"/>
              <a:buFont typeface="Arial"/>
              <a:buChar char="•"/>
            </a:pPr>
            <a:r>
              <a:rPr lang="en-US" sz="1200">
                <a:solidFill>
                  <a:srgbClr val="000000"/>
                </a:solidFill>
                <a:latin typeface="Nunito Sans"/>
                <a:ea typeface="Nunito Sans"/>
                <a:cs typeface="Nunito Sans"/>
                <a:sym typeface="Nunito Sans"/>
              </a:rPr>
              <a:t>Set Free Shipping on orders over certain threshold</a:t>
            </a:r>
            <a:endParaRPr sz="1200">
              <a:solidFill>
                <a:srgbClr val="000000"/>
              </a:solidFill>
              <a:latin typeface="Nunito Sans"/>
              <a:ea typeface="Nunito Sans"/>
              <a:cs typeface="Nunito Sans"/>
              <a:sym typeface="Nunito Sans"/>
            </a:endParaRPr>
          </a:p>
          <a:p>
            <a:pPr marL="171450" lvl="0" indent="-165735" algn="l" rtl="0">
              <a:lnSpc>
                <a:spcPct val="100000"/>
              </a:lnSpc>
              <a:spcBef>
                <a:spcPts val="0"/>
              </a:spcBef>
              <a:spcAft>
                <a:spcPts val="0"/>
              </a:spcAft>
              <a:buClr>
                <a:srgbClr val="000000"/>
              </a:buClr>
              <a:buSzPct val="100000"/>
              <a:buFont typeface="Arial"/>
              <a:buChar char="•"/>
            </a:pPr>
            <a:r>
              <a:rPr lang="en-US" sz="1200">
                <a:solidFill>
                  <a:srgbClr val="000000"/>
                </a:solidFill>
                <a:latin typeface="Nunito Sans"/>
                <a:ea typeface="Nunito Sans"/>
                <a:cs typeface="Nunito Sans"/>
                <a:sym typeface="Nunito Sans"/>
              </a:rPr>
              <a:t>Determine whether AfterPay is a sought after payment method</a:t>
            </a:r>
            <a:endParaRPr sz="1200" b="1" u="sng">
              <a:solidFill>
                <a:srgbClr val="FF0000"/>
              </a:solidFill>
              <a:latin typeface="Nunito Sans"/>
              <a:ea typeface="Nunito Sans"/>
              <a:cs typeface="Nunito Sans"/>
              <a:sym typeface="Nunito Sans"/>
            </a:endParaRPr>
          </a:p>
          <a:p>
            <a:pPr marL="171450" lvl="0" indent="-95250" algn="l" rtl="0">
              <a:lnSpc>
                <a:spcPct val="100000"/>
              </a:lnSpc>
              <a:spcBef>
                <a:spcPts val="0"/>
              </a:spcBef>
              <a:spcAft>
                <a:spcPts val="0"/>
              </a:spcAft>
              <a:buNone/>
            </a:pPr>
            <a:endParaRPr sz="1200">
              <a:solidFill>
                <a:srgbClr val="000000"/>
              </a:solidFill>
              <a:latin typeface="Nunito Sans"/>
              <a:ea typeface="Nunito Sans"/>
              <a:cs typeface="Nunito Sans"/>
              <a:sym typeface="Nunito Sans"/>
            </a:endParaRPr>
          </a:p>
          <a:p>
            <a:pPr marL="0" lvl="0" indent="0" algn="l" rtl="0">
              <a:lnSpc>
                <a:spcPct val="100000"/>
              </a:lnSpc>
              <a:spcBef>
                <a:spcPts val="0"/>
              </a:spcBef>
              <a:spcAft>
                <a:spcPts val="0"/>
              </a:spcAft>
              <a:buNone/>
            </a:pPr>
            <a:r>
              <a:rPr lang="en-US" sz="1200" b="1">
                <a:solidFill>
                  <a:srgbClr val="000000"/>
                </a:solidFill>
                <a:latin typeface="Nunito Sans"/>
                <a:ea typeface="Nunito Sans"/>
                <a:cs typeface="Nunito Sans"/>
                <a:sym typeface="Nunito Sans"/>
              </a:rPr>
              <a:t>The Head of MKT would like to…</a:t>
            </a:r>
            <a:endParaRPr sz="1200">
              <a:solidFill>
                <a:srgbClr val="000000"/>
              </a:solidFill>
              <a:latin typeface="Nunito Sans"/>
              <a:ea typeface="Nunito Sans"/>
              <a:cs typeface="Nunito Sans"/>
              <a:sym typeface="Nunito Sans"/>
            </a:endParaRPr>
          </a:p>
          <a:p>
            <a:pPr marL="171450" lvl="0" indent="-165735" algn="l" rtl="0">
              <a:lnSpc>
                <a:spcPct val="100000"/>
              </a:lnSpc>
              <a:spcBef>
                <a:spcPts val="0"/>
              </a:spcBef>
              <a:spcAft>
                <a:spcPts val="0"/>
              </a:spcAft>
              <a:buClr>
                <a:srgbClr val="000000"/>
              </a:buClr>
              <a:buSzPct val="100000"/>
              <a:buFont typeface="Arial"/>
              <a:buChar char="•"/>
            </a:pPr>
            <a:r>
              <a:rPr lang="en-US" sz="1200">
                <a:solidFill>
                  <a:srgbClr val="000000"/>
                </a:solidFill>
                <a:latin typeface="Nunito Sans"/>
                <a:ea typeface="Nunito Sans"/>
                <a:cs typeface="Nunito Sans"/>
                <a:sym typeface="Nunito Sans"/>
              </a:rPr>
              <a:t>Send out targeted promotional EDMs to subscribers to alert on seasonal product line expansions</a:t>
            </a:r>
            <a:endParaRPr sz="1200">
              <a:solidFill>
                <a:srgbClr val="000000"/>
              </a:solidFill>
              <a:latin typeface="Nunito Sans"/>
              <a:ea typeface="Nunito Sans"/>
              <a:cs typeface="Nunito Sans"/>
              <a:sym typeface="Nunito Sans"/>
            </a:endParaRPr>
          </a:p>
          <a:p>
            <a:pPr marL="171450" lvl="0" indent="-165735" algn="l" rtl="0">
              <a:lnSpc>
                <a:spcPct val="100000"/>
              </a:lnSpc>
              <a:spcBef>
                <a:spcPts val="0"/>
              </a:spcBef>
              <a:spcAft>
                <a:spcPts val="0"/>
              </a:spcAft>
              <a:buClr>
                <a:srgbClr val="000000"/>
              </a:buClr>
              <a:buSzPct val="100000"/>
              <a:buFont typeface="Arial"/>
              <a:buChar char="•"/>
            </a:pPr>
            <a:r>
              <a:rPr lang="en-US" sz="1200">
                <a:solidFill>
                  <a:srgbClr val="000000"/>
                </a:solidFill>
                <a:latin typeface="Nunito Sans"/>
                <a:ea typeface="Nunito Sans"/>
                <a:cs typeface="Nunito Sans"/>
                <a:sym typeface="Nunito Sans"/>
              </a:rPr>
              <a:t>Send out targeted promotional EDMs by shopping behavior per territory</a:t>
            </a:r>
            <a:endParaRPr sz="1200">
              <a:solidFill>
                <a:srgbClr val="000000"/>
              </a:solidFill>
              <a:latin typeface="Nunito Sans"/>
              <a:ea typeface="Nunito Sans"/>
              <a:cs typeface="Nunito Sans"/>
              <a:sym typeface="Nunito Sans"/>
            </a:endParaRPr>
          </a:p>
          <a:p>
            <a:pPr marL="0" lvl="0" indent="0" algn="l" rtl="0">
              <a:lnSpc>
                <a:spcPct val="100000"/>
              </a:lnSpc>
              <a:spcBef>
                <a:spcPts val="0"/>
              </a:spcBef>
              <a:spcAft>
                <a:spcPts val="0"/>
              </a:spcAft>
              <a:buNone/>
            </a:pPr>
            <a:endParaRPr sz="1200">
              <a:solidFill>
                <a:srgbClr val="000000"/>
              </a:solidFill>
              <a:latin typeface="Nunito Sans"/>
              <a:ea typeface="Nunito Sans"/>
              <a:cs typeface="Nunito Sans"/>
              <a:sym typeface="Nunito Sans"/>
            </a:endParaRPr>
          </a:p>
          <a:p>
            <a:pPr marL="0" lvl="0" indent="0" algn="l" rtl="0">
              <a:lnSpc>
                <a:spcPct val="100000"/>
              </a:lnSpc>
              <a:spcBef>
                <a:spcPts val="0"/>
              </a:spcBef>
              <a:spcAft>
                <a:spcPts val="0"/>
              </a:spcAft>
              <a:buNone/>
            </a:pPr>
            <a:r>
              <a:rPr lang="en-US" sz="1200" b="1">
                <a:solidFill>
                  <a:srgbClr val="000000"/>
                </a:solidFill>
                <a:latin typeface="Nunito Sans"/>
                <a:ea typeface="Nunito Sans"/>
                <a:cs typeface="Nunito Sans"/>
                <a:sym typeface="Nunito Sans"/>
              </a:rPr>
              <a:t>Main goal for the LT is to…</a:t>
            </a:r>
            <a:endParaRPr>
              <a:solidFill>
                <a:srgbClr val="000000"/>
              </a:solidFill>
              <a:latin typeface="Arial"/>
              <a:ea typeface="Arial"/>
              <a:cs typeface="Arial"/>
              <a:sym typeface="Arial"/>
            </a:endParaRPr>
          </a:p>
          <a:p>
            <a:pPr marL="171450" lvl="0" indent="-165735" algn="l" rtl="0">
              <a:lnSpc>
                <a:spcPct val="100000"/>
              </a:lnSpc>
              <a:spcBef>
                <a:spcPts val="0"/>
              </a:spcBef>
              <a:spcAft>
                <a:spcPts val="0"/>
              </a:spcAft>
              <a:buClr>
                <a:srgbClr val="000000"/>
              </a:buClr>
              <a:buSzPct val="100000"/>
              <a:buFont typeface="Arial"/>
              <a:buChar char="•"/>
            </a:pPr>
            <a:r>
              <a:rPr lang="en-US" sz="1200">
                <a:solidFill>
                  <a:srgbClr val="000000"/>
                </a:solidFill>
                <a:latin typeface="Nunito Sans"/>
                <a:ea typeface="Nunito Sans"/>
                <a:cs typeface="Nunito Sans"/>
                <a:sym typeface="Nunito Sans"/>
              </a:rPr>
              <a:t>Set a marketing promotional calendar strategy for the 2026 Calendar year</a:t>
            </a:r>
            <a:endParaRPr sz="1200" b="1" u="sng">
              <a:solidFill>
                <a:srgbClr val="000000"/>
              </a:solidFill>
              <a:latin typeface="Nunito Sans"/>
              <a:ea typeface="Nunito Sans"/>
              <a:cs typeface="Nunito Sans"/>
              <a:sym typeface="Nunito Sans"/>
            </a:endParaRPr>
          </a:p>
        </p:txBody>
      </p:sp>
      <p:sp>
        <p:nvSpPr>
          <p:cNvPr id="88" name="Google Shape;88;p3"/>
          <p:cNvSpPr/>
          <p:nvPr/>
        </p:nvSpPr>
        <p:spPr>
          <a:xfrm>
            <a:off x="422382" y="970932"/>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Hypothesis</a:t>
            </a:r>
            <a:endParaRPr b="0">
              <a:latin typeface="Nunito Sans"/>
              <a:ea typeface="Nunito Sans"/>
              <a:cs typeface="Nunito Sans"/>
              <a:sym typeface="Nunito Sans"/>
            </a:endParaRPr>
          </a:p>
        </p:txBody>
      </p:sp>
      <p:sp>
        <p:nvSpPr>
          <p:cNvPr id="94" name="Google Shape;94;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62500" lnSpcReduction="10000"/>
          </a:bodyPr>
          <a:lstStyle/>
          <a:p>
            <a:pPr marL="0" lvl="0" indent="0" algn="l" rtl="0">
              <a:lnSpc>
                <a:spcPct val="115000"/>
              </a:lnSpc>
              <a:spcBef>
                <a:spcPts val="0"/>
              </a:spcBef>
              <a:spcAft>
                <a:spcPts val="0"/>
              </a:spcAft>
              <a:buNone/>
            </a:pPr>
            <a:r>
              <a:rPr lang="en-US" b="1" u="sng">
                <a:latin typeface="Nunito Sans"/>
                <a:ea typeface="Nunito Sans"/>
                <a:cs typeface="Nunito Sans"/>
                <a:sym typeface="Nunito Sans"/>
              </a:rPr>
              <a:t>Customer Behaviour Hypotheses</a:t>
            </a:r>
            <a:endParaRPr b="1" u="sng">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Older customers tend to spend more per purchase than younger customers.</a:t>
            </a:r>
            <a:endParaRPr>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Subscribed customers have higher purchase frequency and total purchase count than unsubscribed ones.</a:t>
            </a:r>
            <a:endParaRPr>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The subscribed customers would have the highest average units per order from the seasonal items based on climate.</a:t>
            </a:r>
            <a:endParaRPr>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Product category preferences vary significantly by gender; females most likely purchase more accessories and footwear.</a:t>
            </a:r>
            <a:endParaRPr>
              <a:latin typeface="Nunito Sans"/>
              <a:ea typeface="Nunito Sans"/>
              <a:cs typeface="Nunito Sans"/>
              <a:sym typeface="Nunito Sans"/>
            </a:endParaRPr>
          </a:p>
          <a:p>
            <a:pPr marL="0" lvl="0" indent="0" algn="l" rtl="0">
              <a:lnSpc>
                <a:spcPct val="130000"/>
              </a:lnSpc>
              <a:spcBef>
                <a:spcPts val="0"/>
              </a:spcBef>
              <a:spcAft>
                <a:spcPts val="0"/>
              </a:spcAft>
              <a:buNone/>
            </a:pPr>
            <a:r>
              <a:rPr lang="en-US" b="1" u="sng">
                <a:latin typeface="Nunito Sans"/>
                <a:ea typeface="Nunito Sans"/>
                <a:cs typeface="Nunito Sans"/>
                <a:sym typeface="Nunito Sans"/>
              </a:rPr>
              <a:t>Product Performance Hypotheses</a:t>
            </a:r>
            <a:endParaRPr>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 Products from “summer” or “spring” season show spikes in number of purchases midway through the season whilst “winter” and “fall” at the beginning of the season. </a:t>
            </a:r>
            <a:endParaRPr>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Higher-rated products are purchased more frequently and generate higher revenue.</a:t>
            </a:r>
            <a:endParaRPr>
              <a:latin typeface="Nunito Sans"/>
              <a:ea typeface="Nunito Sans"/>
              <a:cs typeface="Nunito Sans"/>
              <a:sym typeface="Nunito Sans"/>
            </a:endParaRPr>
          </a:p>
          <a:p>
            <a:pPr marL="0" lvl="0" indent="0" algn="l" rtl="0">
              <a:lnSpc>
                <a:spcPct val="130000"/>
              </a:lnSpc>
              <a:spcBef>
                <a:spcPts val="0"/>
              </a:spcBef>
              <a:spcAft>
                <a:spcPts val="0"/>
              </a:spcAft>
              <a:buNone/>
            </a:pPr>
            <a:r>
              <a:rPr lang="en-US" b="1" u="sng">
                <a:latin typeface="Nunito Sans"/>
                <a:ea typeface="Nunito Sans"/>
                <a:cs typeface="Nunito Sans"/>
                <a:sym typeface="Nunito Sans"/>
              </a:rPr>
              <a:t>Purchase Dynamics Hypotheses</a:t>
            </a:r>
            <a:endParaRPr b="1" u="sng">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The average customer would spend more on their purchase if they are offered free shipping. </a:t>
            </a:r>
            <a:endParaRPr>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Younger customers prefer digital wallets, while older customers lean toward credit cards.</a:t>
            </a:r>
            <a:endParaRPr>
              <a:latin typeface="Nunito Sans"/>
              <a:ea typeface="Nunito Sans"/>
              <a:cs typeface="Nunito Sans"/>
              <a:sym typeface="Nunito Sans"/>
            </a:endParaRPr>
          </a:p>
          <a:p>
            <a:pPr marL="0" lvl="0" indent="0" algn="l" rtl="0">
              <a:lnSpc>
                <a:spcPct val="130000"/>
              </a:lnSpc>
              <a:spcBef>
                <a:spcPts val="0"/>
              </a:spcBef>
              <a:spcAft>
                <a:spcPts val="0"/>
              </a:spcAft>
              <a:buNone/>
            </a:pPr>
            <a:r>
              <a:rPr lang="en-US" b="1" u="sng">
                <a:latin typeface="Nunito Sans"/>
                <a:ea typeface="Nunito Sans"/>
                <a:cs typeface="Nunito Sans"/>
                <a:sym typeface="Nunito Sans"/>
              </a:rPr>
              <a:t>Territory Trend Hypotheses</a:t>
            </a:r>
            <a:endParaRPr b="1" u="sng">
              <a:latin typeface="Nunito Sans"/>
              <a:ea typeface="Nunito Sans"/>
              <a:cs typeface="Nunito Sans"/>
              <a:sym typeface="Nunito Sans"/>
            </a:endParaRPr>
          </a:p>
          <a:p>
            <a:pPr marL="228600" lvl="0" indent="-200025" algn="l" rtl="0">
              <a:lnSpc>
                <a:spcPct val="130000"/>
              </a:lnSpc>
              <a:spcBef>
                <a:spcPts val="0"/>
              </a:spcBef>
              <a:spcAft>
                <a:spcPts val="0"/>
              </a:spcAft>
              <a:buClr>
                <a:srgbClr val="000000"/>
              </a:buClr>
              <a:buSzPct val="66666"/>
              <a:buFont typeface="Arial"/>
              <a:buAutoNum type="arabicPeriod"/>
            </a:pPr>
            <a:r>
              <a:rPr lang="en-US">
                <a:latin typeface="Nunito Sans"/>
                <a:ea typeface="Nunito Sans"/>
                <a:cs typeface="Nunito Sans"/>
                <a:sym typeface="Nunito Sans"/>
              </a:rPr>
              <a:t>Customers in the Northeast and Midwest are purchasing higher amount of winter and fall clothing than customers in the South and West; purchasing higher amount of summer and spring clothing.</a:t>
            </a:r>
            <a:endParaRPr>
              <a:latin typeface="Nunito Sans"/>
              <a:ea typeface="Nunito Sans"/>
              <a:cs typeface="Nunito Sans"/>
              <a:sym typeface="Nunito Sans"/>
            </a:endParaRPr>
          </a:p>
        </p:txBody>
      </p:sp>
      <p:sp>
        <p:nvSpPr>
          <p:cNvPr id="95" name="Google Shape;95;p4"/>
          <p:cNvSpPr/>
          <p:nvPr/>
        </p:nvSpPr>
        <p:spPr>
          <a:xfrm>
            <a:off x="343941" y="993344"/>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Data and Tools Used</a:t>
            </a:r>
            <a:endParaRPr b="0">
              <a:latin typeface="Nunito Sans"/>
              <a:ea typeface="Nunito Sans"/>
              <a:cs typeface="Nunito Sans"/>
              <a:sym typeface="Nunito Sans"/>
            </a:endParaRPr>
          </a:p>
        </p:txBody>
      </p:sp>
      <p:sp>
        <p:nvSpPr>
          <p:cNvPr id="101" name="Google Shape;101;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fontScale="85000" lnSpcReduction="10000"/>
          </a:bodyPr>
          <a:lstStyle/>
          <a:p>
            <a:pPr marL="0" lvl="0" indent="0" algn="l" rtl="0">
              <a:lnSpc>
                <a:spcPct val="130000"/>
              </a:lnSpc>
              <a:spcBef>
                <a:spcPts val="0"/>
              </a:spcBef>
              <a:spcAft>
                <a:spcPts val="0"/>
              </a:spcAft>
              <a:buNone/>
            </a:pPr>
            <a:r>
              <a:rPr lang="en-US" b="1">
                <a:latin typeface="Nunito Sans"/>
                <a:ea typeface="Nunito Sans"/>
                <a:cs typeface="Nunito Sans"/>
                <a:sym typeface="Nunito Sans"/>
              </a:rPr>
              <a:t>Where did you find the dataset?</a:t>
            </a:r>
            <a:endParaRPr/>
          </a:p>
          <a:p>
            <a:pPr marL="0" lvl="0" indent="457200" algn="l" rtl="0">
              <a:lnSpc>
                <a:spcPct val="130000"/>
              </a:lnSpc>
              <a:spcBef>
                <a:spcPts val="0"/>
              </a:spcBef>
              <a:spcAft>
                <a:spcPts val="0"/>
              </a:spcAft>
              <a:buSzPct val="85714"/>
              <a:buNone/>
            </a:pPr>
            <a:r>
              <a:rPr lang="en-US" sz="1400">
                <a:solidFill>
                  <a:srgbClr val="000000"/>
                </a:solidFill>
                <a:latin typeface="Nunito Sans"/>
                <a:ea typeface="Nunito Sans"/>
                <a:cs typeface="Nunito Sans"/>
                <a:sym typeface="Nunito Sans"/>
              </a:rPr>
              <a:t>Our dataset was found on Kaggle.com</a:t>
            </a:r>
            <a:endParaRPr sz="1400">
              <a:solidFill>
                <a:srgbClr val="000000"/>
              </a:solidFill>
              <a:latin typeface="Nunito Sans"/>
              <a:ea typeface="Nunito Sans"/>
              <a:cs typeface="Nunito Sans"/>
              <a:sym typeface="Nunito Sans"/>
            </a:endParaRPr>
          </a:p>
          <a:p>
            <a:pPr marL="0" lvl="0" indent="0" algn="l" rtl="0">
              <a:lnSpc>
                <a:spcPct val="130000"/>
              </a:lnSpc>
              <a:spcBef>
                <a:spcPts val="0"/>
              </a:spcBef>
              <a:spcAft>
                <a:spcPts val="0"/>
              </a:spcAft>
              <a:buNone/>
            </a:pPr>
            <a:endParaRPr b="1">
              <a:latin typeface="Nunito Sans"/>
              <a:ea typeface="Nunito Sans"/>
              <a:cs typeface="Nunito Sans"/>
              <a:sym typeface="Nunito Sans"/>
            </a:endParaRPr>
          </a:p>
          <a:p>
            <a:pPr marL="0" lvl="0" indent="0" algn="l" rtl="0">
              <a:lnSpc>
                <a:spcPct val="130000"/>
              </a:lnSpc>
              <a:spcBef>
                <a:spcPts val="0"/>
              </a:spcBef>
              <a:spcAft>
                <a:spcPts val="0"/>
              </a:spcAft>
              <a:buNone/>
            </a:pPr>
            <a:r>
              <a:rPr lang="en-US" b="1">
                <a:latin typeface="Nunito Sans"/>
                <a:ea typeface="Nunito Sans"/>
                <a:cs typeface="Nunito Sans"/>
                <a:sym typeface="Nunito Sans"/>
              </a:rPr>
              <a:t>Did you have to join multiple datasets in order to create the ideal dataset? </a:t>
            </a:r>
            <a:endParaRPr/>
          </a:p>
          <a:p>
            <a:pPr marL="152400" lvl="0" indent="0" algn="l" rtl="0">
              <a:lnSpc>
                <a:spcPct val="130000"/>
              </a:lnSpc>
              <a:spcBef>
                <a:spcPts val="0"/>
              </a:spcBef>
              <a:spcAft>
                <a:spcPts val="0"/>
              </a:spcAft>
              <a:buSzPct val="85714"/>
              <a:buNone/>
            </a:pPr>
            <a:r>
              <a:rPr lang="en-US" sz="1400">
                <a:solidFill>
                  <a:srgbClr val="000000"/>
                </a:solidFill>
                <a:latin typeface="Nunito Sans"/>
                <a:ea typeface="Nunito Sans"/>
                <a:cs typeface="Nunito Sans"/>
                <a:sym typeface="Nunito Sans"/>
              </a:rPr>
              <a:t>No, however our dataset had to be cleaned, and variables e.g. purchase date and purchase id added so that we could build a relational database</a:t>
            </a:r>
            <a:endParaRPr sz="1400">
              <a:solidFill>
                <a:srgbClr val="000000"/>
              </a:solidFill>
              <a:latin typeface="Nunito Sans"/>
              <a:ea typeface="Nunito Sans"/>
              <a:cs typeface="Nunito Sans"/>
              <a:sym typeface="Nunito Sans"/>
            </a:endParaRPr>
          </a:p>
          <a:p>
            <a:pPr marL="152400" lvl="0" indent="0" algn="l" rtl="0">
              <a:lnSpc>
                <a:spcPct val="130000"/>
              </a:lnSpc>
              <a:spcBef>
                <a:spcPts val="0"/>
              </a:spcBef>
              <a:spcAft>
                <a:spcPts val="0"/>
              </a:spcAft>
              <a:buSzPct val="85714"/>
              <a:buNone/>
            </a:pPr>
            <a:endParaRPr>
              <a:latin typeface="Nunito Sans"/>
              <a:ea typeface="Nunito Sans"/>
              <a:cs typeface="Nunito Sans"/>
              <a:sym typeface="Nunito Sans"/>
            </a:endParaRPr>
          </a:p>
          <a:p>
            <a:pPr marL="12700" lvl="0" indent="0" algn="l" rtl="0">
              <a:spcBef>
                <a:spcPts val="0"/>
              </a:spcBef>
              <a:spcAft>
                <a:spcPts val="0"/>
              </a:spcAft>
              <a:buClr>
                <a:schemeClr val="dk1"/>
              </a:buClr>
              <a:buSzPct val="91666"/>
              <a:buFont typeface="Arial"/>
              <a:buNone/>
            </a:pPr>
            <a:r>
              <a:rPr lang="en-US" sz="1200" b="1">
                <a:solidFill>
                  <a:schemeClr val="dk1"/>
                </a:solidFill>
                <a:latin typeface="Nunito Sans"/>
                <a:ea typeface="Nunito Sans"/>
                <a:cs typeface="Nunito Sans"/>
                <a:sym typeface="Nunito Sans"/>
              </a:rPr>
              <a:t>Which tools did you use to undertake the processing and statistical analysis?</a:t>
            </a:r>
            <a:endParaRPr sz="1200" b="1">
              <a:solidFill>
                <a:schemeClr val="dk1"/>
              </a:solidFill>
              <a:latin typeface="Nunito Sans"/>
              <a:ea typeface="Nunito Sans"/>
              <a:cs typeface="Nunito Sans"/>
              <a:sym typeface="Nunito Sans"/>
            </a:endParaRPr>
          </a:p>
          <a:p>
            <a:pPr marL="457200" lvl="0" indent="-304165" algn="l" rtl="0">
              <a:spcBef>
                <a:spcPts val="0"/>
              </a:spcBef>
              <a:spcAft>
                <a:spcPts val="0"/>
              </a:spcAft>
              <a:buClr>
                <a:schemeClr val="dk1"/>
              </a:buClr>
              <a:buSzPct val="100000"/>
              <a:buFont typeface="Nunito Sans"/>
              <a:buChar char="●"/>
            </a:pPr>
            <a:r>
              <a:rPr lang="en-US">
                <a:solidFill>
                  <a:schemeClr val="dk1"/>
                </a:solidFill>
                <a:latin typeface="Nunito Sans"/>
                <a:ea typeface="Nunito Sans"/>
                <a:cs typeface="Nunito Sans"/>
                <a:sym typeface="Nunito Sans"/>
              </a:rPr>
              <a:t>Microsoft Excel</a:t>
            </a:r>
            <a:endParaRPr>
              <a:solidFill>
                <a:schemeClr val="dk1"/>
              </a:solidFill>
              <a:latin typeface="Nunito Sans"/>
              <a:ea typeface="Nunito Sans"/>
              <a:cs typeface="Nunito Sans"/>
              <a:sym typeface="Nunito Sans"/>
            </a:endParaRPr>
          </a:p>
          <a:p>
            <a:pPr marL="457200" lvl="0" indent="-304165" algn="l" rtl="0">
              <a:spcBef>
                <a:spcPts val="0"/>
              </a:spcBef>
              <a:spcAft>
                <a:spcPts val="0"/>
              </a:spcAft>
              <a:buClr>
                <a:schemeClr val="dk1"/>
              </a:buClr>
              <a:buSzPct val="100000"/>
              <a:buFont typeface="Nunito Sans"/>
              <a:buChar char="●"/>
            </a:pPr>
            <a:r>
              <a:rPr lang="en-US">
                <a:solidFill>
                  <a:schemeClr val="dk1"/>
                </a:solidFill>
                <a:latin typeface="Nunito Sans"/>
                <a:ea typeface="Nunito Sans"/>
                <a:cs typeface="Nunito Sans"/>
                <a:sym typeface="Nunito Sans"/>
              </a:rPr>
              <a:t>SQL</a:t>
            </a:r>
            <a:endParaRPr>
              <a:solidFill>
                <a:schemeClr val="dk1"/>
              </a:solidFill>
              <a:latin typeface="Nunito Sans"/>
              <a:ea typeface="Nunito Sans"/>
              <a:cs typeface="Nunito Sans"/>
              <a:sym typeface="Nunito Sans"/>
            </a:endParaRPr>
          </a:p>
          <a:p>
            <a:pPr marL="457200" lvl="0" indent="-304165" algn="l" rtl="0">
              <a:spcBef>
                <a:spcPts val="0"/>
              </a:spcBef>
              <a:spcAft>
                <a:spcPts val="0"/>
              </a:spcAft>
              <a:buClr>
                <a:schemeClr val="dk1"/>
              </a:buClr>
              <a:buSzPct val="100000"/>
              <a:buFont typeface="Nunito Sans"/>
              <a:buChar char="●"/>
            </a:pPr>
            <a:r>
              <a:rPr lang="en-US">
                <a:solidFill>
                  <a:schemeClr val="dk1"/>
                </a:solidFill>
                <a:latin typeface="Nunito Sans"/>
                <a:ea typeface="Nunito Sans"/>
                <a:cs typeface="Nunito Sans"/>
                <a:sym typeface="Nunito Sans"/>
              </a:rPr>
              <a:t>Tableau</a:t>
            </a:r>
            <a:endParaRPr>
              <a:solidFill>
                <a:schemeClr val="dk1"/>
              </a:solidFill>
            </a:endParaRPr>
          </a:p>
          <a:p>
            <a:pPr marL="152400" lvl="0" indent="0" algn="l" rtl="0">
              <a:lnSpc>
                <a:spcPct val="130000"/>
              </a:lnSpc>
              <a:spcBef>
                <a:spcPts val="0"/>
              </a:spcBef>
              <a:spcAft>
                <a:spcPts val="0"/>
              </a:spcAft>
              <a:buSzPct val="85714"/>
              <a:buNone/>
            </a:pPr>
            <a:endParaRPr>
              <a:latin typeface="Nunito Sans"/>
              <a:ea typeface="Nunito Sans"/>
              <a:cs typeface="Nunito Sans"/>
              <a:sym typeface="Nunito Sans"/>
            </a:endParaRPr>
          </a:p>
        </p:txBody>
      </p:sp>
      <p:pic>
        <p:nvPicPr>
          <p:cNvPr id="102" name="Google Shape;102;p5"/>
          <p:cNvPicPr preferRelativeResize="0"/>
          <p:nvPr/>
        </p:nvPicPr>
        <p:blipFill rotWithShape="1">
          <a:blip r:embed="rId3">
            <a:alphaModFix/>
          </a:blip>
          <a:srcRect/>
          <a:stretch/>
        </p:blipFill>
        <p:spPr>
          <a:xfrm>
            <a:off x="4832400" y="2801625"/>
            <a:ext cx="3999899" cy="2092837"/>
          </a:xfrm>
          <a:prstGeom prst="rect">
            <a:avLst/>
          </a:prstGeom>
          <a:noFill/>
          <a:ln>
            <a:noFill/>
          </a:ln>
        </p:spPr>
      </p:pic>
      <p:sp>
        <p:nvSpPr>
          <p:cNvPr id="103" name="Google Shape;103;p5"/>
          <p:cNvSpPr txBox="1">
            <a:spLocks noGrp="1"/>
          </p:cNvSpPr>
          <p:nvPr>
            <p:ph type="body" idx="2"/>
          </p:nvPr>
        </p:nvSpPr>
        <p:spPr>
          <a:xfrm>
            <a:off x="4832400" y="1152475"/>
            <a:ext cx="3999900" cy="1514400"/>
          </a:xfrm>
          <a:prstGeom prst="rect">
            <a:avLst/>
          </a:prstGeom>
        </p:spPr>
        <p:txBody>
          <a:bodyPr spcFirstLastPara="1" wrap="square" lIns="91425" tIns="91425" rIns="91425" bIns="91425" anchor="t" anchorCtr="0">
            <a:normAutofit fontScale="92500" lnSpcReduction="20000"/>
          </a:bodyPr>
          <a:lstStyle/>
          <a:p>
            <a:pPr marL="12700" lvl="0" indent="0" algn="l" rtl="0">
              <a:spcBef>
                <a:spcPts val="0"/>
              </a:spcBef>
              <a:spcAft>
                <a:spcPts val="0"/>
              </a:spcAft>
              <a:buClr>
                <a:schemeClr val="dk1"/>
              </a:buClr>
              <a:buSzPct val="91666"/>
              <a:buFont typeface="Arial"/>
              <a:buNone/>
            </a:pPr>
            <a:r>
              <a:rPr lang="en-US" sz="1200" b="1">
                <a:solidFill>
                  <a:schemeClr val="dk1"/>
                </a:solidFill>
                <a:latin typeface="Nunito Sans"/>
                <a:ea typeface="Nunito Sans"/>
                <a:cs typeface="Nunito Sans"/>
                <a:sym typeface="Nunito Sans"/>
              </a:rPr>
              <a:t>What other data would you have liked to  have in an ideal scenario?</a:t>
            </a:r>
            <a:endParaRPr sz="1200" b="1">
              <a:solidFill>
                <a:schemeClr val="dk1"/>
              </a:solidFill>
              <a:latin typeface="Nunito Sans"/>
              <a:ea typeface="Nunito Sans"/>
              <a:cs typeface="Nunito Sans"/>
              <a:sym typeface="Nunito Sans"/>
            </a:endParaRPr>
          </a:p>
          <a:p>
            <a:pPr marL="0" lvl="0" indent="0" algn="l" rtl="0">
              <a:spcBef>
                <a:spcPts val="0"/>
              </a:spcBef>
              <a:spcAft>
                <a:spcPts val="0"/>
              </a:spcAft>
              <a:buClr>
                <a:schemeClr val="dk1"/>
              </a:buClr>
              <a:buSzPct val="91666"/>
              <a:buFont typeface="Arial"/>
              <a:buNone/>
            </a:pPr>
            <a:r>
              <a:rPr lang="en-US" sz="1200">
                <a:solidFill>
                  <a:schemeClr val="dk1"/>
                </a:solidFill>
              </a:rPr>
              <a:t>•</a:t>
            </a:r>
            <a:r>
              <a:rPr lang="en-US">
                <a:solidFill>
                  <a:schemeClr val="dk1"/>
                </a:solidFill>
                <a:latin typeface="Nunito Sans"/>
                <a:ea typeface="Nunito Sans"/>
                <a:cs typeface="Nunito Sans"/>
                <a:sym typeface="Nunito Sans"/>
              </a:rPr>
              <a:t>Lead source of acquisition channel to assist the Marketing team on strategy of most profitable channels and expansion into further channels</a:t>
            </a:r>
            <a:endParaRPr>
              <a:solidFill>
                <a:schemeClr val="dk1"/>
              </a:solidFill>
              <a:latin typeface="Nunito Sans"/>
              <a:ea typeface="Nunito Sans"/>
              <a:cs typeface="Nunito Sans"/>
              <a:sym typeface="Nunito Sans"/>
            </a:endParaRPr>
          </a:p>
          <a:p>
            <a:pPr marL="0" lvl="0" indent="0" algn="l" rtl="0">
              <a:spcBef>
                <a:spcPts val="0"/>
              </a:spcBef>
              <a:spcAft>
                <a:spcPts val="0"/>
              </a:spcAft>
              <a:buClr>
                <a:schemeClr val="dk1"/>
              </a:buClr>
              <a:buSzPct val="91666"/>
              <a:buFont typeface="Arial"/>
              <a:buNone/>
            </a:pPr>
            <a:r>
              <a:rPr lang="en-US" sz="1200">
                <a:solidFill>
                  <a:schemeClr val="dk1"/>
                </a:solidFill>
              </a:rPr>
              <a:t>•</a:t>
            </a:r>
            <a:r>
              <a:rPr lang="en-US">
                <a:solidFill>
                  <a:schemeClr val="dk1"/>
                </a:solidFill>
                <a:latin typeface="Nunito Sans"/>
                <a:ea typeface="Nunito Sans"/>
                <a:cs typeface="Nunito Sans"/>
                <a:sym typeface="Nunito Sans"/>
              </a:rPr>
              <a:t>Territories instead of states and Sales reps assigned to those territories</a:t>
            </a:r>
            <a:endParaRPr/>
          </a:p>
        </p:txBody>
      </p:sp>
      <p:sp>
        <p:nvSpPr>
          <p:cNvPr id="104" name="Google Shape;104;p5"/>
          <p:cNvSpPr/>
          <p:nvPr/>
        </p:nvSpPr>
        <p:spPr>
          <a:xfrm>
            <a:off x="343941" y="993344"/>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g39ae2a8eace_2_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Data Processing</a:t>
            </a:r>
            <a:endParaRPr b="0">
              <a:latin typeface="Nunito Sans"/>
              <a:ea typeface="Nunito Sans"/>
              <a:cs typeface="Nunito Sans"/>
              <a:sym typeface="Nunito Sans"/>
            </a:endParaRPr>
          </a:p>
        </p:txBody>
      </p:sp>
      <p:sp>
        <p:nvSpPr>
          <p:cNvPr id="110" name="Google Shape;110;g39ae2a8eace_2_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fontScale="62500"/>
          </a:bodyPr>
          <a:lstStyle/>
          <a:p>
            <a:pPr marL="0" lvl="0" indent="0" algn="l" rtl="0">
              <a:lnSpc>
                <a:spcPct val="130000"/>
              </a:lnSpc>
              <a:spcBef>
                <a:spcPts val="0"/>
              </a:spcBef>
              <a:spcAft>
                <a:spcPts val="0"/>
              </a:spcAft>
              <a:buSzPct val="85714"/>
              <a:buNone/>
            </a:pPr>
            <a:r>
              <a:rPr lang="en-US" b="1">
                <a:latin typeface="Nunito Sans"/>
                <a:ea typeface="Nunito Sans"/>
                <a:cs typeface="Nunito Sans"/>
                <a:sym typeface="Nunito Sans"/>
              </a:rPr>
              <a:t>Data cleansing process:</a:t>
            </a:r>
            <a:endParaRPr b="1"/>
          </a:p>
          <a:p>
            <a:pPr marL="45720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Inspected column types, nulls, and row counts across tables</a:t>
            </a:r>
            <a:endParaRPr/>
          </a:p>
          <a:p>
            <a:pPr marL="45720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Remove duplicates using DISTINCT and ROW_NUMBER() on product attributes</a:t>
            </a:r>
            <a:endParaRPr/>
          </a:p>
          <a:p>
            <a:pPr marL="45720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Validated joins between purchases, products, and customers</a:t>
            </a:r>
            <a:endParaRPr>
              <a:latin typeface="Nunito Sans"/>
              <a:ea typeface="Nunito Sans"/>
              <a:cs typeface="Nunito Sans"/>
              <a:sym typeface="Nunito Sans"/>
            </a:endParaRPr>
          </a:p>
          <a:p>
            <a:pPr marL="45720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Customers and Products are connected through Purchases.</a:t>
            </a:r>
            <a:endParaRPr>
              <a:latin typeface="Nunito Sans"/>
              <a:ea typeface="Nunito Sans"/>
              <a:cs typeface="Nunito Sans"/>
              <a:sym typeface="Nunito Sans"/>
            </a:endParaRPr>
          </a:p>
          <a:p>
            <a:pPr marL="45720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Standardized inconsistent values and normalized categories</a:t>
            </a:r>
            <a:endParaRPr/>
          </a:p>
          <a:p>
            <a:pPr marL="45720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Parsed purchase_date into MONTH() and YEAR() for seasonal analysis</a:t>
            </a:r>
            <a:endParaRPr>
              <a:latin typeface="Nunito Sans"/>
              <a:ea typeface="Nunito Sans"/>
              <a:cs typeface="Nunito Sans"/>
              <a:sym typeface="Nunito Sans"/>
            </a:endParaRPr>
          </a:p>
          <a:p>
            <a:pPr marL="457200" lvl="0" indent="0" algn="l" rtl="0">
              <a:lnSpc>
                <a:spcPct val="130000"/>
              </a:lnSpc>
              <a:spcBef>
                <a:spcPts val="0"/>
              </a:spcBef>
              <a:spcAft>
                <a:spcPts val="0"/>
              </a:spcAft>
              <a:buNone/>
            </a:pPr>
            <a:endParaRPr>
              <a:latin typeface="Nunito Sans"/>
              <a:ea typeface="Nunito Sans"/>
              <a:cs typeface="Nunito Sans"/>
              <a:sym typeface="Nunito Sans"/>
            </a:endParaRPr>
          </a:p>
          <a:p>
            <a:pPr marL="0" lvl="0" indent="0" algn="l" rtl="0">
              <a:lnSpc>
                <a:spcPct val="130000"/>
              </a:lnSpc>
              <a:spcBef>
                <a:spcPts val="0"/>
              </a:spcBef>
              <a:spcAft>
                <a:spcPts val="0"/>
              </a:spcAft>
              <a:buNone/>
            </a:pPr>
            <a:r>
              <a:rPr lang="en-US" b="1">
                <a:latin typeface="Nunito Sans"/>
                <a:ea typeface="Nunito Sans"/>
                <a:cs typeface="Nunito Sans"/>
                <a:sym typeface="Nunito Sans"/>
              </a:rPr>
              <a:t>Determining Outliers: </a:t>
            </a:r>
            <a:endParaRPr sz="1200">
              <a:solidFill>
                <a:srgbClr val="434343"/>
              </a:solidFill>
              <a:latin typeface="Nunito Sans"/>
              <a:ea typeface="Nunito Sans"/>
              <a:cs typeface="Nunito Sans"/>
              <a:sym typeface="Nunito Sans"/>
            </a:endParaRPr>
          </a:p>
          <a:p>
            <a:pPr marL="457200" marR="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Flagged outliers in purchase amount, rating, and purchase count</a:t>
            </a:r>
            <a:endParaRPr>
              <a:latin typeface="Nunito Sans"/>
              <a:ea typeface="Nunito Sans"/>
              <a:cs typeface="Nunito Sans"/>
              <a:sym typeface="Nunito Sans"/>
            </a:endParaRPr>
          </a:p>
          <a:p>
            <a:pPr marL="457200" marR="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Set business rules to derive persona based on Median, STDEV to create Upper and Lower Limits (Example: Upper limit: Median + 0.5* STDEV, Lower Limits: Median - 0.5*STDEV)</a:t>
            </a:r>
            <a:endParaRPr>
              <a:latin typeface="Nunito Sans"/>
              <a:ea typeface="Nunito Sans"/>
              <a:cs typeface="Nunito Sans"/>
              <a:sym typeface="Nunito Sans"/>
            </a:endParaRPr>
          </a:p>
          <a:p>
            <a:pPr marL="457200" marR="0" lvl="0" indent="-284162" algn="l" rtl="0">
              <a:lnSpc>
                <a:spcPct val="130000"/>
              </a:lnSpc>
              <a:spcBef>
                <a:spcPts val="0"/>
              </a:spcBef>
              <a:spcAft>
                <a:spcPts val="0"/>
              </a:spcAft>
              <a:buSzPct val="100000"/>
              <a:buFont typeface="Nunito Sans"/>
              <a:buChar char="●"/>
            </a:pPr>
            <a:r>
              <a:rPr lang="en-US">
                <a:latin typeface="Nunito Sans"/>
                <a:ea typeface="Nunito Sans"/>
                <a:cs typeface="Nunito Sans"/>
                <a:sym typeface="Nunito Sans"/>
              </a:rPr>
              <a:t>Preserved valid outliers unless clearly erroneous or duplicated</a:t>
            </a:r>
            <a:endParaRPr/>
          </a:p>
        </p:txBody>
      </p:sp>
      <p:sp>
        <p:nvSpPr>
          <p:cNvPr id="111" name="Google Shape;111;g39ae2a8eace_2_0"/>
          <p:cNvSpPr txBox="1"/>
          <p:nvPr/>
        </p:nvSpPr>
        <p:spPr>
          <a:xfrm>
            <a:off x="4976150" y="1928650"/>
            <a:ext cx="3774300" cy="23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b="1">
              <a:solidFill>
                <a:srgbClr val="434343"/>
              </a:solidFill>
              <a:latin typeface="Nunito Sans"/>
              <a:ea typeface="Nunito Sans"/>
              <a:cs typeface="Nunito Sans"/>
              <a:sym typeface="Nunito Sans"/>
            </a:endParaRPr>
          </a:p>
        </p:txBody>
      </p:sp>
      <p:sp>
        <p:nvSpPr>
          <p:cNvPr id="112" name="Google Shape;112;g39ae2a8eace_2_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US" sz="1200" b="1">
                <a:solidFill>
                  <a:srgbClr val="434343"/>
                </a:solidFill>
                <a:latin typeface="Nunito Sans"/>
                <a:ea typeface="Nunito Sans"/>
                <a:cs typeface="Nunito Sans"/>
                <a:sym typeface="Nunito Sans"/>
              </a:rPr>
              <a:t>Set Assumptions:</a:t>
            </a:r>
            <a:endParaRPr sz="1200" b="1">
              <a:solidFill>
                <a:srgbClr val="434343"/>
              </a:solidFill>
              <a:latin typeface="Nunito Sans"/>
              <a:ea typeface="Nunito Sans"/>
              <a:cs typeface="Nunito Sans"/>
              <a:sym typeface="Nunito Sans"/>
            </a:endParaRPr>
          </a:p>
          <a:p>
            <a:pPr marL="0" lvl="0" indent="0" algn="l" rtl="0">
              <a:lnSpc>
                <a:spcPct val="100000"/>
              </a:lnSpc>
              <a:spcBef>
                <a:spcPts val="0"/>
              </a:spcBef>
              <a:spcAft>
                <a:spcPts val="0"/>
              </a:spcAft>
              <a:buClr>
                <a:schemeClr val="dk1"/>
              </a:buClr>
              <a:buSzPts val="1100"/>
              <a:buFont typeface="Arial"/>
              <a:buNone/>
            </a:pPr>
            <a:endParaRPr sz="1200" b="1">
              <a:solidFill>
                <a:srgbClr val="434343"/>
              </a:solidFill>
              <a:latin typeface="Nunito Sans"/>
              <a:ea typeface="Nunito Sans"/>
              <a:cs typeface="Nunito Sans"/>
              <a:sym typeface="Nunito Sans"/>
            </a:endParaRPr>
          </a:p>
          <a:p>
            <a:pPr marL="0" lvl="0" indent="0" algn="l" rtl="0">
              <a:spcBef>
                <a:spcPts val="0"/>
              </a:spcBef>
              <a:spcAft>
                <a:spcPts val="0"/>
              </a:spcAft>
              <a:buClr>
                <a:schemeClr val="dk1"/>
              </a:buClr>
              <a:buSzPts val="1100"/>
              <a:buFont typeface="Arial"/>
              <a:buNone/>
            </a:pPr>
            <a:r>
              <a:rPr lang="en-US" sz="1200" u="sng">
                <a:solidFill>
                  <a:srgbClr val="434343"/>
                </a:solidFill>
                <a:latin typeface="Nunito Sans"/>
                <a:ea typeface="Nunito Sans"/>
                <a:cs typeface="Nunito Sans"/>
                <a:sym typeface="Nunito Sans"/>
              </a:rPr>
              <a:t>Assumption 1:</a:t>
            </a:r>
            <a:endParaRPr sz="1200" u="sng">
              <a:solidFill>
                <a:srgbClr val="434343"/>
              </a:solidFill>
              <a:latin typeface="Nunito Sans"/>
              <a:ea typeface="Nunito Sans"/>
              <a:cs typeface="Nunito Sans"/>
              <a:sym typeface="Nunito Sans"/>
            </a:endParaRPr>
          </a:p>
          <a:p>
            <a:pPr marL="0" lvl="0" indent="0" algn="l" rtl="0">
              <a:spcBef>
                <a:spcPts val="0"/>
              </a:spcBef>
              <a:spcAft>
                <a:spcPts val="0"/>
              </a:spcAft>
              <a:buClr>
                <a:schemeClr val="dk1"/>
              </a:buClr>
              <a:buSzPts val="1100"/>
              <a:buFont typeface="Arial"/>
              <a:buNone/>
            </a:pPr>
            <a:r>
              <a:rPr lang="en-US" sz="1200">
                <a:solidFill>
                  <a:srgbClr val="434343"/>
                </a:solidFill>
                <a:latin typeface="Nunito Sans"/>
                <a:ea typeface="Nunito Sans"/>
                <a:cs typeface="Nunito Sans"/>
                <a:sym typeface="Nunito Sans"/>
              </a:rPr>
              <a:t>The dataset is suggesting that each customer only made one order, therefore limitation of following customer retention journey </a:t>
            </a:r>
            <a:endParaRPr sz="1200">
              <a:solidFill>
                <a:srgbClr val="434343"/>
              </a:solidFill>
              <a:latin typeface="Nunito Sans"/>
              <a:ea typeface="Nunito Sans"/>
              <a:cs typeface="Nunito Sans"/>
              <a:sym typeface="Nunito Sans"/>
            </a:endParaRPr>
          </a:p>
          <a:p>
            <a:pPr marL="0" lvl="0" indent="0" algn="l" rtl="0">
              <a:spcBef>
                <a:spcPts val="0"/>
              </a:spcBef>
              <a:spcAft>
                <a:spcPts val="0"/>
              </a:spcAft>
              <a:buClr>
                <a:schemeClr val="dk1"/>
              </a:buClr>
              <a:buSzPts val="1100"/>
              <a:buFont typeface="Arial"/>
              <a:buNone/>
            </a:pPr>
            <a:r>
              <a:rPr lang="en-US" sz="1200" u="sng">
                <a:solidFill>
                  <a:srgbClr val="434343"/>
                </a:solidFill>
                <a:latin typeface="Nunito Sans"/>
                <a:ea typeface="Nunito Sans"/>
                <a:cs typeface="Nunito Sans"/>
                <a:sym typeface="Nunito Sans"/>
              </a:rPr>
              <a:t>Assumption 2: </a:t>
            </a:r>
            <a:endParaRPr sz="1200" u="sng">
              <a:solidFill>
                <a:srgbClr val="434343"/>
              </a:solidFill>
              <a:latin typeface="Nunito Sans"/>
              <a:ea typeface="Nunito Sans"/>
              <a:cs typeface="Nunito Sans"/>
              <a:sym typeface="Nunito Sans"/>
            </a:endParaRPr>
          </a:p>
          <a:p>
            <a:pPr marL="0" lvl="0" indent="0" algn="l" rtl="0">
              <a:spcBef>
                <a:spcPts val="0"/>
              </a:spcBef>
              <a:spcAft>
                <a:spcPts val="0"/>
              </a:spcAft>
              <a:buClr>
                <a:schemeClr val="dk1"/>
              </a:buClr>
              <a:buSzPts val="1100"/>
              <a:buFont typeface="Arial"/>
              <a:buNone/>
            </a:pPr>
            <a:r>
              <a:rPr lang="en-US" sz="1200">
                <a:solidFill>
                  <a:srgbClr val="434343"/>
                </a:solidFill>
                <a:latin typeface="Nunito Sans"/>
                <a:ea typeface="Nunito Sans"/>
                <a:cs typeface="Nunito Sans"/>
                <a:sym typeface="Nunito Sans"/>
              </a:rPr>
              <a:t>The average purchase per customer of one type of item is 25 units, which is quite high. Data suggests the customers are purchasing the units to resell at their own store. Dress to Impress -&gt; wholesaler</a:t>
            </a:r>
            <a:endParaRPr sz="1200">
              <a:solidFill>
                <a:srgbClr val="434343"/>
              </a:solidFill>
              <a:latin typeface="Nunito Sans"/>
              <a:ea typeface="Nunito Sans"/>
              <a:cs typeface="Nunito Sans"/>
              <a:sym typeface="Nunito Sans"/>
            </a:endParaRPr>
          </a:p>
          <a:p>
            <a:pPr marL="0" lvl="0" indent="0" algn="l" rtl="0">
              <a:spcBef>
                <a:spcPts val="0"/>
              </a:spcBef>
              <a:spcAft>
                <a:spcPts val="0"/>
              </a:spcAft>
              <a:buClr>
                <a:schemeClr val="dk1"/>
              </a:buClr>
              <a:buSzPts val="1100"/>
              <a:buFont typeface="Arial"/>
              <a:buNone/>
            </a:pPr>
            <a:r>
              <a:rPr lang="en-US" sz="1200" u="sng">
                <a:solidFill>
                  <a:srgbClr val="434343"/>
                </a:solidFill>
                <a:latin typeface="Nunito Sans"/>
                <a:ea typeface="Nunito Sans"/>
                <a:cs typeface="Nunito Sans"/>
                <a:sym typeface="Nunito Sans"/>
              </a:rPr>
              <a:t>Assumption 3:</a:t>
            </a:r>
            <a:endParaRPr sz="1200" u="sng">
              <a:solidFill>
                <a:srgbClr val="434343"/>
              </a:solidFill>
              <a:latin typeface="Nunito Sans"/>
              <a:ea typeface="Nunito Sans"/>
              <a:cs typeface="Nunito Sans"/>
              <a:sym typeface="Nunito Sans"/>
            </a:endParaRPr>
          </a:p>
          <a:p>
            <a:pPr marL="0" lvl="0" indent="0" algn="l" rtl="0">
              <a:spcBef>
                <a:spcPts val="0"/>
              </a:spcBef>
              <a:spcAft>
                <a:spcPts val="0"/>
              </a:spcAft>
              <a:buNone/>
            </a:pPr>
            <a:r>
              <a:rPr lang="en-US" sz="1200">
                <a:solidFill>
                  <a:srgbClr val="434343"/>
                </a:solidFill>
                <a:latin typeface="Nunito Sans"/>
                <a:ea typeface="Nunito Sans"/>
                <a:cs typeface="Nunito Sans"/>
                <a:sym typeface="Nunito Sans"/>
              </a:rPr>
              <a:t>Our dataset from Kaggle did not include a purchase date therefore it is fictional to determine seasonality  and could be skewing our data</a:t>
            </a:r>
            <a:endParaRPr sz="1200" b="1">
              <a:solidFill>
                <a:srgbClr val="434343"/>
              </a:solidFill>
              <a:latin typeface="Nunito Sans"/>
              <a:ea typeface="Nunito Sans"/>
              <a:cs typeface="Nunito Sans"/>
              <a:sym typeface="Nunito Sans"/>
            </a:endParaRPr>
          </a:p>
        </p:txBody>
      </p:sp>
      <p:sp>
        <p:nvSpPr>
          <p:cNvPr id="113" name="Google Shape;113;g39ae2a8eace_2_0"/>
          <p:cNvSpPr/>
          <p:nvPr/>
        </p:nvSpPr>
        <p:spPr>
          <a:xfrm>
            <a:off x="343941" y="993344"/>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9ae2a8eace_2_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Data Processing </a:t>
            </a:r>
            <a:endParaRPr b="0">
              <a:latin typeface="Nunito Sans"/>
              <a:ea typeface="Nunito Sans"/>
              <a:cs typeface="Nunito Sans"/>
              <a:sym typeface="Nunito Sans"/>
            </a:endParaRPr>
          </a:p>
        </p:txBody>
      </p:sp>
      <p:sp>
        <p:nvSpPr>
          <p:cNvPr id="119" name="Google Shape;119;g39ae2a8eace_2_6"/>
          <p:cNvSpPr txBox="1">
            <a:spLocks noGrp="1"/>
          </p:cNvSpPr>
          <p:nvPr>
            <p:ph type="body" idx="1"/>
          </p:nvPr>
        </p:nvSpPr>
        <p:spPr>
          <a:xfrm>
            <a:off x="311700" y="1152475"/>
            <a:ext cx="8025600" cy="20412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30000"/>
              </a:lnSpc>
              <a:spcBef>
                <a:spcPts val="0"/>
              </a:spcBef>
              <a:spcAft>
                <a:spcPts val="0"/>
              </a:spcAft>
              <a:buSzPct val="66666"/>
              <a:buNone/>
            </a:pPr>
            <a:r>
              <a:rPr lang="en-US">
                <a:latin typeface="Nunito Sans"/>
                <a:ea typeface="Nunito Sans"/>
                <a:cs typeface="Nunito Sans"/>
                <a:sym typeface="Nunito Sans"/>
              </a:rPr>
              <a:t>Were there any surprising insights from your data processing/exploration?</a:t>
            </a:r>
            <a:endParaRPr/>
          </a:p>
          <a:p>
            <a:pPr marL="457200" lvl="0" indent="-317182" algn="l" rtl="0">
              <a:lnSpc>
                <a:spcPct val="130000"/>
              </a:lnSpc>
              <a:spcBef>
                <a:spcPts val="0"/>
              </a:spcBef>
              <a:spcAft>
                <a:spcPts val="0"/>
              </a:spcAft>
              <a:buSzPct val="100000"/>
              <a:buFont typeface="Nunito Sans"/>
              <a:buAutoNum type="arabicPeriod"/>
            </a:pPr>
            <a:r>
              <a:rPr lang="en-US">
                <a:latin typeface="Nunito Sans"/>
                <a:ea typeface="Nunito Sans"/>
                <a:cs typeface="Nunito Sans"/>
                <a:sym typeface="Nunito Sans"/>
              </a:rPr>
              <a:t>The gap between average purchase count between subscribed and unsubscribed customers was quite narrow only 2% higher for subscribed customers a opposed to unsubscribed </a:t>
            </a:r>
            <a:endParaRPr>
              <a:solidFill>
                <a:srgbClr val="FF0000"/>
              </a:solidFill>
              <a:latin typeface="Nunito Sans"/>
              <a:ea typeface="Nunito Sans"/>
              <a:cs typeface="Nunito Sans"/>
              <a:sym typeface="Nunito Sans"/>
            </a:endParaRPr>
          </a:p>
          <a:p>
            <a:pPr marL="457200" lvl="0" indent="-317182" algn="l" rtl="0">
              <a:lnSpc>
                <a:spcPct val="130000"/>
              </a:lnSpc>
              <a:spcBef>
                <a:spcPts val="0"/>
              </a:spcBef>
              <a:spcAft>
                <a:spcPts val="0"/>
              </a:spcAft>
              <a:buSzPct val="100000"/>
              <a:buFont typeface="Nunito Sans"/>
              <a:buAutoNum type="arabicPeriod"/>
            </a:pPr>
            <a:r>
              <a:rPr lang="en-US">
                <a:latin typeface="Nunito Sans"/>
                <a:ea typeface="Nunito Sans"/>
                <a:cs typeface="Nunito Sans"/>
                <a:sym typeface="Nunito Sans"/>
              </a:rPr>
              <a:t>Males seem to be purchasing twice as much in every category compared to females </a:t>
            </a:r>
            <a:endParaRPr>
              <a:solidFill>
                <a:srgbClr val="FF0000"/>
              </a:solidFill>
              <a:latin typeface="Nunito Sans"/>
              <a:ea typeface="Nunito Sans"/>
              <a:cs typeface="Nunito Sans"/>
              <a:sym typeface="Nunito Sans"/>
            </a:endParaRPr>
          </a:p>
          <a:p>
            <a:pPr marL="457200" lvl="0" indent="-317182" algn="l" rtl="0">
              <a:lnSpc>
                <a:spcPct val="130000"/>
              </a:lnSpc>
              <a:spcBef>
                <a:spcPts val="0"/>
              </a:spcBef>
              <a:spcAft>
                <a:spcPts val="0"/>
              </a:spcAft>
              <a:buSzPct val="100000"/>
              <a:buFont typeface="Nunito Sans"/>
              <a:buAutoNum type="arabicPeriod"/>
            </a:pPr>
            <a:r>
              <a:rPr lang="en-US">
                <a:latin typeface="Nunito Sans"/>
                <a:ea typeface="Nunito Sans"/>
                <a:cs typeface="Nunito Sans"/>
                <a:sym typeface="Nunito Sans"/>
              </a:rPr>
              <a:t>Highest rated products have not necessarily been purchased the most frequently and didn’t generate higher revenue than the lower rated products.</a:t>
            </a:r>
            <a:endParaRPr>
              <a:solidFill>
                <a:srgbClr val="FF0000"/>
              </a:solidFill>
              <a:latin typeface="Nunito Sans"/>
              <a:ea typeface="Nunito Sans"/>
              <a:cs typeface="Nunito Sans"/>
              <a:sym typeface="Nunito Sans"/>
            </a:endParaRPr>
          </a:p>
          <a:p>
            <a:pPr marL="457200" lvl="0" indent="-317182" algn="l" rtl="0">
              <a:lnSpc>
                <a:spcPct val="130000"/>
              </a:lnSpc>
              <a:spcBef>
                <a:spcPts val="0"/>
              </a:spcBef>
              <a:spcAft>
                <a:spcPts val="0"/>
              </a:spcAft>
              <a:buSzPct val="100000"/>
              <a:buFont typeface="Nunito Sans"/>
              <a:buAutoNum type="arabicPeriod"/>
            </a:pPr>
            <a:r>
              <a:rPr lang="en-US">
                <a:latin typeface="Nunito Sans"/>
                <a:ea typeface="Nunito Sans"/>
                <a:cs typeface="Nunito Sans"/>
                <a:sym typeface="Nunito Sans"/>
              </a:rPr>
              <a:t>The youngest customer actually prefer cash and the customers that are 65+ prefer payment by credit card </a:t>
            </a:r>
            <a:endParaRPr>
              <a:latin typeface="Nunito Sans"/>
              <a:ea typeface="Nunito Sans"/>
              <a:cs typeface="Nunito Sans"/>
              <a:sym typeface="Nunito Sans"/>
            </a:endParaRPr>
          </a:p>
        </p:txBody>
      </p:sp>
      <p:grpSp>
        <p:nvGrpSpPr>
          <p:cNvPr id="120" name="Google Shape;120;g39ae2a8eace_2_6"/>
          <p:cNvGrpSpPr/>
          <p:nvPr/>
        </p:nvGrpSpPr>
        <p:grpSpPr>
          <a:xfrm>
            <a:off x="311531" y="3328428"/>
            <a:ext cx="8025936" cy="1484296"/>
            <a:chOff x="514525" y="3047400"/>
            <a:chExt cx="7768037" cy="1436600"/>
          </a:xfrm>
        </p:grpSpPr>
        <p:pic>
          <p:nvPicPr>
            <p:cNvPr id="121" name="Google Shape;121;g39ae2a8eace_2_6"/>
            <p:cNvPicPr preferRelativeResize="0"/>
            <p:nvPr/>
          </p:nvPicPr>
          <p:blipFill rotWithShape="1">
            <a:blip r:embed="rId3">
              <a:alphaModFix/>
            </a:blip>
            <a:srcRect/>
            <a:stretch/>
          </p:blipFill>
          <p:spPr>
            <a:xfrm>
              <a:off x="514525" y="3047400"/>
              <a:ext cx="2390100" cy="1434000"/>
            </a:xfrm>
            <a:prstGeom prst="rect">
              <a:avLst/>
            </a:prstGeom>
            <a:noFill/>
            <a:ln>
              <a:noFill/>
            </a:ln>
          </p:spPr>
        </p:pic>
        <p:pic>
          <p:nvPicPr>
            <p:cNvPr id="122" name="Google Shape;122;g39ae2a8eace_2_6"/>
            <p:cNvPicPr preferRelativeResize="0"/>
            <p:nvPr/>
          </p:nvPicPr>
          <p:blipFill>
            <a:blip r:embed="rId4">
              <a:alphaModFix/>
            </a:blip>
            <a:stretch>
              <a:fillRect/>
            </a:stretch>
          </p:blipFill>
          <p:spPr>
            <a:xfrm>
              <a:off x="5670525" y="3047400"/>
              <a:ext cx="2612037" cy="1436600"/>
            </a:xfrm>
            <a:prstGeom prst="rect">
              <a:avLst/>
            </a:prstGeom>
            <a:noFill/>
            <a:ln>
              <a:noFill/>
            </a:ln>
          </p:spPr>
        </p:pic>
        <p:pic>
          <p:nvPicPr>
            <p:cNvPr id="123" name="Google Shape;123;g39ae2a8eace_2_6"/>
            <p:cNvPicPr preferRelativeResize="0"/>
            <p:nvPr/>
          </p:nvPicPr>
          <p:blipFill>
            <a:blip r:embed="rId5">
              <a:alphaModFix/>
            </a:blip>
            <a:stretch>
              <a:fillRect/>
            </a:stretch>
          </p:blipFill>
          <p:spPr>
            <a:xfrm>
              <a:off x="3060475" y="3047400"/>
              <a:ext cx="2390100" cy="1436594"/>
            </a:xfrm>
            <a:prstGeom prst="rect">
              <a:avLst/>
            </a:prstGeom>
            <a:noFill/>
            <a:ln>
              <a:noFill/>
            </a:ln>
          </p:spPr>
        </p:pic>
      </p:grpSp>
      <p:sp>
        <p:nvSpPr>
          <p:cNvPr id="124" name="Google Shape;124;g39ae2a8eace_2_6"/>
          <p:cNvSpPr/>
          <p:nvPr/>
        </p:nvSpPr>
        <p:spPr>
          <a:xfrm>
            <a:off x="343941" y="993344"/>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39ae2a8eace_2_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Statistical Analysis</a:t>
            </a:r>
            <a:endParaRPr b="0">
              <a:latin typeface="Nunito Sans"/>
              <a:ea typeface="Nunito Sans"/>
              <a:cs typeface="Nunito Sans"/>
              <a:sym typeface="Nunito Sans"/>
            </a:endParaRPr>
          </a:p>
        </p:txBody>
      </p:sp>
      <p:sp>
        <p:nvSpPr>
          <p:cNvPr id="130" name="Google Shape;130;g39ae2a8eace_2_1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p>
            <a:pPr marL="0" lvl="0" indent="0" algn="l" rtl="0">
              <a:lnSpc>
                <a:spcPct val="130000"/>
              </a:lnSpc>
              <a:spcBef>
                <a:spcPts val="1000"/>
              </a:spcBef>
              <a:spcAft>
                <a:spcPts val="0"/>
              </a:spcAft>
              <a:buNone/>
            </a:pPr>
            <a:r>
              <a:rPr lang="en-US" b="1" u="sng">
                <a:latin typeface="Nunito Sans"/>
                <a:ea typeface="Nunito Sans"/>
                <a:cs typeface="Nunito Sans"/>
                <a:sym typeface="Nunito Sans"/>
              </a:rPr>
              <a:t>Marketing trends analysis</a:t>
            </a:r>
            <a:endParaRPr b="1" u="sng">
              <a:latin typeface="Nunito Sans"/>
              <a:ea typeface="Nunito Sans"/>
              <a:cs typeface="Nunito Sans"/>
              <a:sym typeface="Nunito Sans"/>
            </a:endParaRPr>
          </a:p>
          <a:p>
            <a:pPr marL="457200" lvl="0" indent="-317500" algn="l" rtl="0">
              <a:lnSpc>
                <a:spcPct val="130000"/>
              </a:lnSpc>
              <a:spcBef>
                <a:spcPts val="1000"/>
              </a:spcBef>
              <a:spcAft>
                <a:spcPts val="0"/>
              </a:spcAft>
              <a:buSzPts val="1400"/>
              <a:buFont typeface="Nunito Sans"/>
              <a:buAutoNum type="romanUcPeriod"/>
            </a:pPr>
            <a:r>
              <a:rPr lang="en-US">
                <a:latin typeface="Nunito Sans"/>
                <a:ea typeface="Nunito Sans"/>
                <a:cs typeface="Nunito Sans"/>
                <a:sym typeface="Nunito Sans"/>
              </a:rPr>
              <a:t>Consumer Trends by Age group</a:t>
            </a:r>
            <a:endParaRPr>
              <a:latin typeface="Nunito Sans"/>
              <a:ea typeface="Nunito Sans"/>
              <a:cs typeface="Nunito Sans"/>
              <a:sym typeface="Nunito Sans"/>
            </a:endParaRPr>
          </a:p>
          <a:p>
            <a:pPr marL="457200" lvl="0" indent="-317500" algn="l" rtl="0">
              <a:lnSpc>
                <a:spcPct val="130000"/>
              </a:lnSpc>
              <a:spcBef>
                <a:spcPts val="0"/>
              </a:spcBef>
              <a:spcAft>
                <a:spcPts val="0"/>
              </a:spcAft>
              <a:buSzPts val="1400"/>
              <a:buFont typeface="Nunito Sans"/>
              <a:buAutoNum type="romanUcPeriod"/>
            </a:pPr>
            <a:r>
              <a:rPr lang="en-US">
                <a:latin typeface="Nunito Sans"/>
                <a:ea typeface="Nunito Sans"/>
                <a:cs typeface="Nunito Sans"/>
                <a:sym typeface="Nunito Sans"/>
              </a:rPr>
              <a:t>Consumer Trends by Gender</a:t>
            </a:r>
            <a:endParaRPr>
              <a:latin typeface="Nunito Sans"/>
              <a:ea typeface="Nunito Sans"/>
              <a:cs typeface="Nunito Sans"/>
              <a:sym typeface="Nunito Sans"/>
            </a:endParaRPr>
          </a:p>
          <a:p>
            <a:pPr marL="457200" lvl="0" indent="-317500" algn="l" rtl="0">
              <a:lnSpc>
                <a:spcPct val="130000"/>
              </a:lnSpc>
              <a:spcBef>
                <a:spcPts val="0"/>
              </a:spcBef>
              <a:spcAft>
                <a:spcPts val="0"/>
              </a:spcAft>
              <a:buSzPts val="1400"/>
              <a:buFont typeface="Nunito Sans"/>
              <a:buAutoNum type="romanUcPeriod"/>
            </a:pPr>
            <a:r>
              <a:rPr lang="en-US">
                <a:latin typeface="Nunito Sans"/>
                <a:ea typeface="Nunito Sans"/>
                <a:cs typeface="Nunito Sans"/>
                <a:sym typeface="Nunito Sans"/>
              </a:rPr>
              <a:t>Consumer Trends by Ratings</a:t>
            </a:r>
            <a:endParaRPr>
              <a:latin typeface="Nunito Sans"/>
              <a:ea typeface="Nunito Sans"/>
              <a:cs typeface="Nunito Sans"/>
              <a:sym typeface="Nunito Sans"/>
            </a:endParaRPr>
          </a:p>
          <a:p>
            <a:pPr marL="0" lvl="0" indent="0" algn="l" rtl="0">
              <a:lnSpc>
                <a:spcPct val="130000"/>
              </a:lnSpc>
              <a:spcBef>
                <a:spcPts val="1000"/>
              </a:spcBef>
              <a:spcAft>
                <a:spcPts val="0"/>
              </a:spcAft>
              <a:buNone/>
            </a:pPr>
            <a:r>
              <a:rPr lang="en-US" b="1" u="sng">
                <a:latin typeface="Nunito Sans"/>
                <a:ea typeface="Nunito Sans"/>
                <a:cs typeface="Nunito Sans"/>
                <a:sym typeface="Nunito Sans"/>
              </a:rPr>
              <a:t>Operations trends analysis</a:t>
            </a:r>
            <a:endParaRPr b="1" u="sng">
              <a:latin typeface="Nunito Sans"/>
              <a:ea typeface="Nunito Sans"/>
              <a:cs typeface="Nunito Sans"/>
              <a:sym typeface="Nunito Sans"/>
            </a:endParaRPr>
          </a:p>
          <a:p>
            <a:pPr marL="457200" lvl="0" indent="-317500" algn="l" rtl="0">
              <a:lnSpc>
                <a:spcPct val="130000"/>
              </a:lnSpc>
              <a:spcBef>
                <a:spcPts val="1000"/>
              </a:spcBef>
              <a:spcAft>
                <a:spcPts val="0"/>
              </a:spcAft>
              <a:buClr>
                <a:schemeClr val="dk1"/>
              </a:buClr>
              <a:buSzPts val="1400"/>
              <a:buFont typeface="Nunito Sans"/>
              <a:buAutoNum type="romanUcPeriod"/>
            </a:pPr>
            <a:r>
              <a:rPr lang="en-US">
                <a:solidFill>
                  <a:schemeClr val="dk1"/>
                </a:solidFill>
                <a:latin typeface="Nunito Sans"/>
                <a:ea typeface="Nunito Sans"/>
                <a:cs typeface="Nunito Sans"/>
                <a:sym typeface="Nunito Sans"/>
              </a:rPr>
              <a:t>Shipping Preferences</a:t>
            </a:r>
            <a:endParaRPr>
              <a:solidFill>
                <a:schemeClr val="dk1"/>
              </a:solidFill>
              <a:latin typeface="Nunito Sans"/>
              <a:ea typeface="Nunito Sans"/>
              <a:cs typeface="Nunito Sans"/>
              <a:sym typeface="Nunito Sans"/>
            </a:endParaRPr>
          </a:p>
          <a:p>
            <a:pPr marL="457200" lvl="0" indent="-317500" algn="l" rtl="0">
              <a:lnSpc>
                <a:spcPct val="130000"/>
              </a:lnSpc>
              <a:spcBef>
                <a:spcPts val="0"/>
              </a:spcBef>
              <a:spcAft>
                <a:spcPts val="0"/>
              </a:spcAft>
              <a:buSzPts val="1400"/>
              <a:buFont typeface="Nunito Sans"/>
              <a:buAutoNum type="romanUcPeriod"/>
            </a:pPr>
            <a:r>
              <a:rPr lang="en-US">
                <a:latin typeface="Nunito Sans"/>
                <a:ea typeface="Nunito Sans"/>
                <a:cs typeface="Nunito Sans"/>
                <a:sym typeface="Nunito Sans"/>
              </a:rPr>
              <a:t>Payment type usage by Age group</a:t>
            </a:r>
            <a:endParaRPr>
              <a:latin typeface="Nunito Sans"/>
              <a:ea typeface="Nunito Sans"/>
              <a:cs typeface="Nunito Sans"/>
              <a:sym typeface="Nunito Sans"/>
            </a:endParaRPr>
          </a:p>
        </p:txBody>
      </p:sp>
      <p:sp>
        <p:nvSpPr>
          <p:cNvPr id="131" name="Google Shape;131;g39ae2a8eace_2_1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p>
            <a:pPr marL="0" lvl="0" indent="0" algn="l" rtl="0">
              <a:lnSpc>
                <a:spcPct val="130000"/>
              </a:lnSpc>
              <a:spcBef>
                <a:spcPts val="1000"/>
              </a:spcBef>
              <a:spcAft>
                <a:spcPts val="0"/>
              </a:spcAft>
              <a:buClr>
                <a:schemeClr val="dk1"/>
              </a:buClr>
              <a:buSzPts val="1100"/>
              <a:buFont typeface="Arial"/>
              <a:buNone/>
            </a:pPr>
            <a:r>
              <a:rPr lang="en-US" b="1" u="sng">
                <a:latin typeface="Nunito Sans"/>
                <a:ea typeface="Nunito Sans"/>
                <a:cs typeface="Nunito Sans"/>
                <a:sym typeface="Nunito Sans"/>
              </a:rPr>
              <a:t>Sales trends analysis</a:t>
            </a:r>
            <a:endParaRPr b="1" u="sng">
              <a:latin typeface="Nunito Sans"/>
              <a:ea typeface="Nunito Sans"/>
              <a:cs typeface="Nunito Sans"/>
              <a:sym typeface="Nunito Sans"/>
            </a:endParaRPr>
          </a:p>
          <a:p>
            <a:pPr marL="457200" marR="0" lvl="0" indent="-317500" algn="l" rtl="0">
              <a:lnSpc>
                <a:spcPct val="130000"/>
              </a:lnSpc>
              <a:spcBef>
                <a:spcPts val="1000"/>
              </a:spcBef>
              <a:spcAft>
                <a:spcPts val="0"/>
              </a:spcAft>
              <a:buClr>
                <a:srgbClr val="000000"/>
              </a:buClr>
              <a:buSzPts val="1400"/>
              <a:buFont typeface="Nunito Sans"/>
              <a:buAutoNum type="romanUcPeriod"/>
            </a:pPr>
            <a:r>
              <a:rPr lang="en-US">
                <a:latin typeface="Nunito Sans"/>
                <a:ea typeface="Nunito Sans"/>
                <a:cs typeface="Nunito Sans"/>
                <a:sym typeface="Nunito Sans"/>
              </a:rPr>
              <a:t>Subscribers purchasing trends by season </a:t>
            </a:r>
            <a:endParaRPr>
              <a:latin typeface="Nunito Sans"/>
              <a:ea typeface="Nunito Sans"/>
              <a:cs typeface="Nunito Sans"/>
              <a:sym typeface="Nunito Sans"/>
            </a:endParaRPr>
          </a:p>
          <a:p>
            <a:pPr marL="457200" marR="0" lvl="0" indent="-317500" algn="l" rtl="0">
              <a:lnSpc>
                <a:spcPct val="130000"/>
              </a:lnSpc>
              <a:spcBef>
                <a:spcPts val="0"/>
              </a:spcBef>
              <a:spcAft>
                <a:spcPts val="0"/>
              </a:spcAft>
              <a:buClr>
                <a:srgbClr val="000000"/>
              </a:buClr>
              <a:buSzPts val="1400"/>
              <a:buFont typeface="Nunito Sans"/>
              <a:buAutoNum type="romanUcPeriod"/>
            </a:pPr>
            <a:r>
              <a:rPr lang="en-US">
                <a:latin typeface="Nunito Sans"/>
                <a:ea typeface="Nunito Sans"/>
                <a:cs typeface="Nunito Sans"/>
                <a:sym typeface="Nunito Sans"/>
              </a:rPr>
              <a:t>Sales spikes based on seasonality</a:t>
            </a:r>
            <a:endParaRPr>
              <a:latin typeface="Nunito Sans"/>
              <a:ea typeface="Nunito Sans"/>
              <a:cs typeface="Nunito Sans"/>
              <a:sym typeface="Nunito Sans"/>
            </a:endParaRPr>
          </a:p>
          <a:p>
            <a:pPr marL="457200" marR="0" lvl="0" indent="-317500" algn="l" rtl="0">
              <a:lnSpc>
                <a:spcPct val="130000"/>
              </a:lnSpc>
              <a:spcBef>
                <a:spcPts val="0"/>
              </a:spcBef>
              <a:spcAft>
                <a:spcPts val="0"/>
              </a:spcAft>
              <a:buClr>
                <a:srgbClr val="000000"/>
              </a:buClr>
              <a:buSzPts val="1400"/>
              <a:buFont typeface="Nunito Sans"/>
              <a:buAutoNum type="romanUcPeriod"/>
            </a:pPr>
            <a:r>
              <a:rPr lang="en-US">
                <a:latin typeface="Nunito Sans"/>
                <a:ea typeface="Nunito Sans"/>
                <a:cs typeface="Nunito Sans"/>
                <a:sym typeface="Nunito Sans"/>
              </a:rPr>
              <a:t>Seasonal Trends by Territory</a:t>
            </a:r>
            <a:endParaRPr sz="1200" b="1" u="sng">
              <a:solidFill>
                <a:srgbClr val="434343"/>
              </a:solidFill>
              <a:latin typeface="Nunito Sans"/>
              <a:ea typeface="Nunito Sans"/>
              <a:cs typeface="Nunito Sans"/>
              <a:sym typeface="Nunito Sans"/>
            </a:endParaRPr>
          </a:p>
        </p:txBody>
      </p:sp>
      <p:sp>
        <p:nvSpPr>
          <p:cNvPr id="132" name="Google Shape;132;g39ae2a8eace_2_12"/>
          <p:cNvSpPr/>
          <p:nvPr/>
        </p:nvSpPr>
        <p:spPr>
          <a:xfrm>
            <a:off x="343941" y="993344"/>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9ae2a8eace_2_31"/>
          <p:cNvSpPr txBox="1">
            <a:spLocks noGrp="1"/>
          </p:cNvSpPr>
          <p:nvPr>
            <p:ph type="title" idx="4294967295"/>
          </p:nvPr>
        </p:nvSpPr>
        <p:spPr>
          <a:xfrm>
            <a:off x="392850" y="531200"/>
            <a:ext cx="8358300" cy="3477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78571"/>
              <a:buNone/>
            </a:pPr>
            <a:r>
              <a:rPr lang="en-US"/>
              <a:t>Do product preferences vary by gender?</a:t>
            </a:r>
            <a:endParaRPr/>
          </a:p>
        </p:txBody>
      </p:sp>
      <p:sp>
        <p:nvSpPr>
          <p:cNvPr id="138" name="Google Shape;138;g39ae2a8eace_2_31"/>
          <p:cNvSpPr txBox="1">
            <a:spLocks noGrp="1"/>
          </p:cNvSpPr>
          <p:nvPr>
            <p:ph type="body" idx="4294967295"/>
          </p:nvPr>
        </p:nvSpPr>
        <p:spPr>
          <a:xfrm>
            <a:off x="381000" y="1372050"/>
            <a:ext cx="3677100" cy="1272600"/>
          </a:xfrm>
          <a:prstGeom prst="rect">
            <a:avLst/>
          </a:prstGeom>
          <a:noFill/>
          <a:ln>
            <a:noFill/>
          </a:ln>
        </p:spPr>
        <p:txBody>
          <a:bodyPr spcFirstLastPara="1" wrap="square" lIns="91425" tIns="91425" rIns="91425" bIns="91425" anchor="t" anchorCtr="0">
            <a:normAutofit/>
          </a:bodyPr>
          <a:lstStyle/>
          <a:p>
            <a:pPr marL="152400" lvl="0" indent="0" algn="l" rtl="0">
              <a:lnSpc>
                <a:spcPct val="130000"/>
              </a:lnSpc>
              <a:spcBef>
                <a:spcPts val="0"/>
              </a:spcBef>
              <a:spcAft>
                <a:spcPts val="0"/>
              </a:spcAft>
              <a:buSzPts val="1200"/>
              <a:buNone/>
            </a:pPr>
            <a:r>
              <a:rPr lang="en-US" sz="900">
                <a:solidFill>
                  <a:srgbClr val="444746"/>
                </a:solidFill>
                <a:highlight>
                  <a:srgbClr val="FFFFFF"/>
                </a:highlight>
                <a:latin typeface="Roboto"/>
                <a:ea typeface="Roboto"/>
                <a:cs typeface="Roboto"/>
                <a:sym typeface="Roboto"/>
              </a:rPr>
              <a:t>It seems that either our product portfolio has much more range and/or is much more attractive for males as males seem to be purchasing twice as much in every category. Our advice to the Marketing team is to boost the targeting of the female audience and expand the product ranges for females to attract more sales from this target customer profile.</a:t>
            </a:r>
            <a:endParaRPr sz="900"/>
          </a:p>
        </p:txBody>
      </p:sp>
      <p:graphicFrame>
        <p:nvGraphicFramePr>
          <p:cNvPr id="139" name="Google Shape;139;g39ae2a8eace_2_31"/>
          <p:cNvGraphicFramePr/>
          <p:nvPr/>
        </p:nvGraphicFramePr>
        <p:xfrm>
          <a:off x="4684574" y="1371990"/>
          <a:ext cx="2668950" cy="1272910"/>
        </p:xfrm>
        <a:graphic>
          <a:graphicData uri="http://schemas.openxmlformats.org/drawingml/2006/table">
            <a:tbl>
              <a:tblPr firstRow="1" bandRow="1">
                <a:noFill/>
                <a:tableStyleId>{1DE4BD29-9E1E-44A8-9DF3-6AC0856018A4}</a:tableStyleId>
              </a:tblPr>
              <a:tblGrid>
                <a:gridCol w="927025">
                  <a:extLst>
                    <a:ext uri="{9D8B030D-6E8A-4147-A177-3AD203B41FA5}">
                      <a16:colId xmlns:a16="http://schemas.microsoft.com/office/drawing/2014/main" val="20000"/>
                    </a:ext>
                  </a:extLst>
                </a:gridCol>
                <a:gridCol w="899575">
                  <a:extLst>
                    <a:ext uri="{9D8B030D-6E8A-4147-A177-3AD203B41FA5}">
                      <a16:colId xmlns:a16="http://schemas.microsoft.com/office/drawing/2014/main" val="20001"/>
                    </a:ext>
                  </a:extLst>
                </a:gridCol>
                <a:gridCol w="842350">
                  <a:extLst>
                    <a:ext uri="{9D8B030D-6E8A-4147-A177-3AD203B41FA5}">
                      <a16:colId xmlns:a16="http://schemas.microsoft.com/office/drawing/2014/main" val="20002"/>
                    </a:ext>
                  </a:extLst>
                </a:gridCol>
              </a:tblGrid>
              <a:tr h="22135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Customer_gender</a:t>
                      </a:r>
                      <a:endParaRPr sz="800" b="1" i="0" u="none" strike="noStrike" cap="none">
                        <a:solidFill>
                          <a:srgbClr val="FFFFFF"/>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Product_category</a:t>
                      </a:r>
                      <a:endParaRPr sz="800" b="1" i="0" u="none" strike="noStrike" cap="none">
                        <a:solidFill>
                          <a:srgbClr val="FFFFFF"/>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Purchase_count</a:t>
                      </a:r>
                      <a:endParaRPr sz="800" b="1" i="0" u="none" strike="noStrike" cap="none">
                        <a:solidFill>
                          <a:srgbClr val="FFFFFF"/>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0"/>
                  </a:ext>
                </a:extLst>
              </a:tr>
              <a:tr h="12900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Female</a:t>
                      </a:r>
                      <a:endParaRPr sz="8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Clo</a:t>
                      </a:r>
                      <a:r>
                        <a:rPr lang="en-US" sz="800"/>
                        <a:t>thing</a:t>
                      </a:r>
                      <a:endParaRPr sz="8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900"/>
                        <a:buFont typeface="Arial"/>
                        <a:buNone/>
                      </a:pPr>
                      <a:r>
                        <a:rPr lang="en-US" sz="800"/>
                        <a:t>556</a:t>
                      </a:r>
                      <a:endParaRPr sz="8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1"/>
                  </a:ext>
                </a:extLst>
              </a:tr>
              <a:tr h="12900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Female</a:t>
                      </a:r>
                      <a:endParaRPr sz="8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800"/>
                        <a:t>Accessories</a:t>
                      </a:r>
                      <a:endParaRPr sz="8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900"/>
                        <a:buFont typeface="Arial"/>
                        <a:buNone/>
                      </a:pPr>
                      <a:r>
                        <a:rPr lang="en-US" sz="800"/>
                        <a:t>392</a:t>
                      </a:r>
                      <a:endParaRPr sz="800"/>
                    </a:p>
                  </a:txBody>
                  <a:tcPr marL="9525" marR="9525" marT="9525" marB="0" anchor="b">
                    <a:solidFill>
                      <a:srgbClr val="FFE2CD"/>
                    </a:solidFill>
                  </a:tcPr>
                </a:tc>
                <a:extLst>
                  <a:ext uri="{0D108BD9-81ED-4DB2-BD59-A6C34878D82A}">
                    <a16:rowId xmlns:a16="http://schemas.microsoft.com/office/drawing/2014/main" val="10002"/>
                  </a:ext>
                </a:extLst>
              </a:tr>
              <a:tr h="12900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Female</a:t>
                      </a:r>
                      <a:endParaRPr sz="8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800"/>
                        <a:t>Footwear</a:t>
                      </a:r>
                      <a:endParaRPr sz="8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900"/>
                        <a:buFont typeface="Arial"/>
                        <a:buNone/>
                      </a:pPr>
                      <a:r>
                        <a:rPr lang="en-US" sz="800"/>
                        <a:t>199</a:t>
                      </a:r>
                      <a:endParaRPr sz="800"/>
                    </a:p>
                  </a:txBody>
                  <a:tcPr marL="9525" marR="9525" marT="9525" marB="0" anchor="b">
                    <a:solidFill>
                      <a:srgbClr val="FFE2CD"/>
                    </a:solidFill>
                  </a:tcPr>
                </a:tc>
                <a:extLst>
                  <a:ext uri="{0D108BD9-81ED-4DB2-BD59-A6C34878D82A}">
                    <a16:rowId xmlns:a16="http://schemas.microsoft.com/office/drawing/2014/main" val="10003"/>
                  </a:ext>
                </a:extLst>
              </a:tr>
              <a:tr h="12900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Female</a:t>
                      </a:r>
                      <a:endParaRPr sz="8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800"/>
                        <a:t>Outerwear</a:t>
                      </a:r>
                      <a:endParaRPr sz="800" b="0" i="0" u="none" strike="noStrike" cap="none">
                        <a:solidFill>
                          <a:srgbClr val="000000"/>
                        </a:solidFill>
                        <a:latin typeface="Arial"/>
                        <a:ea typeface="Arial"/>
                        <a:cs typeface="Arial"/>
                        <a:sym typeface="Arial"/>
                      </a:endParaRPr>
                    </a:p>
                  </a:txBody>
                  <a:tcPr marL="9525" marR="9525" marT="9525" marB="0" anchor="b">
                    <a:lnB w="12700" cap="flat" cmpd="sng">
                      <a:solidFill>
                        <a:schemeClr val="lt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900"/>
                        <a:buFont typeface="Arial"/>
                        <a:buNone/>
                      </a:pPr>
                      <a:r>
                        <a:rPr lang="en-US" sz="800"/>
                        <a:t>101</a:t>
                      </a:r>
                      <a:endParaRPr sz="800"/>
                    </a:p>
                  </a:txBody>
                  <a:tcPr marL="9525" marR="9525" marT="9525" marB="0" anchor="b">
                    <a:solidFill>
                      <a:srgbClr val="FFE2CD"/>
                    </a:solidFill>
                  </a:tcPr>
                </a:tc>
                <a:extLst>
                  <a:ext uri="{0D108BD9-81ED-4DB2-BD59-A6C34878D82A}">
                    <a16:rowId xmlns:a16="http://schemas.microsoft.com/office/drawing/2014/main" val="10004"/>
                  </a:ext>
                </a:extLst>
              </a:tr>
              <a:tr h="12900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Male</a:t>
                      </a:r>
                      <a:endParaRPr sz="800" b="0" i="0" u="none" strike="noStrike" cap="none">
                        <a:solidFill>
                          <a:srgbClr val="000000"/>
                        </a:solidFill>
                        <a:latin typeface="Arial"/>
                        <a:ea typeface="Arial"/>
                        <a:cs typeface="Arial"/>
                        <a:sym typeface="Arial"/>
                      </a:endParaRPr>
                    </a:p>
                  </a:txBody>
                  <a:tcPr marL="9525" marR="9525" marT="9525" marB="0" anchor="b">
                    <a:lnR w="12700" cap="flat" cmpd="sng">
                      <a:solidFill>
                        <a:schemeClr val="lt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Clo</a:t>
                      </a:r>
                      <a:r>
                        <a:rPr lang="en-US" sz="800"/>
                        <a:t>thing</a:t>
                      </a:r>
                      <a:endParaRPr sz="800" b="0" i="0" u="none" strike="noStrike" cap="none">
                        <a:solidFill>
                          <a:srgbClr val="000000"/>
                        </a:solidFill>
                        <a:latin typeface="Arial"/>
                        <a:ea typeface="Arial"/>
                        <a:cs typeface="Arial"/>
                        <a:sym typeface="Arial"/>
                      </a:endParaRPr>
                    </a:p>
                  </a:txBody>
                  <a:tcPr marL="9525" marR="9525" marT="9525" marB="0" anchor="b">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900"/>
                        <a:buFont typeface="Arial"/>
                        <a:buNone/>
                      </a:pPr>
                      <a:r>
                        <a:rPr lang="en-US" sz="800"/>
                        <a:t>1181</a:t>
                      </a:r>
                      <a:endParaRPr sz="800"/>
                    </a:p>
                  </a:txBody>
                  <a:tcPr marL="9525" marR="9525" marT="9525" marB="0" anchor="b">
                    <a:lnL w="12700" cap="flat" cmpd="sng">
                      <a:solidFill>
                        <a:schemeClr val="lt1"/>
                      </a:solidFill>
                      <a:prstDash val="solid"/>
                      <a:round/>
                      <a:headEnd type="none" w="sm" len="sm"/>
                      <a:tailEnd type="none" w="sm" len="sm"/>
                    </a:lnL>
                    <a:solidFill>
                      <a:srgbClr val="FFE2CD"/>
                    </a:solidFill>
                  </a:tcPr>
                </a:tc>
                <a:extLst>
                  <a:ext uri="{0D108BD9-81ED-4DB2-BD59-A6C34878D82A}">
                    <a16:rowId xmlns:a16="http://schemas.microsoft.com/office/drawing/2014/main" val="10005"/>
                  </a:ext>
                </a:extLst>
              </a:tr>
              <a:tr h="12900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Male</a:t>
                      </a:r>
                      <a:endParaRPr sz="800" b="0" i="0" u="none" strike="noStrike" cap="none">
                        <a:solidFill>
                          <a:srgbClr val="000000"/>
                        </a:solidFill>
                        <a:latin typeface="Arial"/>
                        <a:ea typeface="Arial"/>
                        <a:cs typeface="Arial"/>
                        <a:sym typeface="Arial"/>
                      </a:endParaRPr>
                    </a:p>
                  </a:txBody>
                  <a:tcPr marL="9525" marR="9525" marT="9525" marB="0" anchor="b">
                    <a:lnR w="12700" cap="flat" cmpd="sng">
                      <a:solidFill>
                        <a:schemeClr val="lt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900"/>
                        <a:buFont typeface="Arial"/>
                        <a:buNone/>
                      </a:pPr>
                      <a:r>
                        <a:rPr lang="en-US" sz="800"/>
                        <a:t>Accessories</a:t>
                      </a:r>
                      <a:endParaRPr sz="800" b="0" i="0" u="none" strike="noStrike" cap="none">
                        <a:solidFill>
                          <a:srgbClr val="000000"/>
                        </a:solidFill>
                        <a:latin typeface="Arial"/>
                        <a:ea typeface="Arial"/>
                        <a:cs typeface="Arial"/>
                        <a:sym typeface="Arial"/>
                      </a:endParaRPr>
                    </a:p>
                  </a:txBody>
                  <a:tcPr marL="9525" marR="9525" marT="9525" marB="0" anchor="b">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900"/>
                        <a:buFont typeface="Arial"/>
                        <a:buNone/>
                      </a:pPr>
                      <a:r>
                        <a:rPr lang="en-US" sz="800"/>
                        <a:t>848</a:t>
                      </a:r>
                      <a:endParaRPr sz="800"/>
                    </a:p>
                  </a:txBody>
                  <a:tcPr marL="9525" marR="9525" marT="9525" marB="0" anchor="b">
                    <a:lnL w="12700" cap="flat" cmpd="sng">
                      <a:solidFill>
                        <a:schemeClr val="lt1"/>
                      </a:solidFill>
                      <a:prstDash val="solid"/>
                      <a:round/>
                      <a:headEnd type="none" w="sm" len="sm"/>
                      <a:tailEnd type="none" w="sm" len="sm"/>
                    </a:lnL>
                    <a:solidFill>
                      <a:srgbClr val="FFE2CD"/>
                    </a:solidFill>
                  </a:tcPr>
                </a:tc>
                <a:extLst>
                  <a:ext uri="{0D108BD9-81ED-4DB2-BD59-A6C34878D82A}">
                    <a16:rowId xmlns:a16="http://schemas.microsoft.com/office/drawing/2014/main" val="10006"/>
                  </a:ext>
                </a:extLst>
              </a:tr>
              <a:tr h="12900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Male</a:t>
                      </a:r>
                      <a:endParaRPr sz="800" b="0" i="0" u="none" strike="noStrike" cap="none">
                        <a:solidFill>
                          <a:srgbClr val="000000"/>
                        </a:solidFill>
                        <a:latin typeface="Arial"/>
                        <a:ea typeface="Arial"/>
                        <a:cs typeface="Arial"/>
                        <a:sym typeface="Arial"/>
                      </a:endParaRPr>
                    </a:p>
                  </a:txBody>
                  <a:tcPr marL="9525" marR="9525" marT="9525" marB="0" anchor="b">
                    <a:lnR w="12700" cap="flat" cmpd="sng">
                      <a:solidFill>
                        <a:schemeClr val="lt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900"/>
                        <a:buFont typeface="Arial"/>
                        <a:buNone/>
                      </a:pPr>
                      <a:r>
                        <a:rPr lang="en-US" sz="800"/>
                        <a:t>Footwear</a:t>
                      </a:r>
                      <a:endParaRPr sz="800" b="0" i="0" u="none" strike="noStrike" cap="none">
                        <a:solidFill>
                          <a:srgbClr val="000000"/>
                        </a:solidFill>
                        <a:latin typeface="Arial"/>
                        <a:ea typeface="Arial"/>
                        <a:cs typeface="Arial"/>
                        <a:sym typeface="Arial"/>
                      </a:endParaRPr>
                    </a:p>
                  </a:txBody>
                  <a:tcPr marL="9525" marR="9525" marT="9525" marB="0" anchor="b">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900"/>
                        <a:buFont typeface="Arial"/>
                        <a:buNone/>
                      </a:pPr>
                      <a:r>
                        <a:rPr lang="en-US" sz="800"/>
                        <a:t>400</a:t>
                      </a:r>
                      <a:endParaRPr sz="800"/>
                    </a:p>
                  </a:txBody>
                  <a:tcPr marL="9525" marR="9525" marT="9525" marB="0" anchor="b">
                    <a:lnL w="12700" cap="flat" cmpd="sng">
                      <a:solidFill>
                        <a:schemeClr val="lt1"/>
                      </a:solidFill>
                      <a:prstDash val="solid"/>
                      <a:round/>
                      <a:headEnd type="none" w="sm" len="sm"/>
                      <a:tailEnd type="none" w="sm" len="sm"/>
                    </a:lnL>
                    <a:solidFill>
                      <a:srgbClr val="FFE2CD"/>
                    </a:solidFill>
                  </a:tcPr>
                </a:tc>
                <a:extLst>
                  <a:ext uri="{0D108BD9-81ED-4DB2-BD59-A6C34878D82A}">
                    <a16:rowId xmlns:a16="http://schemas.microsoft.com/office/drawing/2014/main" val="10007"/>
                  </a:ext>
                </a:extLst>
              </a:tr>
              <a:tr h="129000">
                <a:tc>
                  <a:txBody>
                    <a:bodyPr/>
                    <a:lstStyle/>
                    <a:p>
                      <a:pPr marL="0" marR="0" lvl="0" indent="0" algn="l" rtl="0">
                        <a:lnSpc>
                          <a:spcPct val="100000"/>
                        </a:lnSpc>
                        <a:spcBef>
                          <a:spcPts val="0"/>
                        </a:spcBef>
                        <a:spcAft>
                          <a:spcPts val="0"/>
                        </a:spcAft>
                        <a:buClr>
                          <a:srgbClr val="000000"/>
                        </a:buClr>
                        <a:buSzPts val="900"/>
                        <a:buFont typeface="Arial"/>
                        <a:buNone/>
                      </a:pPr>
                      <a:r>
                        <a:rPr lang="en-US" sz="800" u="none" strike="noStrike" cap="none"/>
                        <a:t>Male</a:t>
                      </a:r>
                      <a:endParaRPr sz="800" b="0" i="0" u="none" strike="noStrike" cap="none">
                        <a:solidFill>
                          <a:srgbClr val="000000"/>
                        </a:solidFill>
                        <a:latin typeface="Arial"/>
                        <a:ea typeface="Arial"/>
                        <a:cs typeface="Arial"/>
                        <a:sym typeface="Arial"/>
                      </a:endParaRPr>
                    </a:p>
                  </a:txBody>
                  <a:tcPr marL="9525" marR="9525" marT="9525" marB="0" anchor="b">
                    <a:lnR w="12700" cap="flat" cmpd="sng">
                      <a:solidFill>
                        <a:schemeClr val="lt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900"/>
                        <a:buFont typeface="Arial"/>
                        <a:buNone/>
                      </a:pPr>
                      <a:r>
                        <a:rPr lang="en-US" sz="800"/>
                        <a:t>Outerwear</a:t>
                      </a:r>
                      <a:endParaRPr sz="800" b="0" i="0" u="none" strike="noStrike" cap="none">
                        <a:solidFill>
                          <a:srgbClr val="000000"/>
                        </a:solidFill>
                        <a:latin typeface="Arial"/>
                        <a:ea typeface="Arial"/>
                        <a:cs typeface="Arial"/>
                        <a:sym typeface="Arial"/>
                      </a:endParaRPr>
                    </a:p>
                  </a:txBody>
                  <a:tcPr marL="9525" marR="9525" marT="9525" marB="0" anchor="b">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r" rtl="0">
                        <a:lnSpc>
                          <a:spcPct val="100000"/>
                        </a:lnSpc>
                        <a:spcBef>
                          <a:spcPts val="0"/>
                        </a:spcBef>
                        <a:spcAft>
                          <a:spcPts val="0"/>
                        </a:spcAft>
                        <a:buClr>
                          <a:srgbClr val="000000"/>
                        </a:buClr>
                        <a:buSzPts val="900"/>
                        <a:buFont typeface="Arial"/>
                        <a:buNone/>
                      </a:pPr>
                      <a:r>
                        <a:rPr lang="en-US" sz="800"/>
                        <a:t>223</a:t>
                      </a:r>
                      <a:endParaRPr sz="800"/>
                    </a:p>
                  </a:txBody>
                  <a:tcPr marL="9525" marR="9525" marT="9525" marB="0" anchor="b">
                    <a:lnL w="12700" cap="flat" cmpd="sng">
                      <a:solidFill>
                        <a:schemeClr val="lt1"/>
                      </a:solidFill>
                      <a:prstDash val="solid"/>
                      <a:round/>
                      <a:headEnd type="none" w="sm" len="sm"/>
                      <a:tailEnd type="none" w="sm" len="sm"/>
                    </a:lnL>
                    <a:solidFill>
                      <a:srgbClr val="FFE2CD"/>
                    </a:solidFill>
                  </a:tcPr>
                </a:tc>
                <a:extLst>
                  <a:ext uri="{0D108BD9-81ED-4DB2-BD59-A6C34878D82A}">
                    <a16:rowId xmlns:a16="http://schemas.microsoft.com/office/drawing/2014/main" val="10008"/>
                  </a:ext>
                </a:extLst>
              </a:tr>
            </a:tbl>
          </a:graphicData>
        </a:graphic>
      </p:graphicFrame>
      <p:pic>
        <p:nvPicPr>
          <p:cNvPr id="140" name="Google Shape;140;g39ae2a8eace_2_31"/>
          <p:cNvPicPr preferRelativeResize="0"/>
          <p:nvPr/>
        </p:nvPicPr>
        <p:blipFill>
          <a:blip r:embed="rId3">
            <a:alphaModFix/>
          </a:blip>
          <a:stretch>
            <a:fillRect/>
          </a:stretch>
        </p:blipFill>
        <p:spPr>
          <a:xfrm>
            <a:off x="550700" y="2757349"/>
            <a:ext cx="3507450" cy="2108200"/>
          </a:xfrm>
          <a:prstGeom prst="rect">
            <a:avLst/>
          </a:prstGeom>
          <a:noFill/>
          <a:ln>
            <a:noFill/>
          </a:ln>
        </p:spPr>
      </p:pic>
      <p:pic>
        <p:nvPicPr>
          <p:cNvPr id="141" name="Google Shape;141;g39ae2a8eace_2_31"/>
          <p:cNvPicPr preferRelativeResize="0"/>
          <p:nvPr/>
        </p:nvPicPr>
        <p:blipFill>
          <a:blip r:embed="rId4">
            <a:alphaModFix/>
          </a:blip>
          <a:stretch>
            <a:fillRect/>
          </a:stretch>
        </p:blipFill>
        <p:spPr>
          <a:xfrm>
            <a:off x="4251433" y="2757353"/>
            <a:ext cx="3507445" cy="2108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9ae2a8eace_2_17"/>
          <p:cNvSpPr txBox="1">
            <a:spLocks noGrp="1"/>
          </p:cNvSpPr>
          <p:nvPr>
            <p:ph type="title" idx="4294967295"/>
          </p:nvPr>
        </p:nvSpPr>
        <p:spPr>
          <a:xfrm>
            <a:off x="504275" y="493050"/>
            <a:ext cx="8112000" cy="6999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Clr>
                <a:srgbClr val="000000"/>
              </a:buClr>
              <a:buSzPct val="78571"/>
              <a:buFont typeface="Proxima Nova"/>
              <a:buNone/>
            </a:pPr>
            <a:r>
              <a:rPr lang="en-US"/>
              <a:t>Older customers spend more per purchase than younger customers</a:t>
            </a:r>
            <a:endParaRPr/>
          </a:p>
        </p:txBody>
      </p:sp>
      <p:sp>
        <p:nvSpPr>
          <p:cNvPr id="147" name="Google Shape;147;g39ae2a8eace_2_17"/>
          <p:cNvSpPr txBox="1">
            <a:spLocks noGrp="1"/>
          </p:cNvSpPr>
          <p:nvPr>
            <p:ph type="body" idx="4294967295"/>
          </p:nvPr>
        </p:nvSpPr>
        <p:spPr>
          <a:xfrm>
            <a:off x="358575" y="1451500"/>
            <a:ext cx="2714100" cy="1472700"/>
          </a:xfrm>
          <a:prstGeom prst="rect">
            <a:avLst/>
          </a:prstGeom>
          <a:noFill/>
          <a:ln>
            <a:noFill/>
          </a:ln>
        </p:spPr>
        <p:txBody>
          <a:bodyPr spcFirstLastPara="1" wrap="square" lIns="91425" tIns="91425" rIns="91425" bIns="91425" anchor="t" anchorCtr="0">
            <a:normAutofit fontScale="85000"/>
          </a:bodyPr>
          <a:lstStyle/>
          <a:p>
            <a:pPr marL="152400" lvl="0" indent="0" algn="l" rtl="0">
              <a:lnSpc>
                <a:spcPct val="130000"/>
              </a:lnSpc>
              <a:spcBef>
                <a:spcPts val="0"/>
              </a:spcBef>
              <a:spcAft>
                <a:spcPts val="0"/>
              </a:spcAft>
              <a:buSzPct val="66666"/>
              <a:buNone/>
            </a:pPr>
            <a:r>
              <a:rPr lang="en-US"/>
              <a:t>Customers aged 46-55 have the most disposable income as they have spent the most in total purchases</a:t>
            </a:r>
            <a:endParaRPr/>
          </a:p>
        </p:txBody>
      </p:sp>
      <p:graphicFrame>
        <p:nvGraphicFramePr>
          <p:cNvPr id="148" name="Google Shape;148;g39ae2a8eace_2_17"/>
          <p:cNvGraphicFramePr/>
          <p:nvPr/>
        </p:nvGraphicFramePr>
        <p:xfrm>
          <a:off x="596094" y="3182825"/>
          <a:ext cx="2476500" cy="1333500"/>
        </p:xfrm>
        <a:graphic>
          <a:graphicData uri="http://schemas.openxmlformats.org/drawingml/2006/table">
            <a:tbl>
              <a:tblPr firstRow="1" bandRow="1">
                <a:noFill/>
                <a:tableStyleId>{FB1331AA-CF8B-4E79-A247-7F1ADCFCCCF5}</a:tableStyleId>
              </a:tblPr>
              <a:tblGrid>
                <a:gridCol w="863600">
                  <a:extLst>
                    <a:ext uri="{9D8B030D-6E8A-4147-A177-3AD203B41FA5}">
                      <a16:colId xmlns:a16="http://schemas.microsoft.com/office/drawing/2014/main" val="20000"/>
                    </a:ext>
                  </a:extLst>
                </a:gridCol>
                <a:gridCol w="1612900">
                  <a:extLst>
                    <a:ext uri="{9D8B030D-6E8A-4147-A177-3AD203B41FA5}">
                      <a16:colId xmlns:a16="http://schemas.microsoft.com/office/drawing/2014/main" val="20001"/>
                    </a:ext>
                  </a:extLst>
                </a:gridCol>
              </a:tblGrid>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b="1" u="none" strike="noStrike" cap="none">
                          <a:solidFill>
                            <a:srgbClr val="FFFFFF"/>
                          </a:solidFill>
                        </a:rPr>
                        <a:t>Age_Group</a:t>
                      </a:r>
                      <a:endParaRPr sz="900" b="1" i="0" u="none" strike="noStrike" cap="none">
                        <a:solidFill>
                          <a:srgbClr val="FFFFFF"/>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900" b="1" u="none" strike="noStrike" cap="none">
                          <a:solidFill>
                            <a:srgbClr val="FFFFFF"/>
                          </a:solidFill>
                        </a:rPr>
                        <a:t>Total_purchase_amount</a:t>
                      </a:r>
                      <a:endParaRPr sz="900" b="1" i="0" u="none" strike="noStrike" cap="none">
                        <a:solidFill>
                          <a:srgbClr val="FFFFFF"/>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0"/>
                  </a:ext>
                </a:extLst>
              </a:tr>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18-25</a:t>
                      </a:r>
                      <a:endParaRPr sz="9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 $                               34,630.00 </a:t>
                      </a:r>
                      <a:endParaRPr sz="9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1"/>
                  </a:ext>
                </a:extLst>
              </a:tr>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26-35</a:t>
                      </a:r>
                      <a:endParaRPr sz="9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 $                               44,342.00 </a:t>
                      </a:r>
                      <a:endParaRPr sz="9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2"/>
                  </a:ext>
                </a:extLst>
              </a:tr>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36-45</a:t>
                      </a:r>
                      <a:endParaRPr sz="9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 $                               43,234.00 </a:t>
                      </a:r>
                      <a:endParaRPr sz="9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3"/>
                  </a:ext>
                </a:extLst>
              </a:tr>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46-55</a:t>
                      </a:r>
                      <a:endParaRPr sz="9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 $                               45,619.00 </a:t>
                      </a:r>
                      <a:endParaRPr sz="9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4"/>
                  </a:ext>
                </a:extLst>
              </a:tr>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56-65</a:t>
                      </a:r>
                      <a:endParaRPr sz="9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 $                               44,352.00 </a:t>
                      </a:r>
                      <a:endParaRPr sz="9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5"/>
                  </a:ext>
                </a:extLst>
              </a:tr>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66+</a:t>
                      </a:r>
                      <a:endParaRPr sz="9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900" b="0" u="none" strike="noStrike" cap="none">
                          <a:solidFill>
                            <a:srgbClr val="000000"/>
                          </a:solidFill>
                        </a:rPr>
                        <a:t> $                               20,904.00 </a:t>
                      </a:r>
                      <a:endParaRPr sz="9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6"/>
                  </a:ext>
                </a:extLst>
              </a:tr>
            </a:tbl>
          </a:graphicData>
        </a:graphic>
      </p:graphicFrame>
      <p:pic>
        <p:nvPicPr>
          <p:cNvPr id="149" name="Google Shape;149;g39ae2a8eace_2_17"/>
          <p:cNvPicPr preferRelativeResize="0"/>
          <p:nvPr/>
        </p:nvPicPr>
        <p:blipFill>
          <a:blip r:embed="rId3">
            <a:alphaModFix/>
          </a:blip>
          <a:stretch>
            <a:fillRect/>
          </a:stretch>
        </p:blipFill>
        <p:spPr>
          <a:xfrm>
            <a:off x="3610400" y="1507525"/>
            <a:ext cx="5005801" cy="30088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9ba28e7bea_0_1"/>
          <p:cNvSpPr txBox="1">
            <a:spLocks noGrp="1"/>
          </p:cNvSpPr>
          <p:nvPr>
            <p:ph type="title" idx="4294967295"/>
          </p:nvPr>
        </p:nvSpPr>
        <p:spPr>
          <a:xfrm>
            <a:off x="504275" y="493050"/>
            <a:ext cx="8112000" cy="699900"/>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Clr>
                <a:srgbClr val="000000"/>
              </a:buClr>
              <a:buSzPts val="2200"/>
              <a:buFont typeface="Proxima Nova"/>
              <a:buNone/>
            </a:pPr>
            <a:r>
              <a:rPr lang="en-US"/>
              <a:t>Customer Persona</a:t>
            </a:r>
            <a:endParaRPr/>
          </a:p>
        </p:txBody>
      </p:sp>
      <p:sp>
        <p:nvSpPr>
          <p:cNvPr id="155" name="Google Shape;155;g39ba28e7bea_0_1"/>
          <p:cNvSpPr txBox="1">
            <a:spLocks noGrp="1"/>
          </p:cNvSpPr>
          <p:nvPr>
            <p:ph type="body" idx="4294967295"/>
          </p:nvPr>
        </p:nvSpPr>
        <p:spPr>
          <a:xfrm>
            <a:off x="358575" y="1451500"/>
            <a:ext cx="7166100" cy="1472700"/>
          </a:xfrm>
          <a:prstGeom prst="rect">
            <a:avLst/>
          </a:prstGeom>
          <a:noFill/>
          <a:ln>
            <a:noFill/>
          </a:ln>
        </p:spPr>
        <p:txBody>
          <a:bodyPr spcFirstLastPara="1" wrap="square" lIns="91425" tIns="91425" rIns="91425" bIns="91425" anchor="t" anchorCtr="0">
            <a:normAutofit fontScale="77500" lnSpcReduction="10000"/>
          </a:bodyPr>
          <a:lstStyle/>
          <a:p>
            <a:pPr marL="457200" lvl="0" indent="-317182" algn="l" rtl="0">
              <a:lnSpc>
                <a:spcPct val="130000"/>
              </a:lnSpc>
              <a:spcBef>
                <a:spcPts val="0"/>
              </a:spcBef>
              <a:spcAft>
                <a:spcPts val="0"/>
              </a:spcAft>
              <a:buSzPct val="100000"/>
              <a:buChar char="●"/>
            </a:pPr>
            <a:r>
              <a:rPr lang="en-US" b="1"/>
              <a:t>Young Budget Shoppers</a:t>
            </a:r>
            <a:r>
              <a:rPr lang="en-US"/>
              <a:t>: Age &lt; 30, Spend &lt; Low Spend, Purchase Count &gt; High Frequency</a:t>
            </a:r>
            <a:endParaRPr/>
          </a:p>
          <a:p>
            <a:pPr marL="457200" lvl="0" indent="-317182" algn="l" rtl="0">
              <a:lnSpc>
                <a:spcPct val="130000"/>
              </a:lnSpc>
              <a:spcBef>
                <a:spcPts val="0"/>
              </a:spcBef>
              <a:spcAft>
                <a:spcPts val="0"/>
              </a:spcAft>
              <a:buSzPct val="100000"/>
              <a:buChar char="●"/>
            </a:pPr>
            <a:r>
              <a:rPr lang="en-US" b="1"/>
              <a:t>Loyal High Spenders</a:t>
            </a:r>
            <a:r>
              <a:rPr lang="en-US"/>
              <a:t>: Age between 36–60, Spend &gt; High Spend, Subscribed</a:t>
            </a:r>
            <a:endParaRPr/>
          </a:p>
          <a:p>
            <a:pPr marL="457200" lvl="0" indent="-317182" algn="l" rtl="0">
              <a:lnSpc>
                <a:spcPct val="130000"/>
              </a:lnSpc>
              <a:spcBef>
                <a:spcPts val="0"/>
              </a:spcBef>
              <a:spcAft>
                <a:spcPts val="0"/>
              </a:spcAft>
              <a:buSzPct val="100000"/>
              <a:buChar char="●"/>
            </a:pPr>
            <a:r>
              <a:rPr lang="en-US" b="1"/>
              <a:t>Occasional Deal Seekers</a:t>
            </a:r>
            <a:r>
              <a:rPr lang="en-US"/>
              <a:t>: Purchase Count &lt; Low Frequency, Spend &lt; Low, Unsubscribed</a:t>
            </a:r>
            <a:endParaRPr/>
          </a:p>
        </p:txBody>
      </p:sp>
      <p:graphicFrame>
        <p:nvGraphicFramePr>
          <p:cNvPr id="156" name="Google Shape;156;g39ba28e7bea_0_1"/>
          <p:cNvGraphicFramePr/>
          <p:nvPr/>
        </p:nvGraphicFramePr>
        <p:xfrm>
          <a:off x="512613" y="2924200"/>
          <a:ext cx="6858025" cy="1774706"/>
        </p:xfrm>
        <a:graphic>
          <a:graphicData uri="http://schemas.openxmlformats.org/drawingml/2006/table">
            <a:tbl>
              <a:tblPr>
                <a:noFill/>
                <a:tableStyleId>{E9A9AF08-3B43-4BBE-A805-83A6691AED2B}</a:tableStyleId>
              </a:tblPr>
              <a:tblGrid>
                <a:gridCol w="2601875">
                  <a:extLst>
                    <a:ext uri="{9D8B030D-6E8A-4147-A177-3AD203B41FA5}">
                      <a16:colId xmlns:a16="http://schemas.microsoft.com/office/drawing/2014/main" val="20000"/>
                    </a:ext>
                  </a:extLst>
                </a:gridCol>
                <a:gridCol w="1493675">
                  <a:extLst>
                    <a:ext uri="{9D8B030D-6E8A-4147-A177-3AD203B41FA5}">
                      <a16:colId xmlns:a16="http://schemas.microsoft.com/office/drawing/2014/main" val="20001"/>
                    </a:ext>
                  </a:extLst>
                </a:gridCol>
                <a:gridCol w="1413350">
                  <a:extLst>
                    <a:ext uri="{9D8B030D-6E8A-4147-A177-3AD203B41FA5}">
                      <a16:colId xmlns:a16="http://schemas.microsoft.com/office/drawing/2014/main" val="20002"/>
                    </a:ext>
                  </a:extLst>
                </a:gridCol>
                <a:gridCol w="1349125">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en-US" sz="1100" b="1">
                          <a:solidFill>
                            <a:srgbClr val="FFFFFF"/>
                          </a:solidFill>
                        </a:rPr>
                        <a:t>Personas</a:t>
                      </a:r>
                      <a:endParaRPr sz="1100" b="1">
                        <a:solidFill>
                          <a:srgbClr val="FFFFFF"/>
                        </a:solidFill>
                      </a:endParaRPr>
                    </a:p>
                  </a:txBody>
                  <a:tcPr marL="91425" marR="91425" marT="91425" marB="91425">
                    <a:lnL w="9525" cap="flat" cmpd="sng">
                      <a:solidFill>
                        <a:srgbClr val="44B3E1"/>
                      </a:solidFill>
                      <a:prstDash val="solid"/>
                      <a:round/>
                      <a:headEnd type="none" w="sm" len="sm"/>
                      <a:tailEnd type="none" w="sm" len="sm"/>
                    </a:lnL>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156082"/>
                    </a:solidFill>
                  </a:tcPr>
                </a:tc>
                <a:tc>
                  <a:txBody>
                    <a:bodyPr/>
                    <a:lstStyle/>
                    <a:p>
                      <a:pPr marL="0" lvl="0" indent="0" algn="ctr" rtl="0">
                        <a:spcBef>
                          <a:spcPts val="0"/>
                        </a:spcBef>
                        <a:spcAft>
                          <a:spcPts val="0"/>
                        </a:spcAft>
                        <a:buNone/>
                      </a:pPr>
                      <a:r>
                        <a:rPr lang="en-US" sz="1100" b="1">
                          <a:solidFill>
                            <a:srgbClr val="FFFFFF"/>
                          </a:solidFill>
                        </a:rPr>
                        <a:t>Customers</a:t>
                      </a:r>
                      <a:endParaRPr sz="1100" b="1">
                        <a:solidFill>
                          <a:srgbClr val="FFFFFF"/>
                        </a:solidFill>
                      </a:endParaRPr>
                    </a:p>
                  </a:txBody>
                  <a:tcPr marL="91425" marR="91425" marT="91425" marB="91425">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156082"/>
                    </a:solidFill>
                  </a:tcPr>
                </a:tc>
                <a:tc>
                  <a:txBody>
                    <a:bodyPr/>
                    <a:lstStyle/>
                    <a:p>
                      <a:pPr marL="0" lvl="0" indent="0" algn="ctr" rtl="0">
                        <a:spcBef>
                          <a:spcPts val="0"/>
                        </a:spcBef>
                        <a:spcAft>
                          <a:spcPts val="0"/>
                        </a:spcAft>
                        <a:buNone/>
                      </a:pPr>
                      <a:r>
                        <a:rPr lang="en-US" sz="1100" b="1">
                          <a:solidFill>
                            <a:srgbClr val="FFFFFF"/>
                          </a:solidFill>
                        </a:rPr>
                        <a:t>Revenue</a:t>
                      </a:r>
                      <a:endParaRPr sz="1100" b="1">
                        <a:solidFill>
                          <a:srgbClr val="FFFFFF"/>
                        </a:solidFill>
                      </a:endParaRPr>
                    </a:p>
                  </a:txBody>
                  <a:tcPr marL="91425" marR="91425" marT="91425" marB="91425">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156082"/>
                    </a:solidFill>
                  </a:tcPr>
                </a:tc>
                <a:tc>
                  <a:txBody>
                    <a:bodyPr/>
                    <a:lstStyle/>
                    <a:p>
                      <a:pPr marL="0" lvl="0" indent="0" algn="ctr" rtl="0">
                        <a:spcBef>
                          <a:spcPts val="0"/>
                        </a:spcBef>
                        <a:spcAft>
                          <a:spcPts val="0"/>
                        </a:spcAft>
                        <a:buNone/>
                      </a:pPr>
                      <a:r>
                        <a:rPr lang="en-US" sz="1100" b="1">
                          <a:solidFill>
                            <a:srgbClr val="FFFFFF"/>
                          </a:solidFill>
                        </a:rPr>
                        <a:t>ARPU</a:t>
                      </a:r>
                      <a:endParaRPr sz="1100" b="1">
                        <a:solidFill>
                          <a:srgbClr val="FFFFFF"/>
                        </a:solidFill>
                      </a:endParaRPr>
                    </a:p>
                  </a:txBody>
                  <a:tcPr marL="91425" marR="91425" marT="91425" marB="91425">
                    <a:lnR w="9525" cap="flat" cmpd="sng">
                      <a:solidFill>
                        <a:srgbClr val="44B3E1"/>
                      </a:solidFill>
                      <a:prstDash val="solid"/>
                      <a:round/>
                      <a:headEnd type="none" w="sm" len="sm"/>
                      <a:tailEnd type="none" w="sm" len="sm"/>
                    </a:lnR>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156082"/>
                    </a:solidFill>
                  </a:tcPr>
                </a:tc>
                <a:extLst>
                  <a:ext uri="{0D108BD9-81ED-4DB2-BD59-A6C34878D82A}">
                    <a16:rowId xmlns:a16="http://schemas.microsoft.com/office/drawing/2014/main" val="10000"/>
                  </a:ext>
                </a:extLst>
              </a:tr>
              <a:tr h="314325">
                <a:tc>
                  <a:txBody>
                    <a:bodyPr/>
                    <a:lstStyle/>
                    <a:p>
                      <a:pPr marL="0" lvl="0" indent="0" algn="l" rtl="0">
                        <a:spcBef>
                          <a:spcPts val="0"/>
                        </a:spcBef>
                        <a:spcAft>
                          <a:spcPts val="0"/>
                        </a:spcAft>
                        <a:buNone/>
                      </a:pPr>
                      <a:r>
                        <a:rPr lang="en-US"/>
                        <a:t>Young Budget Shoppers</a:t>
                      </a:r>
                      <a:endParaRPr/>
                    </a:p>
                  </a:txBody>
                  <a:tcPr marL="91425" marR="91425" marT="91425" marB="91425">
                    <a:lnL w="9525" cap="flat" cmpd="sng">
                      <a:solidFill>
                        <a:srgbClr val="44B3E1"/>
                      </a:solidFill>
                      <a:prstDash val="solid"/>
                      <a:round/>
                      <a:headEnd type="none" w="sm" len="sm"/>
                      <a:tailEnd type="none" w="sm" len="sm"/>
                    </a:lnL>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C0E6F5"/>
                    </a:solidFill>
                  </a:tcPr>
                </a:tc>
                <a:tc>
                  <a:txBody>
                    <a:bodyPr/>
                    <a:lstStyle/>
                    <a:p>
                      <a:pPr marL="0" lvl="0" indent="0" algn="ctr" rtl="0">
                        <a:lnSpc>
                          <a:spcPct val="115000"/>
                        </a:lnSpc>
                        <a:spcBef>
                          <a:spcPts val="0"/>
                        </a:spcBef>
                        <a:spcAft>
                          <a:spcPts val="0"/>
                        </a:spcAft>
                        <a:buNone/>
                      </a:pPr>
                      <a:r>
                        <a:rPr lang="en-US"/>
                        <a:t>168</a:t>
                      </a:r>
                      <a:endParaRPr/>
                    </a:p>
                  </a:txBody>
                  <a:tcPr marL="91425" marR="91425" marT="91425" marB="91425">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C0E6F5"/>
                    </a:solidFill>
                  </a:tcPr>
                </a:tc>
                <a:tc>
                  <a:txBody>
                    <a:bodyPr/>
                    <a:lstStyle/>
                    <a:p>
                      <a:pPr marL="0" lvl="0" indent="0" algn="ctr" rtl="0">
                        <a:spcBef>
                          <a:spcPts val="0"/>
                        </a:spcBef>
                        <a:spcAft>
                          <a:spcPts val="0"/>
                        </a:spcAft>
                        <a:buNone/>
                      </a:pPr>
                      <a:r>
                        <a:rPr lang="en-US"/>
                        <a:t> $        128,493</a:t>
                      </a:r>
                      <a:endParaRPr/>
                    </a:p>
                  </a:txBody>
                  <a:tcPr marL="91425" marR="91425" marT="91425" marB="91425">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C0E6F5"/>
                    </a:solidFill>
                  </a:tcPr>
                </a:tc>
                <a:tc>
                  <a:txBody>
                    <a:bodyPr/>
                    <a:lstStyle/>
                    <a:p>
                      <a:pPr marL="0" lvl="0" indent="0" algn="ctr" rtl="0">
                        <a:spcBef>
                          <a:spcPts val="0"/>
                        </a:spcBef>
                        <a:spcAft>
                          <a:spcPts val="0"/>
                        </a:spcAft>
                        <a:buNone/>
                      </a:pPr>
                      <a:r>
                        <a:rPr lang="en-US"/>
                        <a:t> $         764.84</a:t>
                      </a:r>
                      <a:endParaRPr/>
                    </a:p>
                  </a:txBody>
                  <a:tcPr marL="91425" marR="91425" marT="91425" marB="91425">
                    <a:lnR w="9525" cap="flat" cmpd="sng">
                      <a:solidFill>
                        <a:srgbClr val="44B3E1"/>
                      </a:solidFill>
                      <a:prstDash val="solid"/>
                      <a:round/>
                      <a:headEnd type="none" w="sm" len="sm"/>
                      <a:tailEnd type="none" w="sm" len="sm"/>
                    </a:lnR>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C0E6F5"/>
                    </a:solidFill>
                  </a:tcPr>
                </a:tc>
                <a:extLst>
                  <a:ext uri="{0D108BD9-81ED-4DB2-BD59-A6C34878D82A}">
                    <a16:rowId xmlns:a16="http://schemas.microsoft.com/office/drawing/2014/main" val="10001"/>
                  </a:ext>
                </a:extLst>
              </a:tr>
              <a:tr h="314325">
                <a:tc>
                  <a:txBody>
                    <a:bodyPr/>
                    <a:lstStyle/>
                    <a:p>
                      <a:pPr marL="0" lvl="0" indent="0" algn="l" rtl="0">
                        <a:spcBef>
                          <a:spcPts val="0"/>
                        </a:spcBef>
                        <a:spcAft>
                          <a:spcPts val="0"/>
                        </a:spcAft>
                        <a:buNone/>
                      </a:pPr>
                      <a:r>
                        <a:rPr lang="en-US"/>
                        <a:t>Loyal High Spenders</a:t>
                      </a:r>
                      <a:endParaRPr/>
                    </a:p>
                  </a:txBody>
                  <a:tcPr marL="91425" marR="91425" marT="91425" marB="91425">
                    <a:lnL w="9525" cap="flat" cmpd="sng">
                      <a:solidFill>
                        <a:srgbClr val="44B3E1"/>
                      </a:solidFill>
                      <a:prstDash val="solid"/>
                      <a:round/>
                      <a:headEnd type="none" w="sm" len="sm"/>
                      <a:tailEnd type="none" w="sm" len="sm"/>
                    </a:lnL>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a:t>230</a:t>
                      </a:r>
                      <a:endParaRPr/>
                    </a:p>
                  </a:txBody>
                  <a:tcPr marL="91425" marR="91425" marT="91425" marB="91425">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tcPr>
                </a:tc>
                <a:tc>
                  <a:txBody>
                    <a:bodyPr/>
                    <a:lstStyle/>
                    <a:p>
                      <a:pPr marL="0" lvl="0" indent="0" algn="l" rtl="0">
                        <a:spcBef>
                          <a:spcPts val="0"/>
                        </a:spcBef>
                        <a:spcAft>
                          <a:spcPts val="0"/>
                        </a:spcAft>
                        <a:buNone/>
                      </a:pPr>
                      <a:r>
                        <a:rPr lang="en-US"/>
                        <a:t> $    	  569,076</a:t>
                      </a:r>
                      <a:endParaRPr/>
                    </a:p>
                  </a:txBody>
                  <a:tcPr marL="91425" marR="91425" marT="91425" marB="91425">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tcPr>
                </a:tc>
                <a:tc>
                  <a:txBody>
                    <a:bodyPr/>
                    <a:lstStyle/>
                    <a:p>
                      <a:pPr marL="0" lvl="0" indent="0" algn="l" rtl="0">
                        <a:spcBef>
                          <a:spcPts val="0"/>
                        </a:spcBef>
                        <a:spcAft>
                          <a:spcPts val="0"/>
                        </a:spcAft>
                        <a:buNone/>
                      </a:pPr>
                      <a:r>
                        <a:rPr lang="en-US"/>
                        <a:t> $      2,474.24</a:t>
                      </a:r>
                      <a:endParaRPr/>
                    </a:p>
                  </a:txBody>
                  <a:tcPr marL="91425" marR="91425" marT="91425" marB="91425">
                    <a:lnR w="9525" cap="flat" cmpd="sng">
                      <a:solidFill>
                        <a:srgbClr val="44B3E1"/>
                      </a:solidFill>
                      <a:prstDash val="solid"/>
                      <a:round/>
                      <a:headEnd type="none" w="sm" len="sm"/>
                      <a:tailEnd type="none" w="sm" len="sm"/>
                    </a:lnR>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tcPr>
                </a:tc>
                <a:extLst>
                  <a:ext uri="{0D108BD9-81ED-4DB2-BD59-A6C34878D82A}">
                    <a16:rowId xmlns:a16="http://schemas.microsoft.com/office/drawing/2014/main" val="10002"/>
                  </a:ext>
                </a:extLst>
              </a:tr>
              <a:tr h="314325">
                <a:tc>
                  <a:txBody>
                    <a:bodyPr/>
                    <a:lstStyle/>
                    <a:p>
                      <a:pPr marL="0" lvl="0" indent="0" algn="l" rtl="0">
                        <a:spcBef>
                          <a:spcPts val="0"/>
                        </a:spcBef>
                        <a:spcAft>
                          <a:spcPts val="0"/>
                        </a:spcAft>
                        <a:buNone/>
                      </a:pPr>
                      <a:r>
                        <a:rPr lang="en-US"/>
                        <a:t>Occasional Deal Seekers</a:t>
                      </a:r>
                      <a:endParaRPr/>
                    </a:p>
                  </a:txBody>
                  <a:tcPr marL="91425" marR="91425" marT="91425" marB="91425">
                    <a:lnL w="9525" cap="flat" cmpd="sng">
                      <a:solidFill>
                        <a:srgbClr val="44B3E1"/>
                      </a:solidFill>
                      <a:prstDash val="solid"/>
                      <a:round/>
                      <a:headEnd type="none" w="sm" len="sm"/>
                      <a:tailEnd type="none" w="sm" len="sm"/>
                    </a:lnL>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C0E6F5"/>
                    </a:solidFill>
                  </a:tcPr>
                </a:tc>
                <a:tc>
                  <a:txBody>
                    <a:bodyPr/>
                    <a:lstStyle/>
                    <a:p>
                      <a:pPr marL="0" lvl="0" indent="0" algn="ctr" rtl="0">
                        <a:lnSpc>
                          <a:spcPct val="115000"/>
                        </a:lnSpc>
                        <a:spcBef>
                          <a:spcPts val="0"/>
                        </a:spcBef>
                        <a:spcAft>
                          <a:spcPts val="0"/>
                        </a:spcAft>
                        <a:buNone/>
                      </a:pPr>
                      <a:r>
                        <a:rPr lang="en-US"/>
                        <a:t>858</a:t>
                      </a:r>
                      <a:endParaRPr/>
                    </a:p>
                  </a:txBody>
                  <a:tcPr marL="91425" marR="91425" marT="91425" marB="91425">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C0E6F5"/>
                    </a:solidFill>
                  </a:tcPr>
                </a:tc>
                <a:tc>
                  <a:txBody>
                    <a:bodyPr/>
                    <a:lstStyle/>
                    <a:p>
                      <a:pPr marL="0" lvl="0" indent="0" algn="ctr" rtl="0">
                        <a:spcBef>
                          <a:spcPts val="0"/>
                        </a:spcBef>
                        <a:spcAft>
                          <a:spcPts val="0"/>
                        </a:spcAft>
                        <a:buNone/>
                      </a:pPr>
                      <a:r>
                        <a:rPr lang="en-US"/>
                        <a:t> $        413,151</a:t>
                      </a:r>
                      <a:endParaRPr/>
                    </a:p>
                  </a:txBody>
                  <a:tcPr marL="91425" marR="91425" marT="91425" marB="91425">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C0E6F5"/>
                    </a:solidFill>
                  </a:tcPr>
                </a:tc>
                <a:tc>
                  <a:txBody>
                    <a:bodyPr/>
                    <a:lstStyle/>
                    <a:p>
                      <a:pPr marL="0" lvl="0" indent="0" algn="ctr" rtl="0">
                        <a:spcBef>
                          <a:spcPts val="0"/>
                        </a:spcBef>
                        <a:spcAft>
                          <a:spcPts val="0"/>
                        </a:spcAft>
                        <a:buNone/>
                      </a:pPr>
                      <a:r>
                        <a:rPr lang="en-US"/>
                        <a:t> $         481.53</a:t>
                      </a:r>
                      <a:endParaRPr/>
                    </a:p>
                  </a:txBody>
                  <a:tcPr marL="91425" marR="91425" marT="91425" marB="91425">
                    <a:lnR w="9525" cap="flat" cmpd="sng">
                      <a:solidFill>
                        <a:srgbClr val="44B3E1"/>
                      </a:solidFill>
                      <a:prstDash val="solid"/>
                      <a:round/>
                      <a:headEnd type="none" w="sm" len="sm"/>
                      <a:tailEnd type="none" w="sm" len="sm"/>
                    </a:lnR>
                    <a:lnT w="9525" cap="flat" cmpd="sng">
                      <a:solidFill>
                        <a:srgbClr val="44B3E1"/>
                      </a:solidFill>
                      <a:prstDash val="solid"/>
                      <a:round/>
                      <a:headEnd type="none" w="sm" len="sm"/>
                      <a:tailEnd type="none" w="sm" len="sm"/>
                    </a:lnT>
                    <a:lnB w="9525" cap="flat" cmpd="sng">
                      <a:solidFill>
                        <a:srgbClr val="44B3E1"/>
                      </a:solidFill>
                      <a:prstDash val="solid"/>
                      <a:round/>
                      <a:headEnd type="none" w="sm" len="sm"/>
                      <a:tailEnd type="none" w="sm" len="sm"/>
                    </a:lnB>
                    <a:solidFill>
                      <a:srgbClr val="C0E6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9ae2a8eace_2_45"/>
          <p:cNvSpPr txBox="1">
            <a:spLocks noGrp="1"/>
          </p:cNvSpPr>
          <p:nvPr>
            <p:ph type="title" idx="4294967295"/>
          </p:nvPr>
        </p:nvSpPr>
        <p:spPr>
          <a:xfrm>
            <a:off x="392863" y="475150"/>
            <a:ext cx="8358300" cy="3477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78571"/>
              <a:buNone/>
            </a:pPr>
            <a:r>
              <a:rPr lang="en-US"/>
              <a:t>Do higher-rated products sell more?</a:t>
            </a:r>
            <a:endParaRPr/>
          </a:p>
        </p:txBody>
      </p:sp>
      <p:sp>
        <p:nvSpPr>
          <p:cNvPr id="162" name="Google Shape;162;g39ae2a8eace_2_45"/>
          <p:cNvSpPr txBox="1">
            <a:spLocks noGrp="1"/>
          </p:cNvSpPr>
          <p:nvPr>
            <p:ph type="body" idx="4294967295"/>
          </p:nvPr>
        </p:nvSpPr>
        <p:spPr>
          <a:xfrm>
            <a:off x="6140825" y="1255375"/>
            <a:ext cx="2779200" cy="3252600"/>
          </a:xfrm>
          <a:prstGeom prst="rect">
            <a:avLst/>
          </a:prstGeom>
          <a:noFill/>
          <a:ln>
            <a:noFill/>
          </a:ln>
        </p:spPr>
        <p:txBody>
          <a:bodyPr spcFirstLastPara="1" wrap="square" lIns="91425" tIns="91425" rIns="91425" bIns="91425" anchor="t" anchorCtr="0">
            <a:normAutofit/>
          </a:bodyPr>
          <a:lstStyle/>
          <a:p>
            <a:pPr marL="152400" lvl="0" indent="0" algn="l" rtl="0">
              <a:spcBef>
                <a:spcPts val="0"/>
              </a:spcBef>
              <a:spcAft>
                <a:spcPts val="0"/>
              </a:spcAft>
              <a:buNone/>
            </a:pPr>
            <a:r>
              <a:rPr lang="en-US" sz="1050">
                <a:solidFill>
                  <a:srgbClr val="444746"/>
                </a:solidFill>
                <a:latin typeface="Roboto"/>
                <a:ea typeface="Roboto"/>
                <a:cs typeface="Roboto"/>
                <a:sym typeface="Roboto"/>
              </a:rPr>
              <a:t>Our Hypothesis proved to be wrong as the highest rated products have not necessarily been purchased the most frequently and didn’t generate higher revenue than the lower rated products. This trend is showing that when people want to buy in bulk they might not care so much about the higher rating of the product, rather looking at the price of the individual product.</a:t>
            </a:r>
            <a:endParaRPr sz="1050">
              <a:solidFill>
                <a:srgbClr val="444746"/>
              </a:solidFill>
              <a:latin typeface="Roboto"/>
              <a:ea typeface="Roboto"/>
              <a:cs typeface="Roboto"/>
              <a:sym typeface="Roboto"/>
            </a:endParaRPr>
          </a:p>
          <a:p>
            <a:pPr marL="152400" lvl="0" indent="0" algn="l" rtl="0">
              <a:lnSpc>
                <a:spcPct val="130000"/>
              </a:lnSpc>
              <a:spcBef>
                <a:spcPts val="1200"/>
              </a:spcBef>
              <a:spcAft>
                <a:spcPts val="0"/>
              </a:spcAft>
              <a:buSzPts val="1200"/>
              <a:buNone/>
            </a:pPr>
            <a:r>
              <a:rPr lang="en-US" sz="1050">
                <a:solidFill>
                  <a:srgbClr val="444746"/>
                </a:solidFill>
                <a:latin typeface="Roboto"/>
                <a:ea typeface="Roboto"/>
                <a:cs typeface="Roboto"/>
                <a:sym typeface="Roboto"/>
              </a:rPr>
              <a:t>The average highest sale amount was spent on the highest rated product, which comes to show that on average customers are willing to spend more on a higher rated product at less volume.</a:t>
            </a:r>
            <a:endParaRPr/>
          </a:p>
        </p:txBody>
      </p:sp>
      <p:pic>
        <p:nvPicPr>
          <p:cNvPr id="163" name="Google Shape;163;g39ae2a8eace_2_45"/>
          <p:cNvPicPr preferRelativeResize="0"/>
          <p:nvPr/>
        </p:nvPicPr>
        <p:blipFill>
          <a:blip r:embed="rId3">
            <a:alphaModFix/>
          </a:blip>
          <a:stretch>
            <a:fillRect/>
          </a:stretch>
        </p:blipFill>
        <p:spPr>
          <a:xfrm>
            <a:off x="499782" y="1255376"/>
            <a:ext cx="5436126" cy="32524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9b6bfe189f_0_277"/>
          <p:cNvSpPr txBox="1">
            <a:spLocks noGrp="1"/>
          </p:cNvSpPr>
          <p:nvPr>
            <p:ph type="title" idx="4294967295"/>
          </p:nvPr>
        </p:nvSpPr>
        <p:spPr>
          <a:xfrm>
            <a:off x="381000" y="519953"/>
            <a:ext cx="8214000" cy="432600"/>
          </a:xfrm>
          <a:prstGeom prst="rect">
            <a:avLst/>
          </a:prstGeom>
          <a:noFill/>
          <a:ln>
            <a:noFill/>
          </a:ln>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a:t>Does shipping type affect the number of purchases?</a:t>
            </a:r>
            <a:endParaRPr/>
          </a:p>
        </p:txBody>
      </p:sp>
      <p:sp>
        <p:nvSpPr>
          <p:cNvPr id="169" name="Google Shape;169;g39b6bfe189f_0_277"/>
          <p:cNvSpPr txBox="1">
            <a:spLocks noGrp="1"/>
          </p:cNvSpPr>
          <p:nvPr>
            <p:ph type="body" idx="4294967295"/>
          </p:nvPr>
        </p:nvSpPr>
        <p:spPr>
          <a:xfrm>
            <a:off x="381000" y="1042150"/>
            <a:ext cx="3944400" cy="1277400"/>
          </a:xfrm>
          <a:prstGeom prst="rect">
            <a:avLst/>
          </a:prstGeom>
          <a:noFill/>
          <a:ln>
            <a:noFill/>
          </a:ln>
        </p:spPr>
        <p:txBody>
          <a:bodyPr spcFirstLastPara="1" wrap="square" lIns="91425" tIns="91425" rIns="91425" bIns="91425" anchor="t" anchorCtr="0">
            <a:normAutofit/>
          </a:bodyPr>
          <a:lstStyle/>
          <a:p>
            <a:pPr marL="152400" lvl="0" indent="0" algn="l" rtl="0">
              <a:lnSpc>
                <a:spcPct val="130000"/>
              </a:lnSpc>
              <a:spcBef>
                <a:spcPts val="0"/>
              </a:spcBef>
              <a:spcAft>
                <a:spcPts val="0"/>
              </a:spcAft>
              <a:buSzPts val="1200"/>
              <a:buNone/>
            </a:pPr>
            <a:r>
              <a:rPr lang="en-US" sz="1450">
                <a:solidFill>
                  <a:srgbClr val="444746"/>
                </a:solidFill>
                <a:highlight>
                  <a:srgbClr val="FFFFFF"/>
                </a:highlight>
                <a:latin typeface="Roboto"/>
                <a:ea typeface="Roboto"/>
                <a:cs typeface="Roboto"/>
                <a:sym typeface="Roboto"/>
              </a:rPr>
              <a:t>The purchase count is highest on free shipping and the average customer is willing to spend more when offered free shipping.</a:t>
            </a:r>
            <a:endParaRPr sz="2200"/>
          </a:p>
        </p:txBody>
      </p:sp>
      <p:graphicFrame>
        <p:nvGraphicFramePr>
          <p:cNvPr id="170" name="Google Shape;170;g39b6bfe189f_0_277"/>
          <p:cNvGraphicFramePr/>
          <p:nvPr/>
        </p:nvGraphicFramePr>
        <p:xfrm>
          <a:off x="554650" y="2608350"/>
          <a:ext cx="3597075" cy="2240070"/>
        </p:xfrm>
        <a:graphic>
          <a:graphicData uri="http://schemas.openxmlformats.org/drawingml/2006/table">
            <a:tbl>
              <a:tblPr>
                <a:noFill/>
                <a:tableStyleId>{E9A9AF08-3B43-4BBE-A805-83A6691AED2B}</a:tableStyleId>
              </a:tblPr>
              <a:tblGrid>
                <a:gridCol w="1583025">
                  <a:extLst>
                    <a:ext uri="{9D8B030D-6E8A-4147-A177-3AD203B41FA5}">
                      <a16:colId xmlns:a16="http://schemas.microsoft.com/office/drawing/2014/main" val="20000"/>
                    </a:ext>
                  </a:extLst>
                </a:gridCol>
                <a:gridCol w="1201400">
                  <a:extLst>
                    <a:ext uri="{9D8B030D-6E8A-4147-A177-3AD203B41FA5}">
                      <a16:colId xmlns:a16="http://schemas.microsoft.com/office/drawing/2014/main" val="20001"/>
                    </a:ext>
                  </a:extLst>
                </a:gridCol>
                <a:gridCol w="812650">
                  <a:extLst>
                    <a:ext uri="{9D8B030D-6E8A-4147-A177-3AD203B41FA5}">
                      <a16:colId xmlns:a16="http://schemas.microsoft.com/office/drawing/2014/main" val="20002"/>
                    </a:ext>
                  </a:extLst>
                </a:gridCol>
              </a:tblGrid>
              <a:tr h="222550">
                <a:tc>
                  <a:txBody>
                    <a:bodyPr/>
                    <a:lstStyle/>
                    <a:p>
                      <a:pPr marL="0" marR="0" lvl="0" indent="0" algn="l" rtl="0">
                        <a:lnSpc>
                          <a:spcPct val="100000"/>
                        </a:lnSpc>
                        <a:spcBef>
                          <a:spcPts val="0"/>
                        </a:spcBef>
                        <a:spcAft>
                          <a:spcPts val="0"/>
                        </a:spcAft>
                        <a:buClr>
                          <a:srgbClr val="000000"/>
                        </a:buClr>
                        <a:buSzPts val="900"/>
                        <a:buFont typeface="Arial"/>
                        <a:buNone/>
                      </a:pPr>
                      <a:r>
                        <a:rPr lang="en-US" sz="900" b="1">
                          <a:solidFill>
                            <a:srgbClr val="FFFFFF"/>
                          </a:solidFill>
                        </a:rPr>
                        <a:t>Purchase_shipping_type</a:t>
                      </a:r>
                      <a:endParaRPr sz="900" b="1">
                        <a:solidFill>
                          <a:srgbClr val="FFFFFF"/>
                        </a:solidFill>
                      </a:endParaRPr>
                    </a:p>
                  </a:txBody>
                  <a:tcPr marL="91425" marR="91425" marT="91425" marB="91425" anchor="b">
                    <a:lnL w="9525" cap="flat" cmpd="sng">
                      <a:solidFill>
                        <a:srgbClr val="F1A983"/>
                      </a:solidFill>
                      <a:prstDash val="solid"/>
                      <a:round/>
                      <a:headEnd type="none" w="sm" len="sm"/>
                      <a:tailEnd type="none" w="sm" len="sm"/>
                    </a:lnL>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b="1">
                          <a:solidFill>
                            <a:srgbClr val="FFFFFF"/>
                          </a:solidFill>
                        </a:rPr>
                        <a:t>Purchase_count</a:t>
                      </a:r>
                      <a:endParaRPr sz="900" b="1">
                        <a:solidFill>
                          <a:srgbClr val="FFFFFF"/>
                        </a:solidFill>
                      </a:endParaRPr>
                    </a:p>
                  </a:txBody>
                  <a:tcPr marL="91425" marR="91425" marT="91425" marB="91425" anchor="b">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b="1">
                          <a:solidFill>
                            <a:srgbClr val="FFFFFF"/>
                          </a:solidFill>
                        </a:rPr>
                        <a:t>Avg_spend</a:t>
                      </a:r>
                      <a:endParaRPr sz="900" b="1">
                        <a:solidFill>
                          <a:srgbClr val="FFFFFF"/>
                        </a:solidFill>
                      </a:endParaRPr>
                    </a:p>
                  </a:txBody>
                  <a:tcPr marL="91425" marR="91425" marT="91425" marB="91425" anchor="b">
                    <a:lnR w="9525" cap="flat" cmpd="sng">
                      <a:solidFill>
                        <a:srgbClr val="F1A983"/>
                      </a:solidFill>
                      <a:prstDash val="solid"/>
                      <a:round/>
                      <a:headEnd type="none" w="sm" len="sm"/>
                      <a:tailEnd type="none" w="sm" len="sm"/>
                    </a:lnR>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22550">
                <a:tc>
                  <a:txBody>
                    <a:bodyPr/>
                    <a:lstStyle/>
                    <a:p>
                      <a:pPr marL="0" marR="0" lvl="0" indent="0" algn="l" rtl="0">
                        <a:lnSpc>
                          <a:spcPct val="100000"/>
                        </a:lnSpc>
                        <a:spcBef>
                          <a:spcPts val="0"/>
                        </a:spcBef>
                        <a:spcAft>
                          <a:spcPts val="0"/>
                        </a:spcAft>
                        <a:buClr>
                          <a:srgbClr val="000000"/>
                        </a:buClr>
                        <a:buSzPts val="900"/>
                        <a:buFont typeface="Arial"/>
                        <a:buNone/>
                      </a:pPr>
                      <a:r>
                        <a:rPr lang="en-US" sz="900"/>
                        <a:t>Free Shipping</a:t>
                      </a:r>
                      <a:endParaRPr sz="900"/>
                    </a:p>
                  </a:txBody>
                  <a:tcPr marL="91425" marR="91425" marT="91425" marB="91425" anchor="b">
                    <a:lnL w="9525" cap="flat" cmpd="sng">
                      <a:solidFill>
                        <a:srgbClr val="F1A983"/>
                      </a:solidFill>
                      <a:prstDash val="solid"/>
                      <a:round/>
                      <a:headEnd type="none" w="sm" len="sm"/>
                      <a:tailEnd type="none" w="sm" len="sm"/>
                    </a:lnL>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a:t>675</a:t>
                      </a:r>
                      <a:endParaRPr sz="900"/>
                    </a:p>
                  </a:txBody>
                  <a:tcPr marL="91425" marR="91425" marT="91425" marB="91425" anchor="b">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a:t>60</a:t>
                      </a:r>
                      <a:endParaRPr sz="900"/>
                    </a:p>
                  </a:txBody>
                  <a:tcPr marL="91425" marR="91425" marT="91425" marB="91425" anchor="b">
                    <a:lnR w="9525" cap="flat" cmpd="sng">
                      <a:solidFill>
                        <a:srgbClr val="F1A983"/>
                      </a:solidFill>
                      <a:prstDash val="solid"/>
                      <a:round/>
                      <a:headEnd type="none" w="sm" len="sm"/>
                      <a:tailEnd type="none" w="sm" len="sm"/>
                    </a:lnR>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extLst>
                  <a:ext uri="{0D108BD9-81ED-4DB2-BD59-A6C34878D82A}">
                    <a16:rowId xmlns:a16="http://schemas.microsoft.com/office/drawing/2014/main" val="10001"/>
                  </a:ext>
                </a:extLst>
              </a:tr>
              <a:tr h="222550">
                <a:tc>
                  <a:txBody>
                    <a:bodyPr/>
                    <a:lstStyle/>
                    <a:p>
                      <a:pPr marL="0" marR="0" lvl="0" indent="0" algn="l" rtl="0">
                        <a:lnSpc>
                          <a:spcPct val="100000"/>
                        </a:lnSpc>
                        <a:spcBef>
                          <a:spcPts val="0"/>
                        </a:spcBef>
                        <a:spcAft>
                          <a:spcPts val="0"/>
                        </a:spcAft>
                        <a:buClr>
                          <a:srgbClr val="000000"/>
                        </a:buClr>
                        <a:buSzPts val="900"/>
                        <a:buFont typeface="Arial"/>
                        <a:buNone/>
                      </a:pPr>
                      <a:r>
                        <a:rPr lang="en-US" sz="900"/>
                        <a:t>Standard</a:t>
                      </a:r>
                      <a:endParaRPr sz="900"/>
                    </a:p>
                  </a:txBody>
                  <a:tcPr marL="91425" marR="91425" marT="91425" marB="91425" anchor="b">
                    <a:lnL w="9525" cap="flat" cmpd="sng">
                      <a:solidFill>
                        <a:srgbClr val="F1A983"/>
                      </a:solidFill>
                      <a:prstDash val="solid"/>
                      <a:round/>
                      <a:headEnd type="none" w="sm" len="sm"/>
                      <a:tailEnd type="none" w="sm" len="sm"/>
                    </a:lnL>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a:t>654</a:t>
                      </a:r>
                      <a:endParaRPr sz="900"/>
                    </a:p>
                  </a:txBody>
                  <a:tcPr marL="91425" marR="91425" marT="91425" marB="91425" anchor="b">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US" sz="900"/>
                        <a:t>58</a:t>
                      </a:r>
                      <a:endParaRPr sz="900"/>
                    </a:p>
                  </a:txBody>
                  <a:tcPr marL="91425" marR="91425" marT="91425" marB="91425" anchor="b">
                    <a:lnR w="9525" cap="flat" cmpd="sng">
                      <a:solidFill>
                        <a:srgbClr val="F1A983"/>
                      </a:solidFill>
                      <a:prstDash val="solid"/>
                      <a:round/>
                      <a:headEnd type="none" w="sm" len="sm"/>
                      <a:tailEnd type="none" w="sm" len="sm"/>
                    </a:lnR>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extLst>
                  <a:ext uri="{0D108BD9-81ED-4DB2-BD59-A6C34878D82A}">
                    <a16:rowId xmlns:a16="http://schemas.microsoft.com/office/drawing/2014/main" val="10002"/>
                  </a:ext>
                </a:extLst>
              </a:tr>
              <a:tr h="222550">
                <a:tc>
                  <a:txBody>
                    <a:bodyPr/>
                    <a:lstStyle/>
                    <a:p>
                      <a:pPr marL="0" marR="0" lvl="0" indent="0" algn="l" rtl="0">
                        <a:lnSpc>
                          <a:spcPct val="100000"/>
                        </a:lnSpc>
                        <a:spcBef>
                          <a:spcPts val="0"/>
                        </a:spcBef>
                        <a:spcAft>
                          <a:spcPts val="0"/>
                        </a:spcAft>
                        <a:buNone/>
                      </a:pPr>
                      <a:r>
                        <a:rPr lang="en-US" sz="900"/>
                        <a:t>Store Pickup</a:t>
                      </a:r>
                      <a:endParaRPr sz="900"/>
                    </a:p>
                  </a:txBody>
                  <a:tcPr marL="91425" marR="91425" marT="91425" marB="91425" anchor="b">
                    <a:lnL w="9525" cap="flat" cmpd="sng">
                      <a:solidFill>
                        <a:srgbClr val="F1A983"/>
                      </a:solidFill>
                      <a:prstDash val="solid"/>
                      <a:round/>
                      <a:headEnd type="none" w="sm" len="sm"/>
                      <a:tailEnd type="none" w="sm" len="sm"/>
                    </a:lnL>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tc>
                  <a:txBody>
                    <a:bodyPr/>
                    <a:lstStyle/>
                    <a:p>
                      <a:pPr marL="0" marR="0" lvl="0" indent="0" algn="l" rtl="0">
                        <a:lnSpc>
                          <a:spcPct val="100000"/>
                        </a:lnSpc>
                        <a:spcBef>
                          <a:spcPts val="0"/>
                        </a:spcBef>
                        <a:spcAft>
                          <a:spcPts val="0"/>
                        </a:spcAft>
                        <a:buNone/>
                      </a:pPr>
                      <a:r>
                        <a:rPr lang="en-US" sz="900"/>
                        <a:t>650</a:t>
                      </a:r>
                      <a:endParaRPr sz="900"/>
                    </a:p>
                  </a:txBody>
                  <a:tcPr marL="91425" marR="91425" marT="91425" marB="91425" anchor="b">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tc>
                  <a:txBody>
                    <a:bodyPr/>
                    <a:lstStyle/>
                    <a:p>
                      <a:pPr marL="0" marR="0" lvl="0" indent="0" algn="l" rtl="0">
                        <a:lnSpc>
                          <a:spcPct val="100000"/>
                        </a:lnSpc>
                        <a:spcBef>
                          <a:spcPts val="0"/>
                        </a:spcBef>
                        <a:spcAft>
                          <a:spcPts val="0"/>
                        </a:spcAft>
                        <a:buNone/>
                      </a:pPr>
                      <a:r>
                        <a:rPr lang="en-US" sz="900"/>
                        <a:t>60</a:t>
                      </a:r>
                      <a:endParaRPr sz="900"/>
                    </a:p>
                  </a:txBody>
                  <a:tcPr marL="91425" marR="91425" marT="91425" marB="91425" anchor="b">
                    <a:lnR w="9525" cap="flat" cmpd="sng">
                      <a:solidFill>
                        <a:srgbClr val="F1A983"/>
                      </a:solidFill>
                      <a:prstDash val="solid"/>
                      <a:round/>
                      <a:headEnd type="none" w="sm" len="sm"/>
                      <a:tailEnd type="none" w="sm" len="sm"/>
                    </a:lnR>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extLst>
                  <a:ext uri="{0D108BD9-81ED-4DB2-BD59-A6C34878D82A}">
                    <a16:rowId xmlns:a16="http://schemas.microsoft.com/office/drawing/2014/main" val="10003"/>
                  </a:ext>
                </a:extLst>
              </a:tr>
              <a:tr h="222550">
                <a:tc>
                  <a:txBody>
                    <a:bodyPr/>
                    <a:lstStyle/>
                    <a:p>
                      <a:pPr marL="0" marR="0" lvl="0" indent="0" algn="l" rtl="0">
                        <a:lnSpc>
                          <a:spcPct val="100000"/>
                        </a:lnSpc>
                        <a:spcBef>
                          <a:spcPts val="0"/>
                        </a:spcBef>
                        <a:spcAft>
                          <a:spcPts val="0"/>
                        </a:spcAft>
                        <a:buNone/>
                      </a:pPr>
                      <a:r>
                        <a:rPr lang="en-US" sz="900"/>
                        <a:t>Next Day Air</a:t>
                      </a:r>
                      <a:endParaRPr sz="900"/>
                    </a:p>
                  </a:txBody>
                  <a:tcPr marL="91425" marR="91425" marT="91425" marB="91425">
                    <a:lnL w="9525" cap="flat" cmpd="sng">
                      <a:solidFill>
                        <a:srgbClr val="F1A983"/>
                      </a:solidFill>
                      <a:prstDash val="solid"/>
                      <a:round/>
                      <a:headEnd type="none" w="sm" len="sm"/>
                      <a:tailEnd type="none" w="sm" len="sm"/>
                    </a:lnL>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900"/>
                        <a:t>648</a:t>
                      </a:r>
                      <a:endParaRPr sz="900"/>
                    </a:p>
                  </a:txBody>
                  <a:tcPr marL="91425" marR="91425" marT="91425" marB="91425">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900"/>
                        <a:t>59</a:t>
                      </a:r>
                      <a:endParaRPr sz="900"/>
                    </a:p>
                  </a:txBody>
                  <a:tcPr marL="91425" marR="91425" marT="91425" marB="91425">
                    <a:lnR w="9525" cap="flat" cmpd="sng">
                      <a:solidFill>
                        <a:srgbClr val="F1A983"/>
                      </a:solidFill>
                      <a:prstDash val="solid"/>
                      <a:round/>
                      <a:headEnd type="none" w="sm" len="sm"/>
                      <a:tailEnd type="none" w="sm" len="sm"/>
                    </a:lnR>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extLst>
                  <a:ext uri="{0D108BD9-81ED-4DB2-BD59-A6C34878D82A}">
                    <a16:rowId xmlns:a16="http://schemas.microsoft.com/office/drawing/2014/main" val="10004"/>
                  </a:ext>
                </a:extLst>
              </a:tr>
              <a:tr h="222550">
                <a:tc>
                  <a:txBody>
                    <a:bodyPr/>
                    <a:lstStyle/>
                    <a:p>
                      <a:pPr marL="0" marR="0" lvl="0" indent="0" algn="l" rtl="0">
                        <a:lnSpc>
                          <a:spcPct val="100000"/>
                        </a:lnSpc>
                        <a:spcBef>
                          <a:spcPts val="0"/>
                        </a:spcBef>
                        <a:spcAft>
                          <a:spcPts val="0"/>
                        </a:spcAft>
                        <a:buNone/>
                      </a:pPr>
                      <a:r>
                        <a:rPr lang="en-US" sz="900"/>
                        <a:t>Express</a:t>
                      </a:r>
                      <a:endParaRPr sz="900"/>
                    </a:p>
                  </a:txBody>
                  <a:tcPr marL="91425" marR="91425" marT="91425" marB="91425" anchor="b">
                    <a:lnL w="9525" cap="flat" cmpd="sng">
                      <a:solidFill>
                        <a:srgbClr val="F1A983"/>
                      </a:solidFill>
                      <a:prstDash val="solid"/>
                      <a:round/>
                      <a:headEnd type="none" w="sm" len="sm"/>
                      <a:tailEnd type="none" w="sm" len="sm"/>
                    </a:lnL>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tc>
                  <a:txBody>
                    <a:bodyPr/>
                    <a:lstStyle/>
                    <a:p>
                      <a:pPr marL="0" marR="0" lvl="0" indent="0" algn="l" rtl="0">
                        <a:lnSpc>
                          <a:spcPct val="100000"/>
                        </a:lnSpc>
                        <a:spcBef>
                          <a:spcPts val="0"/>
                        </a:spcBef>
                        <a:spcAft>
                          <a:spcPts val="0"/>
                        </a:spcAft>
                        <a:buNone/>
                      </a:pPr>
                      <a:r>
                        <a:rPr lang="en-US" sz="900"/>
                        <a:t>646</a:t>
                      </a:r>
                      <a:endParaRPr sz="900"/>
                    </a:p>
                  </a:txBody>
                  <a:tcPr marL="91425" marR="91425" marT="91425" marB="91425" anchor="b">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tc>
                  <a:txBody>
                    <a:bodyPr/>
                    <a:lstStyle/>
                    <a:p>
                      <a:pPr marL="0" marR="0" lvl="0" indent="0" algn="l" rtl="0">
                        <a:lnSpc>
                          <a:spcPct val="100000"/>
                        </a:lnSpc>
                        <a:spcBef>
                          <a:spcPts val="0"/>
                        </a:spcBef>
                        <a:spcAft>
                          <a:spcPts val="0"/>
                        </a:spcAft>
                        <a:buNone/>
                      </a:pPr>
                      <a:r>
                        <a:rPr lang="en-US" sz="900"/>
                        <a:t>60</a:t>
                      </a:r>
                      <a:endParaRPr sz="900"/>
                    </a:p>
                  </a:txBody>
                  <a:tcPr marL="91425" marR="91425" marT="91425" marB="91425" anchor="b">
                    <a:lnR w="9525" cap="flat" cmpd="sng">
                      <a:solidFill>
                        <a:srgbClr val="F1A983"/>
                      </a:solidFill>
                      <a:prstDash val="solid"/>
                      <a:round/>
                      <a:headEnd type="none" w="sm" len="sm"/>
                      <a:tailEnd type="none" w="sm" len="sm"/>
                    </a:lnR>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solidFill>
                      <a:srgbClr val="FFF1E8"/>
                    </a:solidFill>
                  </a:tcPr>
                </a:tc>
                <a:extLst>
                  <a:ext uri="{0D108BD9-81ED-4DB2-BD59-A6C34878D82A}">
                    <a16:rowId xmlns:a16="http://schemas.microsoft.com/office/drawing/2014/main" val="10005"/>
                  </a:ext>
                </a:extLst>
              </a:tr>
              <a:tr h="222550">
                <a:tc>
                  <a:txBody>
                    <a:bodyPr/>
                    <a:lstStyle/>
                    <a:p>
                      <a:pPr marL="0" marR="0" lvl="0" indent="0" algn="l" rtl="0">
                        <a:lnSpc>
                          <a:spcPct val="100000"/>
                        </a:lnSpc>
                        <a:spcBef>
                          <a:spcPts val="0"/>
                        </a:spcBef>
                        <a:spcAft>
                          <a:spcPts val="0"/>
                        </a:spcAft>
                        <a:buNone/>
                      </a:pPr>
                      <a:r>
                        <a:rPr lang="en-US" sz="900"/>
                        <a:t>2-Day Shipping</a:t>
                      </a:r>
                      <a:endParaRPr sz="900"/>
                    </a:p>
                  </a:txBody>
                  <a:tcPr marL="91425" marR="91425" marT="91425" marB="91425">
                    <a:lnL w="9525" cap="flat" cmpd="sng">
                      <a:solidFill>
                        <a:srgbClr val="F1A983"/>
                      </a:solidFill>
                      <a:prstDash val="solid"/>
                      <a:round/>
                      <a:headEnd type="none" w="sm" len="sm"/>
                      <a:tailEnd type="none" w="sm" len="sm"/>
                    </a:lnL>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900"/>
                        <a:t>627</a:t>
                      </a:r>
                      <a:endParaRPr sz="900"/>
                    </a:p>
                  </a:txBody>
                  <a:tcPr marL="91425" marR="91425" marT="91425" marB="91425">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900"/>
                        <a:t>61</a:t>
                      </a:r>
                      <a:endParaRPr sz="900"/>
                    </a:p>
                  </a:txBody>
                  <a:tcPr marL="91425" marR="91425" marT="91425" marB="91425">
                    <a:lnR w="9525" cap="flat" cmpd="sng">
                      <a:solidFill>
                        <a:srgbClr val="F1A983"/>
                      </a:solidFill>
                      <a:prstDash val="solid"/>
                      <a:round/>
                      <a:headEnd type="none" w="sm" len="sm"/>
                      <a:tailEnd type="none" w="sm" len="sm"/>
                    </a:lnR>
                    <a:lnT w="9525" cap="flat" cmpd="sng">
                      <a:solidFill>
                        <a:srgbClr val="F1A983"/>
                      </a:solidFill>
                      <a:prstDash val="solid"/>
                      <a:round/>
                      <a:headEnd type="none" w="sm" len="sm"/>
                      <a:tailEnd type="none" w="sm" len="sm"/>
                    </a:lnT>
                    <a:lnB w="9525" cap="flat" cmpd="sng">
                      <a:solidFill>
                        <a:srgbClr val="F1A983"/>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pSp>
        <p:nvGrpSpPr>
          <p:cNvPr id="171" name="Google Shape;171;g39b6bfe189f_0_277"/>
          <p:cNvGrpSpPr/>
          <p:nvPr/>
        </p:nvGrpSpPr>
        <p:grpSpPr>
          <a:xfrm>
            <a:off x="4689850" y="979358"/>
            <a:ext cx="3109150" cy="3890008"/>
            <a:chOff x="4689850" y="979358"/>
            <a:chExt cx="3109150" cy="3890008"/>
          </a:xfrm>
        </p:grpSpPr>
        <p:pic>
          <p:nvPicPr>
            <p:cNvPr id="172" name="Google Shape;172;g39b6bfe189f_0_277"/>
            <p:cNvPicPr preferRelativeResize="0"/>
            <p:nvPr/>
          </p:nvPicPr>
          <p:blipFill>
            <a:blip r:embed="rId3">
              <a:alphaModFix/>
            </a:blip>
            <a:stretch>
              <a:fillRect/>
            </a:stretch>
          </p:blipFill>
          <p:spPr>
            <a:xfrm>
              <a:off x="4689850" y="3000550"/>
              <a:ext cx="3109150" cy="1868815"/>
            </a:xfrm>
            <a:prstGeom prst="rect">
              <a:avLst/>
            </a:prstGeom>
            <a:noFill/>
            <a:ln>
              <a:noFill/>
            </a:ln>
          </p:spPr>
        </p:pic>
        <p:pic>
          <p:nvPicPr>
            <p:cNvPr id="173" name="Google Shape;173;g39b6bfe189f_0_277"/>
            <p:cNvPicPr preferRelativeResize="0"/>
            <p:nvPr/>
          </p:nvPicPr>
          <p:blipFill>
            <a:blip r:embed="rId4">
              <a:alphaModFix/>
            </a:blip>
            <a:stretch>
              <a:fillRect/>
            </a:stretch>
          </p:blipFill>
          <p:spPr>
            <a:xfrm>
              <a:off x="4689850" y="979358"/>
              <a:ext cx="3109150" cy="1868792"/>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g39ae4339ae2_0_8"/>
          <p:cNvPicPr preferRelativeResize="0"/>
          <p:nvPr/>
        </p:nvPicPr>
        <p:blipFill>
          <a:blip r:embed="rId3">
            <a:alphaModFix/>
          </a:blip>
          <a:stretch>
            <a:fillRect/>
          </a:stretch>
        </p:blipFill>
        <p:spPr>
          <a:xfrm>
            <a:off x="292450" y="122050"/>
            <a:ext cx="7013774" cy="4688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9ae2a8eace_2_24"/>
          <p:cNvSpPr txBox="1">
            <a:spLocks noGrp="1"/>
          </p:cNvSpPr>
          <p:nvPr>
            <p:ph type="title" idx="4294967295"/>
          </p:nvPr>
        </p:nvSpPr>
        <p:spPr>
          <a:xfrm>
            <a:off x="381000" y="609600"/>
            <a:ext cx="8358266" cy="3477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78571"/>
              <a:buNone/>
            </a:pPr>
            <a:r>
              <a:rPr lang="en-US"/>
              <a:t>Do subscribed customers purchase more frequently?</a:t>
            </a:r>
            <a:endParaRPr/>
          </a:p>
        </p:txBody>
      </p:sp>
      <p:sp>
        <p:nvSpPr>
          <p:cNvPr id="184" name="Google Shape;184;g39ae2a8eace_2_24"/>
          <p:cNvSpPr txBox="1">
            <a:spLocks noGrp="1"/>
          </p:cNvSpPr>
          <p:nvPr>
            <p:ph type="body" idx="4294967295"/>
          </p:nvPr>
        </p:nvSpPr>
        <p:spPr>
          <a:xfrm>
            <a:off x="4857500" y="1421722"/>
            <a:ext cx="3479700" cy="1706100"/>
          </a:xfrm>
          <a:prstGeom prst="rect">
            <a:avLst/>
          </a:prstGeom>
          <a:noFill/>
          <a:ln>
            <a:noFill/>
          </a:ln>
        </p:spPr>
        <p:txBody>
          <a:bodyPr spcFirstLastPara="1" wrap="square" lIns="91425" tIns="91425" rIns="91425" bIns="91425" anchor="t" anchorCtr="0">
            <a:normAutofit/>
          </a:bodyPr>
          <a:lstStyle/>
          <a:p>
            <a:pPr marL="152400" lvl="0" indent="0" algn="l" rtl="0">
              <a:lnSpc>
                <a:spcPct val="130000"/>
              </a:lnSpc>
              <a:spcBef>
                <a:spcPts val="0"/>
              </a:spcBef>
              <a:spcAft>
                <a:spcPts val="0"/>
              </a:spcAft>
              <a:buSzPts val="1200"/>
              <a:buNone/>
            </a:pPr>
            <a:r>
              <a:rPr lang="en-US"/>
              <a:t>Average purchase count stands at 26.08 for subscribed customers vs. 25.08 for unsubscribed. </a:t>
            </a:r>
            <a:endParaRPr/>
          </a:p>
        </p:txBody>
      </p:sp>
      <p:pic>
        <p:nvPicPr>
          <p:cNvPr id="185" name="Google Shape;185;g39ae2a8eace_2_24"/>
          <p:cNvPicPr preferRelativeResize="0"/>
          <p:nvPr/>
        </p:nvPicPr>
        <p:blipFill rotWithShape="1">
          <a:blip r:embed="rId3">
            <a:alphaModFix/>
          </a:blip>
          <a:srcRect/>
          <a:stretch/>
        </p:blipFill>
        <p:spPr>
          <a:xfrm>
            <a:off x="285501" y="1421737"/>
            <a:ext cx="4572000" cy="2743200"/>
          </a:xfrm>
          <a:prstGeom prst="rect">
            <a:avLst/>
          </a:prstGeom>
          <a:noFill/>
          <a:ln>
            <a:noFill/>
          </a:ln>
        </p:spPr>
      </p:pic>
      <p:graphicFrame>
        <p:nvGraphicFramePr>
          <p:cNvPr id="186" name="Google Shape;186;g39ae2a8eace_2_24"/>
          <p:cNvGraphicFramePr/>
          <p:nvPr/>
        </p:nvGraphicFramePr>
        <p:xfrm>
          <a:off x="5027951" y="3593420"/>
          <a:ext cx="3111500" cy="571500"/>
        </p:xfrm>
        <a:graphic>
          <a:graphicData uri="http://schemas.openxmlformats.org/drawingml/2006/table">
            <a:tbl>
              <a:tblPr firstRow="1" bandRow="1">
                <a:noFill/>
                <a:tableStyleId>{FB1331AA-CF8B-4E79-A247-7F1ADCFCCCF5}</a:tableStyleId>
              </a:tblPr>
              <a:tblGrid>
                <a:gridCol w="16891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tblGrid>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Customer_subscription</a:t>
                      </a:r>
                      <a:endParaRPr sz="900" b="1" i="0" u="none" strike="noStrike" cap="none">
                        <a:solidFill>
                          <a:srgbClr val="FFFFFF"/>
                        </a:solidFill>
                        <a:latin typeface="Arial"/>
                        <a:ea typeface="Arial"/>
                        <a:cs typeface="Arial"/>
                        <a:sym typeface="Arial"/>
                      </a:endParaRPr>
                    </a:p>
                  </a:txBody>
                  <a:tcPr marL="9525" marR="9525" marT="9525" marB="0" anchor="b"/>
                </a:tc>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Avg_purchase_count</a:t>
                      </a:r>
                      <a:endParaRPr sz="900" b="1" i="0" u="none" strike="noStrike" cap="none">
                        <a:solidFill>
                          <a:srgbClr val="FFFFFF"/>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0"/>
                  </a:ext>
                </a:extLst>
              </a:tr>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a:t>Subscribed</a:t>
                      </a:r>
                      <a:endParaRPr sz="9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900"/>
                        <a:buFont typeface="Arial"/>
                        <a:buNone/>
                      </a:pPr>
                      <a:r>
                        <a:rPr lang="en-US" sz="900" u="none" strike="noStrike" cap="none"/>
                        <a:t>26.0845</a:t>
                      </a:r>
                      <a:endParaRPr sz="9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1"/>
                  </a:ext>
                </a:extLst>
              </a:tr>
              <a:tr h="190500">
                <a:tc>
                  <a:txBody>
                    <a:bodyPr/>
                    <a:lstStyle/>
                    <a:p>
                      <a:pPr marL="0" marR="0" lvl="0" indent="0" algn="l" rtl="0">
                        <a:lnSpc>
                          <a:spcPct val="100000"/>
                        </a:lnSpc>
                        <a:spcBef>
                          <a:spcPts val="0"/>
                        </a:spcBef>
                        <a:spcAft>
                          <a:spcPts val="0"/>
                        </a:spcAft>
                        <a:buClr>
                          <a:srgbClr val="000000"/>
                        </a:buClr>
                        <a:buSzPts val="900"/>
                        <a:buFont typeface="Arial"/>
                        <a:buNone/>
                      </a:pPr>
                      <a:r>
                        <a:rPr lang="en-US" sz="900" u="none" strike="noStrike" cap="none"/>
                        <a:t>Unsubscribed</a:t>
                      </a:r>
                      <a:endParaRPr sz="900" b="0" i="0" u="none" strike="noStrike" cap="none">
                        <a:solidFill>
                          <a:srgbClr val="000000"/>
                        </a:solidFill>
                        <a:latin typeface="Arial"/>
                        <a:ea typeface="Arial"/>
                        <a:cs typeface="Arial"/>
                        <a:sym typeface="Arial"/>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900"/>
                        <a:buFont typeface="Arial"/>
                        <a:buNone/>
                      </a:pPr>
                      <a:r>
                        <a:rPr lang="en-US" sz="900" u="none" strike="noStrike" cap="none"/>
                        <a:t>25.0804</a:t>
                      </a:r>
                      <a:endParaRPr sz="900" b="0" i="0" u="none" strike="noStrike" cap="none">
                        <a:solidFill>
                          <a:srgbClr val="000000"/>
                        </a:solidFill>
                        <a:latin typeface="Arial"/>
                        <a:ea typeface="Arial"/>
                        <a:cs typeface="Arial"/>
                        <a:sym typeface="Arial"/>
                      </a:endParaRPr>
                    </a:p>
                  </a:txBody>
                  <a:tcPr marL="9525" marR="9525" marT="9525" marB="0" anchor="b"/>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idx="4294967295"/>
          </p:nvPr>
        </p:nvSpPr>
        <p:spPr>
          <a:xfrm>
            <a:off x="256474" y="437031"/>
            <a:ext cx="6960000" cy="5604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78571"/>
              <a:buNone/>
            </a:pPr>
            <a:r>
              <a:rPr lang="en-US">
                <a:latin typeface="Nunito Sans"/>
                <a:ea typeface="Nunito Sans"/>
                <a:cs typeface="Nunito Sans"/>
                <a:sym typeface="Nunito Sans"/>
              </a:rPr>
              <a:t>Subscriber seasonal purchasing patterns</a:t>
            </a:r>
            <a:endParaRPr>
              <a:latin typeface="Nunito Sans"/>
              <a:ea typeface="Nunito Sans"/>
              <a:cs typeface="Nunito Sans"/>
              <a:sym typeface="Nunito Sans"/>
            </a:endParaRPr>
          </a:p>
        </p:txBody>
      </p:sp>
      <p:grpSp>
        <p:nvGrpSpPr>
          <p:cNvPr id="192" name="Google Shape;192;p9"/>
          <p:cNvGrpSpPr/>
          <p:nvPr/>
        </p:nvGrpSpPr>
        <p:grpSpPr>
          <a:xfrm>
            <a:off x="368551" y="1168457"/>
            <a:ext cx="7710954" cy="3694738"/>
            <a:chOff x="152400" y="743800"/>
            <a:chExt cx="8841824" cy="4236599"/>
          </a:xfrm>
        </p:grpSpPr>
        <p:pic>
          <p:nvPicPr>
            <p:cNvPr id="193" name="Google Shape;193;p9"/>
            <p:cNvPicPr preferRelativeResize="0"/>
            <p:nvPr/>
          </p:nvPicPr>
          <p:blipFill>
            <a:blip r:embed="rId3">
              <a:alphaModFix/>
            </a:blip>
            <a:stretch>
              <a:fillRect/>
            </a:stretch>
          </p:blipFill>
          <p:spPr>
            <a:xfrm>
              <a:off x="152400" y="743812"/>
              <a:ext cx="4304176" cy="4188425"/>
            </a:xfrm>
            <a:prstGeom prst="rect">
              <a:avLst/>
            </a:prstGeom>
            <a:noFill/>
            <a:ln>
              <a:noFill/>
            </a:ln>
          </p:spPr>
        </p:pic>
        <p:pic>
          <p:nvPicPr>
            <p:cNvPr id="194" name="Google Shape;194;p9"/>
            <p:cNvPicPr preferRelativeResize="0"/>
            <p:nvPr/>
          </p:nvPicPr>
          <p:blipFill>
            <a:blip r:embed="rId4">
              <a:alphaModFix/>
            </a:blip>
            <a:stretch>
              <a:fillRect/>
            </a:stretch>
          </p:blipFill>
          <p:spPr>
            <a:xfrm>
              <a:off x="4608975" y="743800"/>
              <a:ext cx="4385249" cy="4236599"/>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grpSp>
        <p:nvGrpSpPr>
          <p:cNvPr id="199" name="Google Shape;199;g39ae4339ae2_0_0"/>
          <p:cNvGrpSpPr/>
          <p:nvPr/>
        </p:nvGrpSpPr>
        <p:grpSpPr>
          <a:xfrm>
            <a:off x="351674" y="515475"/>
            <a:ext cx="8187215" cy="3076184"/>
            <a:chOff x="45375" y="0"/>
            <a:chExt cx="8897212" cy="3342951"/>
          </a:xfrm>
        </p:grpSpPr>
        <p:pic>
          <p:nvPicPr>
            <p:cNvPr id="200" name="Google Shape;200;g39ae4339ae2_0_0"/>
            <p:cNvPicPr preferRelativeResize="0"/>
            <p:nvPr/>
          </p:nvPicPr>
          <p:blipFill>
            <a:blip r:embed="rId3">
              <a:alphaModFix/>
            </a:blip>
            <a:stretch>
              <a:fillRect/>
            </a:stretch>
          </p:blipFill>
          <p:spPr>
            <a:xfrm>
              <a:off x="45375" y="0"/>
              <a:ext cx="6213398" cy="3342951"/>
            </a:xfrm>
            <a:prstGeom prst="rect">
              <a:avLst/>
            </a:prstGeom>
            <a:noFill/>
            <a:ln>
              <a:noFill/>
            </a:ln>
          </p:spPr>
        </p:pic>
        <p:pic>
          <p:nvPicPr>
            <p:cNvPr id="201" name="Google Shape;201;g39ae4339ae2_0_0"/>
            <p:cNvPicPr preferRelativeResize="0"/>
            <p:nvPr/>
          </p:nvPicPr>
          <p:blipFill>
            <a:blip r:embed="rId4">
              <a:alphaModFix/>
            </a:blip>
            <a:stretch>
              <a:fillRect/>
            </a:stretch>
          </p:blipFill>
          <p:spPr>
            <a:xfrm>
              <a:off x="6362161" y="0"/>
              <a:ext cx="2580427" cy="2328466"/>
            </a:xfrm>
            <a:prstGeom prst="rect">
              <a:avLst/>
            </a:prstGeom>
            <a:noFill/>
            <a:ln>
              <a:noFill/>
            </a:ln>
          </p:spPr>
        </p:pic>
      </p:grpSp>
      <p:pic>
        <p:nvPicPr>
          <p:cNvPr id="202" name="Google Shape;202;g39ae4339ae2_0_0"/>
          <p:cNvPicPr preferRelativeResize="0"/>
          <p:nvPr/>
        </p:nvPicPr>
        <p:blipFill>
          <a:blip r:embed="rId5">
            <a:alphaModFix/>
          </a:blip>
          <a:stretch>
            <a:fillRect/>
          </a:stretch>
        </p:blipFill>
        <p:spPr>
          <a:xfrm>
            <a:off x="6193525" y="2601200"/>
            <a:ext cx="2698625" cy="2402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9ae2a8eace_2_38"/>
          <p:cNvSpPr txBox="1">
            <a:spLocks noGrp="1"/>
          </p:cNvSpPr>
          <p:nvPr>
            <p:ph type="title" idx="4294967295"/>
          </p:nvPr>
        </p:nvSpPr>
        <p:spPr>
          <a:xfrm>
            <a:off x="381000" y="609600"/>
            <a:ext cx="8358266" cy="3477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00000"/>
              </a:lnSpc>
              <a:spcBef>
                <a:spcPts val="0"/>
              </a:spcBef>
              <a:spcAft>
                <a:spcPts val="0"/>
              </a:spcAft>
              <a:buSzPct val="78571"/>
              <a:buNone/>
            </a:pPr>
            <a:r>
              <a:rPr lang="en-US"/>
              <a:t>Establishing trends in seasonal spikes</a:t>
            </a:r>
            <a:endParaRPr/>
          </a:p>
        </p:txBody>
      </p:sp>
      <p:sp>
        <p:nvSpPr>
          <p:cNvPr id="208" name="Google Shape;208;g39ae2a8eace_2_38"/>
          <p:cNvSpPr txBox="1">
            <a:spLocks noGrp="1"/>
          </p:cNvSpPr>
          <p:nvPr>
            <p:ph type="body" idx="4294967295"/>
          </p:nvPr>
        </p:nvSpPr>
        <p:spPr>
          <a:xfrm>
            <a:off x="381000" y="3987825"/>
            <a:ext cx="7468200" cy="920400"/>
          </a:xfrm>
          <a:prstGeom prst="rect">
            <a:avLst/>
          </a:prstGeom>
          <a:noFill/>
          <a:ln>
            <a:noFill/>
          </a:ln>
        </p:spPr>
        <p:txBody>
          <a:bodyPr spcFirstLastPara="1" wrap="square" lIns="91425" tIns="91425" rIns="91425" bIns="91425" anchor="t" anchorCtr="0">
            <a:normAutofit lnSpcReduction="10000"/>
          </a:bodyPr>
          <a:lstStyle/>
          <a:p>
            <a:pPr marL="457200" lvl="0" indent="-285750" algn="l" rtl="0">
              <a:spcBef>
                <a:spcPts val="0"/>
              </a:spcBef>
              <a:spcAft>
                <a:spcPts val="0"/>
              </a:spcAft>
              <a:buClr>
                <a:srgbClr val="444746"/>
              </a:buClr>
              <a:buSzPts val="900"/>
              <a:buFont typeface="Roboto"/>
              <a:buChar char="●"/>
            </a:pPr>
            <a:r>
              <a:rPr lang="en-US" sz="900">
                <a:solidFill>
                  <a:srgbClr val="444746"/>
                </a:solidFill>
                <a:highlight>
                  <a:srgbClr val="FFFFFF"/>
                </a:highlight>
                <a:latin typeface="Roboto"/>
                <a:ea typeface="Roboto"/>
                <a:cs typeface="Roboto"/>
                <a:sym typeface="Roboto"/>
              </a:rPr>
              <a:t>In Fall and Summer purchases were the highest throughout the season suggesting that most customers shop more midway through the season after potential discounts have been offered and trends have been set.</a:t>
            </a:r>
            <a:endParaRPr sz="900">
              <a:solidFill>
                <a:srgbClr val="444746"/>
              </a:solidFill>
              <a:highlight>
                <a:srgbClr val="FFFFFF"/>
              </a:highlight>
              <a:latin typeface="Roboto"/>
              <a:ea typeface="Roboto"/>
              <a:cs typeface="Roboto"/>
              <a:sym typeface="Roboto"/>
            </a:endParaRPr>
          </a:p>
          <a:p>
            <a:pPr marL="457200" lvl="0" indent="-285750" algn="l" rtl="0">
              <a:spcBef>
                <a:spcPts val="0"/>
              </a:spcBef>
              <a:spcAft>
                <a:spcPts val="0"/>
              </a:spcAft>
              <a:buClr>
                <a:srgbClr val="444746"/>
              </a:buClr>
              <a:buSzPts val="900"/>
              <a:buFont typeface="Roboto"/>
              <a:buChar char="●"/>
            </a:pPr>
            <a:r>
              <a:rPr lang="en-US" sz="900">
                <a:solidFill>
                  <a:srgbClr val="444746"/>
                </a:solidFill>
                <a:highlight>
                  <a:srgbClr val="FFFFFF"/>
                </a:highlight>
                <a:latin typeface="Roboto"/>
                <a:ea typeface="Roboto"/>
                <a:cs typeface="Roboto"/>
                <a:sym typeface="Roboto"/>
              </a:rPr>
              <a:t>Whereas in Spring the highest number of purchases occurred in the last month, suggestion to Marketing for promoting spring trends before the season starts to spike up the sales in the earlier month of the season.</a:t>
            </a:r>
            <a:endParaRPr sz="900">
              <a:solidFill>
                <a:srgbClr val="444746"/>
              </a:solidFill>
              <a:highlight>
                <a:srgbClr val="FFFFFF"/>
              </a:highlight>
              <a:latin typeface="Roboto"/>
              <a:ea typeface="Roboto"/>
              <a:cs typeface="Roboto"/>
              <a:sym typeface="Roboto"/>
            </a:endParaRPr>
          </a:p>
          <a:p>
            <a:pPr marL="457200" lvl="0" indent="-285750" algn="l" rtl="0">
              <a:spcBef>
                <a:spcPts val="0"/>
              </a:spcBef>
              <a:spcAft>
                <a:spcPts val="0"/>
              </a:spcAft>
              <a:buClr>
                <a:srgbClr val="444746"/>
              </a:buClr>
              <a:buSzPts val="900"/>
              <a:buFont typeface="Roboto"/>
              <a:buChar char="●"/>
            </a:pPr>
            <a:r>
              <a:rPr lang="en-US" sz="900">
                <a:solidFill>
                  <a:srgbClr val="444746"/>
                </a:solidFill>
                <a:highlight>
                  <a:srgbClr val="FFFFFF"/>
                </a:highlight>
                <a:latin typeface="Roboto"/>
                <a:ea typeface="Roboto"/>
                <a:cs typeface="Roboto"/>
                <a:sym typeface="Roboto"/>
              </a:rPr>
              <a:t>Lastly, winter sales were the highest in December suggesting success of strong impact from early winter campaigns and promotions.</a:t>
            </a:r>
            <a:endParaRPr sz="900"/>
          </a:p>
        </p:txBody>
      </p:sp>
      <p:pic>
        <p:nvPicPr>
          <p:cNvPr id="209" name="Google Shape;209;g39ae2a8eace_2_38"/>
          <p:cNvPicPr preferRelativeResize="0"/>
          <p:nvPr/>
        </p:nvPicPr>
        <p:blipFill>
          <a:blip r:embed="rId3">
            <a:alphaModFix/>
          </a:blip>
          <a:stretch>
            <a:fillRect/>
          </a:stretch>
        </p:blipFill>
        <p:spPr>
          <a:xfrm>
            <a:off x="616300" y="1229971"/>
            <a:ext cx="4556928" cy="2739000"/>
          </a:xfrm>
          <a:prstGeom prst="rect">
            <a:avLst/>
          </a:prstGeom>
          <a:noFill/>
          <a:ln>
            <a:noFill/>
          </a:ln>
        </p:spPr>
      </p:pic>
      <p:graphicFrame>
        <p:nvGraphicFramePr>
          <p:cNvPr id="210" name="Google Shape;210;g39ae2a8eace_2_38"/>
          <p:cNvGraphicFramePr/>
          <p:nvPr>
            <p:extLst>
              <p:ext uri="{D42A27DB-BD31-4B8C-83A1-F6EECF244321}">
                <p14:modId xmlns:p14="http://schemas.microsoft.com/office/powerpoint/2010/main" val="3903426350"/>
              </p:ext>
            </p:extLst>
          </p:nvPr>
        </p:nvGraphicFramePr>
        <p:xfrm>
          <a:off x="5638274" y="1089471"/>
          <a:ext cx="1841818" cy="2964558"/>
        </p:xfrm>
        <a:graphic>
          <a:graphicData uri="http://schemas.openxmlformats.org/drawingml/2006/table">
            <a:tbl>
              <a:tblPr>
                <a:noFill/>
                <a:tableStyleId>{E9A9AF08-3B43-4BBE-A805-83A6691AED2B}</a:tableStyleId>
              </a:tblPr>
              <a:tblGrid>
                <a:gridCol w="631277">
                  <a:extLst>
                    <a:ext uri="{9D8B030D-6E8A-4147-A177-3AD203B41FA5}">
                      <a16:colId xmlns:a16="http://schemas.microsoft.com/office/drawing/2014/main" val="20000"/>
                    </a:ext>
                  </a:extLst>
                </a:gridCol>
                <a:gridCol w="557960">
                  <a:extLst>
                    <a:ext uri="{9D8B030D-6E8A-4147-A177-3AD203B41FA5}">
                      <a16:colId xmlns:a16="http://schemas.microsoft.com/office/drawing/2014/main" val="20001"/>
                    </a:ext>
                  </a:extLst>
                </a:gridCol>
                <a:gridCol w="652581">
                  <a:extLst>
                    <a:ext uri="{9D8B030D-6E8A-4147-A177-3AD203B41FA5}">
                      <a16:colId xmlns:a16="http://schemas.microsoft.com/office/drawing/2014/main" val="20002"/>
                    </a:ext>
                  </a:extLst>
                </a:gridCol>
              </a:tblGrid>
              <a:tr h="421885">
                <a:tc>
                  <a:txBody>
                    <a:bodyPr/>
                    <a:lstStyle/>
                    <a:p>
                      <a:pPr marL="0" marR="0" lvl="0" indent="0" algn="ctr" rtl="0">
                        <a:lnSpc>
                          <a:spcPct val="100000"/>
                        </a:lnSpc>
                        <a:spcBef>
                          <a:spcPts val="0"/>
                        </a:spcBef>
                        <a:spcAft>
                          <a:spcPts val="0"/>
                        </a:spcAft>
                        <a:buNone/>
                      </a:pPr>
                      <a:r>
                        <a:rPr lang="en-US" sz="800" b="1" dirty="0">
                          <a:solidFill>
                            <a:srgbClr val="FFFFFF"/>
                          </a:solidFill>
                        </a:rPr>
                        <a:t>Seasons</a:t>
                      </a:r>
                      <a:endParaRPr sz="800" b="1" dirty="0">
                        <a:solidFill>
                          <a:srgbClr val="FFFFFF"/>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None/>
                      </a:pPr>
                      <a:r>
                        <a:rPr lang="en-US" sz="800" b="1">
                          <a:solidFill>
                            <a:srgbClr val="FFFFFF"/>
                          </a:solidFill>
                        </a:rPr>
                        <a:t>Months</a:t>
                      </a:r>
                      <a:endParaRPr sz="800" b="1">
                        <a:solidFill>
                          <a:srgbClr val="FFFFFF"/>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None/>
                      </a:pPr>
                      <a:r>
                        <a:rPr lang="en-US" sz="800" b="1">
                          <a:solidFill>
                            <a:srgbClr val="FFFFFF"/>
                          </a:solidFill>
                        </a:rPr>
                        <a:t>Purchase Count</a:t>
                      </a:r>
                      <a:endParaRPr sz="800" b="1">
                        <a:solidFill>
                          <a:srgbClr val="FFFFFF"/>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09107">
                <a:tc rowSpan="3">
                  <a:txBody>
                    <a:bodyPr/>
                    <a:lstStyle/>
                    <a:p>
                      <a:pPr marL="0" marR="0" lvl="0" indent="0" algn="ctr" rtl="0">
                        <a:lnSpc>
                          <a:spcPct val="6000"/>
                        </a:lnSpc>
                        <a:spcBef>
                          <a:spcPts val="0"/>
                        </a:spcBef>
                        <a:spcAft>
                          <a:spcPts val="0"/>
                        </a:spcAft>
                        <a:buNone/>
                      </a:pPr>
                      <a:r>
                        <a:rPr lang="en-US" sz="800"/>
                        <a:t>Fall</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tc>
                  <a:txBody>
                    <a:bodyPr/>
                    <a:lstStyle/>
                    <a:p>
                      <a:pPr marL="0" marR="0" lvl="0" indent="0" algn="ctr" rtl="0">
                        <a:lnSpc>
                          <a:spcPct val="6000"/>
                        </a:lnSpc>
                        <a:spcBef>
                          <a:spcPts val="0"/>
                        </a:spcBef>
                        <a:spcAft>
                          <a:spcPts val="0"/>
                        </a:spcAft>
                        <a:buNone/>
                      </a:pPr>
                      <a:r>
                        <a:rPr lang="en-US" sz="800"/>
                        <a:t>Sep</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tc>
                  <a:txBody>
                    <a:bodyPr/>
                    <a:lstStyle/>
                    <a:p>
                      <a:pPr marL="0" marR="0" lvl="0" indent="0" algn="ctr" rtl="0">
                        <a:lnSpc>
                          <a:spcPct val="6000"/>
                        </a:lnSpc>
                        <a:spcBef>
                          <a:spcPts val="0"/>
                        </a:spcBef>
                        <a:spcAft>
                          <a:spcPts val="0"/>
                        </a:spcAft>
                        <a:buNone/>
                      </a:pPr>
                      <a:r>
                        <a:rPr lang="en-US" sz="800"/>
                        <a:t>315</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extLst>
                  <a:ext uri="{0D108BD9-81ED-4DB2-BD59-A6C34878D82A}">
                    <a16:rowId xmlns:a16="http://schemas.microsoft.com/office/drawing/2014/main" val="10001"/>
                  </a:ext>
                </a:extLst>
              </a:tr>
              <a:tr h="209107">
                <a:tc vMerge="1">
                  <a:txBody>
                    <a:bodyPr/>
                    <a:lstStyle/>
                    <a:p>
                      <a:endParaRPr lang="en-US"/>
                    </a:p>
                  </a:txBody>
                  <a:tcPr/>
                </a:tc>
                <a:tc>
                  <a:txBody>
                    <a:bodyPr/>
                    <a:lstStyle/>
                    <a:p>
                      <a:pPr marL="0" marR="0" lvl="0" indent="0" algn="ctr" rtl="0">
                        <a:lnSpc>
                          <a:spcPct val="6000"/>
                        </a:lnSpc>
                        <a:spcBef>
                          <a:spcPts val="0"/>
                        </a:spcBef>
                        <a:spcAft>
                          <a:spcPts val="0"/>
                        </a:spcAft>
                        <a:buNone/>
                      </a:pPr>
                      <a:r>
                        <a:rPr lang="en-US" sz="800"/>
                        <a:t>Oct</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6000"/>
                        </a:lnSpc>
                        <a:spcBef>
                          <a:spcPts val="0"/>
                        </a:spcBef>
                        <a:spcAft>
                          <a:spcPts val="0"/>
                        </a:spcAft>
                        <a:buNone/>
                      </a:pPr>
                      <a:r>
                        <a:rPr lang="en-US" sz="800"/>
                        <a:t>338</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9107">
                <a:tc vMerge="1">
                  <a:txBody>
                    <a:bodyPr/>
                    <a:lstStyle/>
                    <a:p>
                      <a:endParaRPr lang="en-US"/>
                    </a:p>
                  </a:txBody>
                  <a:tcPr/>
                </a:tc>
                <a:tc>
                  <a:txBody>
                    <a:bodyPr/>
                    <a:lstStyle/>
                    <a:p>
                      <a:pPr marL="0" marR="0" lvl="0" indent="0" algn="ctr" rtl="0">
                        <a:lnSpc>
                          <a:spcPct val="6000"/>
                        </a:lnSpc>
                        <a:spcBef>
                          <a:spcPts val="0"/>
                        </a:spcBef>
                        <a:spcAft>
                          <a:spcPts val="0"/>
                        </a:spcAft>
                        <a:buNone/>
                      </a:pPr>
                      <a:r>
                        <a:rPr lang="en-US" sz="800"/>
                        <a:t>Nov</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tc>
                  <a:txBody>
                    <a:bodyPr/>
                    <a:lstStyle/>
                    <a:p>
                      <a:pPr marL="0" marR="0" lvl="0" indent="0" algn="ctr" rtl="0">
                        <a:lnSpc>
                          <a:spcPct val="6000"/>
                        </a:lnSpc>
                        <a:spcBef>
                          <a:spcPts val="0"/>
                        </a:spcBef>
                        <a:spcAft>
                          <a:spcPts val="0"/>
                        </a:spcAft>
                        <a:buNone/>
                      </a:pPr>
                      <a:r>
                        <a:rPr lang="en-US" sz="800"/>
                        <a:t>322</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extLst>
                  <a:ext uri="{0D108BD9-81ED-4DB2-BD59-A6C34878D82A}">
                    <a16:rowId xmlns:a16="http://schemas.microsoft.com/office/drawing/2014/main" val="10003"/>
                  </a:ext>
                </a:extLst>
              </a:tr>
              <a:tr h="209107">
                <a:tc rowSpan="3">
                  <a:txBody>
                    <a:bodyPr/>
                    <a:lstStyle/>
                    <a:p>
                      <a:pPr marL="0" marR="0" lvl="0" indent="0" algn="ctr" rtl="0">
                        <a:lnSpc>
                          <a:spcPct val="6000"/>
                        </a:lnSpc>
                        <a:spcBef>
                          <a:spcPts val="0"/>
                        </a:spcBef>
                        <a:spcAft>
                          <a:spcPts val="0"/>
                        </a:spcAft>
                        <a:buNone/>
                      </a:pPr>
                      <a:r>
                        <a:rPr lang="en-US" sz="800"/>
                        <a:t>Winter</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6000"/>
                        </a:lnSpc>
                        <a:spcBef>
                          <a:spcPts val="0"/>
                        </a:spcBef>
                        <a:spcAft>
                          <a:spcPts val="0"/>
                        </a:spcAft>
                        <a:buNone/>
                      </a:pPr>
                      <a:r>
                        <a:rPr lang="en-US" sz="800"/>
                        <a:t>Dec</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6000"/>
                        </a:lnSpc>
                        <a:spcBef>
                          <a:spcPts val="0"/>
                        </a:spcBef>
                        <a:spcAft>
                          <a:spcPts val="0"/>
                        </a:spcAft>
                        <a:buNone/>
                      </a:pPr>
                      <a:r>
                        <a:rPr lang="en-US" sz="800"/>
                        <a:t>329</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09107">
                <a:tc vMerge="1">
                  <a:txBody>
                    <a:bodyPr/>
                    <a:lstStyle/>
                    <a:p>
                      <a:endParaRPr lang="en-US"/>
                    </a:p>
                  </a:txBody>
                  <a:tcPr/>
                </a:tc>
                <a:tc>
                  <a:txBody>
                    <a:bodyPr/>
                    <a:lstStyle/>
                    <a:p>
                      <a:pPr marL="0" marR="0" lvl="0" indent="0" algn="ctr" rtl="0">
                        <a:lnSpc>
                          <a:spcPct val="6000"/>
                        </a:lnSpc>
                        <a:spcBef>
                          <a:spcPts val="0"/>
                        </a:spcBef>
                        <a:spcAft>
                          <a:spcPts val="0"/>
                        </a:spcAft>
                        <a:buNone/>
                      </a:pPr>
                      <a:r>
                        <a:rPr lang="en-US" sz="800"/>
                        <a:t>Jan</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tc>
                  <a:txBody>
                    <a:bodyPr/>
                    <a:lstStyle/>
                    <a:p>
                      <a:pPr marL="0" marR="0" lvl="0" indent="0" algn="ctr" rtl="0">
                        <a:lnSpc>
                          <a:spcPct val="6000"/>
                        </a:lnSpc>
                        <a:spcBef>
                          <a:spcPts val="0"/>
                        </a:spcBef>
                        <a:spcAft>
                          <a:spcPts val="0"/>
                        </a:spcAft>
                        <a:buNone/>
                      </a:pPr>
                      <a:r>
                        <a:rPr lang="en-US" sz="800"/>
                        <a:t>319</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extLst>
                  <a:ext uri="{0D108BD9-81ED-4DB2-BD59-A6C34878D82A}">
                    <a16:rowId xmlns:a16="http://schemas.microsoft.com/office/drawing/2014/main" val="10005"/>
                  </a:ext>
                </a:extLst>
              </a:tr>
              <a:tr h="209107">
                <a:tc vMerge="1">
                  <a:txBody>
                    <a:bodyPr/>
                    <a:lstStyle/>
                    <a:p>
                      <a:endParaRPr lang="en-US"/>
                    </a:p>
                  </a:txBody>
                  <a:tcPr/>
                </a:tc>
                <a:tc>
                  <a:txBody>
                    <a:bodyPr/>
                    <a:lstStyle/>
                    <a:p>
                      <a:pPr marL="0" marR="0" lvl="0" indent="0" algn="ctr" rtl="0">
                        <a:lnSpc>
                          <a:spcPct val="6000"/>
                        </a:lnSpc>
                        <a:spcBef>
                          <a:spcPts val="0"/>
                        </a:spcBef>
                        <a:spcAft>
                          <a:spcPts val="0"/>
                        </a:spcAft>
                        <a:buNone/>
                      </a:pPr>
                      <a:r>
                        <a:rPr lang="en-US" sz="800"/>
                        <a:t>Feb</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6000"/>
                        </a:lnSpc>
                        <a:spcBef>
                          <a:spcPts val="0"/>
                        </a:spcBef>
                        <a:spcAft>
                          <a:spcPts val="0"/>
                        </a:spcAft>
                        <a:buNone/>
                      </a:pPr>
                      <a:r>
                        <a:rPr lang="en-US" sz="800"/>
                        <a:t>323</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09107">
                <a:tc rowSpan="3">
                  <a:txBody>
                    <a:bodyPr/>
                    <a:lstStyle/>
                    <a:p>
                      <a:pPr marL="0" lvl="0" indent="0" algn="ctr" rtl="0">
                        <a:lnSpc>
                          <a:spcPct val="6000"/>
                        </a:lnSpc>
                        <a:spcBef>
                          <a:spcPts val="0"/>
                        </a:spcBef>
                        <a:spcAft>
                          <a:spcPts val="0"/>
                        </a:spcAft>
                        <a:buNone/>
                      </a:pPr>
                      <a:r>
                        <a:rPr lang="en-US" sz="800"/>
                        <a:t>Spring</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tc>
                  <a:txBody>
                    <a:bodyPr/>
                    <a:lstStyle/>
                    <a:p>
                      <a:pPr marL="0" marR="0" lvl="0" indent="0" algn="ctr" rtl="0">
                        <a:lnSpc>
                          <a:spcPct val="6000"/>
                        </a:lnSpc>
                        <a:spcBef>
                          <a:spcPts val="0"/>
                        </a:spcBef>
                        <a:spcAft>
                          <a:spcPts val="0"/>
                        </a:spcAft>
                        <a:buNone/>
                      </a:pPr>
                      <a:r>
                        <a:rPr lang="en-US" sz="800"/>
                        <a:t>Mar</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tc>
                  <a:txBody>
                    <a:bodyPr/>
                    <a:lstStyle/>
                    <a:p>
                      <a:pPr marL="0" marR="0" lvl="0" indent="0" algn="ctr" rtl="0">
                        <a:lnSpc>
                          <a:spcPct val="6000"/>
                        </a:lnSpc>
                        <a:spcBef>
                          <a:spcPts val="0"/>
                        </a:spcBef>
                        <a:spcAft>
                          <a:spcPts val="0"/>
                        </a:spcAft>
                        <a:buNone/>
                      </a:pPr>
                      <a:r>
                        <a:rPr lang="en-US" sz="800"/>
                        <a:t>311</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extLst>
                  <a:ext uri="{0D108BD9-81ED-4DB2-BD59-A6C34878D82A}">
                    <a16:rowId xmlns:a16="http://schemas.microsoft.com/office/drawing/2014/main" val="10007"/>
                  </a:ext>
                </a:extLst>
              </a:tr>
              <a:tr h="209107">
                <a:tc vMerge="1">
                  <a:txBody>
                    <a:bodyPr/>
                    <a:lstStyle/>
                    <a:p>
                      <a:endParaRPr lang="en-US"/>
                    </a:p>
                  </a:txBody>
                  <a:tcPr/>
                </a:tc>
                <a:tc>
                  <a:txBody>
                    <a:bodyPr/>
                    <a:lstStyle/>
                    <a:p>
                      <a:pPr marL="0" marR="0" lvl="0" indent="0" algn="ctr" rtl="0">
                        <a:lnSpc>
                          <a:spcPct val="6000"/>
                        </a:lnSpc>
                        <a:spcBef>
                          <a:spcPts val="0"/>
                        </a:spcBef>
                        <a:spcAft>
                          <a:spcPts val="0"/>
                        </a:spcAft>
                        <a:buNone/>
                      </a:pPr>
                      <a:r>
                        <a:rPr lang="en-US" sz="800"/>
                        <a:t>Apr</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6000"/>
                        </a:lnSpc>
                        <a:spcBef>
                          <a:spcPts val="0"/>
                        </a:spcBef>
                        <a:spcAft>
                          <a:spcPts val="0"/>
                        </a:spcAft>
                        <a:buNone/>
                      </a:pPr>
                      <a:r>
                        <a:rPr lang="en-US" sz="800"/>
                        <a:t>338</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09107">
                <a:tc vMerge="1">
                  <a:txBody>
                    <a:bodyPr/>
                    <a:lstStyle/>
                    <a:p>
                      <a:endParaRPr lang="en-US"/>
                    </a:p>
                  </a:txBody>
                  <a:tcPr/>
                </a:tc>
                <a:tc>
                  <a:txBody>
                    <a:bodyPr/>
                    <a:lstStyle/>
                    <a:p>
                      <a:pPr marL="0" marR="0" lvl="0" indent="0" algn="ctr" rtl="0">
                        <a:lnSpc>
                          <a:spcPct val="6000"/>
                        </a:lnSpc>
                        <a:spcBef>
                          <a:spcPts val="0"/>
                        </a:spcBef>
                        <a:spcAft>
                          <a:spcPts val="0"/>
                        </a:spcAft>
                        <a:buNone/>
                      </a:pPr>
                      <a:r>
                        <a:rPr lang="en-US" sz="800"/>
                        <a:t>May</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tc>
                  <a:txBody>
                    <a:bodyPr/>
                    <a:lstStyle/>
                    <a:p>
                      <a:pPr marL="0" marR="0" lvl="0" indent="0" algn="ctr" rtl="0">
                        <a:lnSpc>
                          <a:spcPct val="6000"/>
                        </a:lnSpc>
                        <a:spcBef>
                          <a:spcPts val="0"/>
                        </a:spcBef>
                        <a:spcAft>
                          <a:spcPts val="0"/>
                        </a:spcAft>
                        <a:buNone/>
                      </a:pPr>
                      <a:r>
                        <a:rPr lang="en-US" sz="800"/>
                        <a:t>350</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extLst>
                  <a:ext uri="{0D108BD9-81ED-4DB2-BD59-A6C34878D82A}">
                    <a16:rowId xmlns:a16="http://schemas.microsoft.com/office/drawing/2014/main" val="10009"/>
                  </a:ext>
                </a:extLst>
              </a:tr>
              <a:tr h="209107">
                <a:tc rowSpan="3">
                  <a:txBody>
                    <a:bodyPr/>
                    <a:lstStyle/>
                    <a:p>
                      <a:pPr marL="0" lvl="0" indent="0" algn="ctr" rtl="0">
                        <a:lnSpc>
                          <a:spcPct val="6000"/>
                        </a:lnSpc>
                        <a:spcBef>
                          <a:spcPts val="0"/>
                        </a:spcBef>
                        <a:spcAft>
                          <a:spcPts val="0"/>
                        </a:spcAft>
                        <a:buNone/>
                      </a:pPr>
                      <a:r>
                        <a:rPr lang="en-US" sz="800"/>
                        <a:t>Summer</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6000"/>
                        </a:lnSpc>
                        <a:spcBef>
                          <a:spcPts val="0"/>
                        </a:spcBef>
                        <a:spcAft>
                          <a:spcPts val="0"/>
                        </a:spcAft>
                        <a:buNone/>
                      </a:pPr>
                      <a:r>
                        <a:rPr lang="en-US" sz="800"/>
                        <a:t>Jun</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6000"/>
                        </a:lnSpc>
                        <a:spcBef>
                          <a:spcPts val="0"/>
                        </a:spcBef>
                        <a:spcAft>
                          <a:spcPts val="0"/>
                        </a:spcAft>
                        <a:buNone/>
                      </a:pPr>
                      <a:r>
                        <a:rPr lang="en-US" sz="800"/>
                        <a:t>303</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9107">
                <a:tc vMerge="1">
                  <a:txBody>
                    <a:bodyPr/>
                    <a:lstStyle/>
                    <a:p>
                      <a:endParaRPr lang="en-US"/>
                    </a:p>
                  </a:txBody>
                  <a:tcPr/>
                </a:tc>
                <a:tc>
                  <a:txBody>
                    <a:bodyPr/>
                    <a:lstStyle/>
                    <a:p>
                      <a:pPr marL="0" marR="0" lvl="0" indent="0" algn="ctr" rtl="0">
                        <a:lnSpc>
                          <a:spcPct val="6000"/>
                        </a:lnSpc>
                        <a:spcBef>
                          <a:spcPts val="0"/>
                        </a:spcBef>
                        <a:spcAft>
                          <a:spcPts val="0"/>
                        </a:spcAft>
                        <a:buNone/>
                      </a:pPr>
                      <a:r>
                        <a:rPr lang="en-US" sz="800"/>
                        <a:t>Jul</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tc>
                  <a:txBody>
                    <a:bodyPr/>
                    <a:lstStyle/>
                    <a:p>
                      <a:pPr marL="0" marR="0" lvl="0" indent="0" algn="ctr" rtl="0">
                        <a:lnSpc>
                          <a:spcPct val="6000"/>
                        </a:lnSpc>
                        <a:spcBef>
                          <a:spcPts val="0"/>
                        </a:spcBef>
                        <a:spcAft>
                          <a:spcPts val="0"/>
                        </a:spcAft>
                        <a:buNone/>
                      </a:pPr>
                      <a:r>
                        <a:rPr lang="en-US" sz="800"/>
                        <a:t>344</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E8"/>
                    </a:solidFill>
                  </a:tcPr>
                </a:tc>
                <a:extLst>
                  <a:ext uri="{0D108BD9-81ED-4DB2-BD59-A6C34878D82A}">
                    <a16:rowId xmlns:a16="http://schemas.microsoft.com/office/drawing/2014/main" val="10011"/>
                  </a:ext>
                </a:extLst>
              </a:tr>
              <a:tr h="209107">
                <a:tc vMerge="1">
                  <a:txBody>
                    <a:bodyPr/>
                    <a:lstStyle/>
                    <a:p>
                      <a:endParaRPr lang="en-US"/>
                    </a:p>
                  </a:txBody>
                  <a:tcPr/>
                </a:tc>
                <a:tc>
                  <a:txBody>
                    <a:bodyPr/>
                    <a:lstStyle/>
                    <a:p>
                      <a:pPr marL="0" marR="0" lvl="0" indent="0" algn="ctr" rtl="0">
                        <a:lnSpc>
                          <a:spcPct val="6000"/>
                        </a:lnSpc>
                        <a:spcBef>
                          <a:spcPts val="0"/>
                        </a:spcBef>
                        <a:spcAft>
                          <a:spcPts val="0"/>
                        </a:spcAft>
                        <a:buNone/>
                      </a:pPr>
                      <a:r>
                        <a:rPr lang="en-US" sz="800"/>
                        <a:t>Aug</a:t>
                      </a:r>
                      <a:endParaRPr sz="8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6000"/>
                        </a:lnSpc>
                        <a:spcBef>
                          <a:spcPts val="0"/>
                        </a:spcBef>
                        <a:spcAft>
                          <a:spcPts val="0"/>
                        </a:spcAft>
                        <a:buNone/>
                      </a:pPr>
                      <a:r>
                        <a:rPr lang="en-US" sz="800" dirty="0"/>
                        <a:t>308</a:t>
                      </a:r>
                      <a:endParaRPr sz="800"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Summary Conclusions</a:t>
            </a:r>
            <a:endParaRPr b="0">
              <a:latin typeface="Nunito Sans"/>
              <a:ea typeface="Nunito Sans"/>
              <a:cs typeface="Nunito Sans"/>
              <a:sym typeface="Nunito Sans"/>
            </a:endParaRPr>
          </a:p>
        </p:txBody>
      </p:sp>
      <p:sp>
        <p:nvSpPr>
          <p:cNvPr id="216" name="Google Shape;216;p1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fontScale="70000" lnSpcReduction="20000"/>
          </a:bodyPr>
          <a:lstStyle/>
          <a:p>
            <a:pPr marL="0" lvl="0" indent="0" algn="l" rtl="0">
              <a:lnSpc>
                <a:spcPct val="100000"/>
              </a:lnSpc>
              <a:spcBef>
                <a:spcPts val="0"/>
              </a:spcBef>
              <a:spcAft>
                <a:spcPts val="0"/>
              </a:spcAft>
              <a:buClr>
                <a:schemeClr val="dk1"/>
              </a:buClr>
              <a:buFont typeface="Arial"/>
              <a:buNone/>
            </a:pPr>
            <a:r>
              <a:rPr lang="en-US" sz="1200" b="1" u="sng">
                <a:solidFill>
                  <a:schemeClr val="dk1"/>
                </a:solidFill>
                <a:latin typeface="Nunito Sans"/>
                <a:ea typeface="Nunito Sans"/>
                <a:cs typeface="Nunito Sans"/>
                <a:sym typeface="Nunito Sans"/>
              </a:rPr>
              <a:t>Was our Target Purpose met?</a:t>
            </a:r>
            <a:endParaRPr>
              <a:solidFill>
                <a:schemeClr val="dk1"/>
              </a:solidFill>
            </a:endParaRPr>
          </a:p>
          <a:p>
            <a:pPr marL="0" lvl="0" indent="0" algn="l" rtl="0">
              <a:lnSpc>
                <a:spcPct val="100000"/>
              </a:lnSpc>
              <a:spcBef>
                <a:spcPts val="0"/>
              </a:spcBef>
              <a:spcAft>
                <a:spcPts val="0"/>
              </a:spcAft>
              <a:buClr>
                <a:schemeClr val="dk1"/>
              </a:buClr>
              <a:buFont typeface="Arial"/>
              <a:buNone/>
            </a:pPr>
            <a:endParaRPr sz="1200" b="1" u="sng">
              <a:solidFill>
                <a:schemeClr val="dk1"/>
              </a:solidFill>
              <a:latin typeface="Nunito Sans"/>
              <a:ea typeface="Nunito Sans"/>
              <a:cs typeface="Nunito Sans"/>
              <a:sym typeface="Nunito Sans"/>
            </a:endParaRPr>
          </a:p>
          <a:p>
            <a:pPr marL="0" lvl="0" indent="0" algn="l" rtl="0">
              <a:lnSpc>
                <a:spcPct val="100000"/>
              </a:lnSpc>
              <a:spcBef>
                <a:spcPts val="0"/>
              </a:spcBef>
              <a:spcAft>
                <a:spcPts val="0"/>
              </a:spcAft>
              <a:buClr>
                <a:schemeClr val="dk1"/>
              </a:buClr>
              <a:buFont typeface="Arial"/>
              <a:buNone/>
            </a:pPr>
            <a:r>
              <a:rPr lang="en-US" sz="1200" b="1" u="sng">
                <a:solidFill>
                  <a:schemeClr val="dk1"/>
                </a:solidFill>
                <a:latin typeface="Nunito Sans"/>
                <a:ea typeface="Nunito Sans"/>
                <a:cs typeface="Nunito Sans"/>
                <a:sym typeface="Nunito Sans"/>
              </a:rPr>
              <a:t>The Head of Sales would like to…</a:t>
            </a:r>
            <a:endParaRPr u="sng">
              <a:solidFill>
                <a:schemeClr val="dk1"/>
              </a:solidFill>
            </a:endParaRPr>
          </a:p>
          <a:p>
            <a:pPr marL="0" lvl="0" indent="0" algn="l" rtl="0">
              <a:lnSpc>
                <a:spcPct val="100000"/>
              </a:lnSpc>
              <a:spcBef>
                <a:spcPts val="0"/>
              </a:spcBef>
              <a:spcAft>
                <a:spcPts val="0"/>
              </a:spcAft>
              <a:buClr>
                <a:schemeClr val="dk1"/>
              </a:buClr>
              <a:buFont typeface="Arial"/>
              <a:buNone/>
            </a:pPr>
            <a:endParaRPr sz="1200">
              <a:solidFill>
                <a:schemeClr val="dk1"/>
              </a:solidFill>
              <a:latin typeface="Nunito Sans"/>
              <a:ea typeface="Nunito Sans"/>
              <a:cs typeface="Nunito Sans"/>
              <a:sym typeface="Nunito Sans"/>
            </a:endParaRPr>
          </a:p>
          <a:p>
            <a:pPr marL="0" lvl="0" indent="0" algn="l" rtl="0">
              <a:lnSpc>
                <a:spcPct val="100000"/>
              </a:lnSpc>
              <a:spcBef>
                <a:spcPts val="0"/>
              </a:spcBef>
              <a:spcAft>
                <a:spcPts val="0"/>
              </a:spcAft>
              <a:buNone/>
            </a:pPr>
            <a:r>
              <a:rPr lang="en-US" sz="1200" b="1">
                <a:solidFill>
                  <a:schemeClr val="dk1"/>
                </a:solidFill>
                <a:latin typeface="Nunito Sans"/>
                <a:ea typeface="Nunito Sans"/>
                <a:cs typeface="Nunito Sans"/>
                <a:sym typeface="Nunito Sans"/>
              </a:rPr>
              <a:t>Target 1</a:t>
            </a:r>
            <a:r>
              <a:rPr lang="en-US" sz="1200">
                <a:solidFill>
                  <a:schemeClr val="dk1"/>
                </a:solidFill>
                <a:latin typeface="Nunito Sans"/>
                <a:ea typeface="Nunito Sans"/>
                <a:cs typeface="Nunito Sans"/>
                <a:sym typeface="Nunito Sans"/>
              </a:rPr>
              <a:t>: Understand their consumer demographic trends to establish a sales strategy for expansion of product lines</a:t>
            </a:r>
            <a:endParaRPr sz="1200">
              <a:solidFill>
                <a:schemeClr val="dk1"/>
              </a:solidFill>
              <a:latin typeface="Nunito Sans"/>
              <a:ea typeface="Nunito Sans"/>
              <a:cs typeface="Nunito Sans"/>
              <a:sym typeface="Nunito Sans"/>
            </a:endParaRPr>
          </a:p>
          <a:p>
            <a:pPr marL="0" lvl="0" indent="0" algn="just" rtl="0">
              <a:lnSpc>
                <a:spcPct val="100000"/>
              </a:lnSpc>
              <a:spcBef>
                <a:spcPts val="0"/>
              </a:spcBef>
              <a:spcAft>
                <a:spcPts val="0"/>
              </a:spcAft>
              <a:buClr>
                <a:schemeClr val="dk1"/>
              </a:buClr>
              <a:buSzPct val="91666"/>
              <a:buFont typeface="Arial"/>
              <a:buNone/>
            </a:pPr>
            <a:r>
              <a:rPr lang="en-US" b="1">
                <a:solidFill>
                  <a:srgbClr val="3C78D8"/>
                </a:solidFill>
                <a:latin typeface="Nunito Sans"/>
                <a:ea typeface="Nunito Sans"/>
                <a:cs typeface="Nunito Sans"/>
                <a:sym typeface="Nunito Sans"/>
              </a:rPr>
              <a:t>Recommendation 1:</a:t>
            </a:r>
            <a:r>
              <a:rPr lang="en-US" sz="1200">
                <a:solidFill>
                  <a:schemeClr val="dk1"/>
                </a:solidFill>
                <a:latin typeface="Nunito Sans"/>
                <a:ea typeface="Nunito Sans"/>
                <a:cs typeface="Nunito Sans"/>
                <a:sym typeface="Nunito Sans"/>
              </a:rPr>
              <a:t> Focus product line expansion on the 36–55 age group, who show the highest total spend, and diversify offerings for female customers, who currently purchase less across all categories. Tailor product development to align with these underserved yet high-potential segments.</a:t>
            </a:r>
            <a:endParaRPr sz="1200">
              <a:solidFill>
                <a:schemeClr val="dk1"/>
              </a:solidFill>
              <a:latin typeface="Nunito Sans"/>
              <a:ea typeface="Nunito Sans"/>
              <a:cs typeface="Nunito Sans"/>
              <a:sym typeface="Nunito Sans"/>
            </a:endParaRPr>
          </a:p>
          <a:p>
            <a:pPr marL="0" lvl="0" indent="0" algn="l" rtl="0">
              <a:lnSpc>
                <a:spcPct val="100000"/>
              </a:lnSpc>
              <a:spcBef>
                <a:spcPts val="1200"/>
              </a:spcBef>
              <a:spcAft>
                <a:spcPts val="0"/>
              </a:spcAft>
              <a:buNone/>
            </a:pPr>
            <a:r>
              <a:rPr lang="en-US" sz="1200" b="1">
                <a:solidFill>
                  <a:schemeClr val="dk1"/>
                </a:solidFill>
                <a:latin typeface="Nunito Sans"/>
                <a:ea typeface="Nunito Sans"/>
                <a:cs typeface="Nunito Sans"/>
                <a:sym typeface="Nunito Sans"/>
              </a:rPr>
              <a:t>Target 2</a:t>
            </a:r>
            <a:r>
              <a:rPr lang="en-US" sz="1200">
                <a:solidFill>
                  <a:schemeClr val="dk1"/>
                </a:solidFill>
                <a:latin typeface="Nunito Sans"/>
                <a:ea typeface="Nunito Sans"/>
                <a:cs typeface="Nunito Sans"/>
                <a:sym typeface="Nunito Sans"/>
              </a:rPr>
              <a:t>: Set promotions by seasonal trends</a:t>
            </a:r>
            <a:endParaRPr sz="1200">
              <a:solidFill>
                <a:schemeClr val="dk1"/>
              </a:solidFill>
              <a:latin typeface="Nunito Sans"/>
              <a:ea typeface="Nunito Sans"/>
              <a:cs typeface="Nunito Sans"/>
              <a:sym typeface="Nunito Sans"/>
            </a:endParaRPr>
          </a:p>
          <a:p>
            <a:pPr marL="0" lvl="0" indent="0" algn="just" rtl="0">
              <a:lnSpc>
                <a:spcPct val="100000"/>
              </a:lnSpc>
              <a:spcBef>
                <a:spcPts val="0"/>
              </a:spcBef>
              <a:spcAft>
                <a:spcPts val="0"/>
              </a:spcAft>
              <a:buClr>
                <a:schemeClr val="dk1"/>
              </a:buClr>
              <a:buSzPct val="91666"/>
              <a:buFont typeface="Arial"/>
              <a:buNone/>
            </a:pPr>
            <a:r>
              <a:rPr lang="en-US" b="1">
                <a:solidFill>
                  <a:srgbClr val="3C78D8"/>
                </a:solidFill>
                <a:latin typeface="Nunito Sans"/>
                <a:ea typeface="Nunito Sans"/>
                <a:cs typeface="Nunito Sans"/>
                <a:sym typeface="Nunito Sans"/>
              </a:rPr>
              <a:t>Recommendation 2:</a:t>
            </a:r>
            <a:r>
              <a:rPr lang="en-US" sz="1200">
                <a:solidFill>
                  <a:schemeClr val="dk1"/>
                </a:solidFill>
                <a:latin typeface="Nunito Sans"/>
                <a:ea typeface="Nunito Sans"/>
                <a:cs typeface="Nunito Sans"/>
                <a:sym typeface="Nunito Sans"/>
              </a:rPr>
              <a:t> Start with promotions one month prior to the season so that we can increase the early season sales.</a:t>
            </a:r>
            <a:endParaRPr sz="1200">
              <a:solidFill>
                <a:schemeClr val="dk1"/>
              </a:solidFill>
              <a:latin typeface="Nunito Sans"/>
              <a:ea typeface="Nunito Sans"/>
              <a:cs typeface="Nunito Sans"/>
              <a:sym typeface="Nunito Sans"/>
            </a:endParaRPr>
          </a:p>
          <a:p>
            <a:pPr marL="0" lvl="0" indent="0" algn="l" rtl="0">
              <a:lnSpc>
                <a:spcPct val="100000"/>
              </a:lnSpc>
              <a:spcBef>
                <a:spcPts val="1200"/>
              </a:spcBef>
              <a:spcAft>
                <a:spcPts val="0"/>
              </a:spcAft>
              <a:buClr>
                <a:schemeClr val="dk1"/>
              </a:buClr>
              <a:buSzPct val="91666"/>
              <a:buFont typeface="Arial"/>
              <a:buNone/>
            </a:pPr>
            <a:r>
              <a:rPr lang="en-US" sz="1200" b="1">
                <a:solidFill>
                  <a:schemeClr val="dk1"/>
                </a:solidFill>
                <a:latin typeface="Nunito Sans"/>
                <a:ea typeface="Nunito Sans"/>
                <a:cs typeface="Nunito Sans"/>
                <a:sym typeface="Nunito Sans"/>
              </a:rPr>
              <a:t>The Head of OPS would like to…</a:t>
            </a:r>
            <a:endParaRPr sz="1200" b="1">
              <a:solidFill>
                <a:schemeClr val="dk1"/>
              </a:solidFill>
              <a:latin typeface="Nunito Sans"/>
              <a:ea typeface="Nunito Sans"/>
              <a:cs typeface="Nunito Sans"/>
              <a:sym typeface="Nunito Sans"/>
            </a:endParaRPr>
          </a:p>
          <a:p>
            <a:pPr marL="0" lvl="0" indent="0" algn="l" rtl="0">
              <a:lnSpc>
                <a:spcPct val="100000"/>
              </a:lnSpc>
              <a:spcBef>
                <a:spcPts val="0"/>
              </a:spcBef>
              <a:spcAft>
                <a:spcPts val="0"/>
              </a:spcAft>
              <a:buClr>
                <a:schemeClr val="dk1"/>
              </a:buClr>
              <a:buSzPct val="91666"/>
              <a:buFont typeface="Arial"/>
              <a:buNone/>
            </a:pPr>
            <a:endParaRPr sz="1200" b="1" u="sng">
              <a:solidFill>
                <a:schemeClr val="dk1"/>
              </a:solidFill>
              <a:latin typeface="Nunito Sans"/>
              <a:ea typeface="Nunito Sans"/>
              <a:cs typeface="Nunito Sans"/>
              <a:sym typeface="Nunito Sans"/>
            </a:endParaRPr>
          </a:p>
          <a:p>
            <a:pPr marL="0" lvl="0" indent="0" algn="l" rtl="0">
              <a:lnSpc>
                <a:spcPct val="100000"/>
              </a:lnSpc>
              <a:spcBef>
                <a:spcPts val="0"/>
              </a:spcBef>
              <a:spcAft>
                <a:spcPts val="0"/>
              </a:spcAft>
              <a:buNone/>
            </a:pPr>
            <a:r>
              <a:rPr lang="en-US" sz="1200" b="1">
                <a:solidFill>
                  <a:schemeClr val="dk1"/>
                </a:solidFill>
                <a:latin typeface="Nunito Sans"/>
                <a:ea typeface="Nunito Sans"/>
                <a:cs typeface="Nunito Sans"/>
                <a:sym typeface="Nunito Sans"/>
              </a:rPr>
              <a:t>Target 3</a:t>
            </a:r>
            <a:r>
              <a:rPr lang="en-US" sz="1200">
                <a:solidFill>
                  <a:schemeClr val="dk1"/>
                </a:solidFill>
                <a:latin typeface="Nunito Sans"/>
                <a:ea typeface="Nunito Sans"/>
                <a:cs typeface="Nunito Sans"/>
                <a:sym typeface="Nunito Sans"/>
              </a:rPr>
              <a:t>: Set Free Shipping on orders over certain threshold</a:t>
            </a:r>
            <a:endParaRPr sz="1200">
              <a:solidFill>
                <a:schemeClr val="dk1"/>
              </a:solidFill>
              <a:latin typeface="Nunito Sans"/>
              <a:ea typeface="Nunito Sans"/>
              <a:cs typeface="Nunito Sans"/>
              <a:sym typeface="Nunito Sans"/>
            </a:endParaRPr>
          </a:p>
          <a:p>
            <a:pPr marL="0" lvl="0" indent="0" algn="just" rtl="0">
              <a:lnSpc>
                <a:spcPct val="100000"/>
              </a:lnSpc>
              <a:spcBef>
                <a:spcPts val="0"/>
              </a:spcBef>
              <a:spcAft>
                <a:spcPts val="0"/>
              </a:spcAft>
              <a:buClr>
                <a:schemeClr val="dk1"/>
              </a:buClr>
              <a:buSzPct val="91666"/>
              <a:buFont typeface="Arial"/>
              <a:buNone/>
            </a:pPr>
            <a:r>
              <a:rPr lang="en-US" b="1">
                <a:solidFill>
                  <a:srgbClr val="3C78D8"/>
                </a:solidFill>
                <a:latin typeface="Nunito Sans"/>
                <a:ea typeface="Nunito Sans"/>
                <a:cs typeface="Nunito Sans"/>
                <a:sym typeface="Nunito Sans"/>
              </a:rPr>
              <a:t>Recommendation 3:</a:t>
            </a:r>
            <a:r>
              <a:rPr lang="en-US" sz="1200">
                <a:solidFill>
                  <a:schemeClr val="dk1"/>
                </a:solidFill>
                <a:latin typeface="Nunito Sans"/>
                <a:ea typeface="Nunito Sans"/>
                <a:cs typeface="Nunito Sans"/>
                <a:sym typeface="Nunito Sans"/>
              </a:rPr>
              <a:t> As a wholesaler with average sales of 26 units per item we suggest free shipping on orders with MOQ of 10 per item. </a:t>
            </a:r>
            <a:endParaRPr sz="1200">
              <a:solidFill>
                <a:schemeClr val="dk1"/>
              </a:solidFill>
              <a:latin typeface="Nunito Sans"/>
              <a:ea typeface="Nunito Sans"/>
              <a:cs typeface="Nunito Sans"/>
              <a:sym typeface="Nunito Sans"/>
            </a:endParaRPr>
          </a:p>
          <a:p>
            <a:pPr marL="0" lvl="0" indent="0" algn="just" rtl="0">
              <a:lnSpc>
                <a:spcPct val="100000"/>
              </a:lnSpc>
              <a:spcBef>
                <a:spcPts val="1200"/>
              </a:spcBef>
              <a:spcAft>
                <a:spcPts val="0"/>
              </a:spcAft>
              <a:buClr>
                <a:schemeClr val="dk1"/>
              </a:buClr>
              <a:buSzPct val="91666"/>
              <a:buFont typeface="Arial"/>
              <a:buNone/>
            </a:pPr>
            <a:r>
              <a:rPr lang="en-US" sz="1200" b="1">
                <a:solidFill>
                  <a:schemeClr val="dk1"/>
                </a:solidFill>
                <a:latin typeface="Nunito Sans"/>
                <a:ea typeface="Nunito Sans"/>
                <a:cs typeface="Nunito Sans"/>
                <a:sym typeface="Nunito Sans"/>
              </a:rPr>
              <a:t>Target 4</a:t>
            </a:r>
            <a:r>
              <a:rPr lang="en-US" sz="1200">
                <a:solidFill>
                  <a:schemeClr val="dk1"/>
                </a:solidFill>
                <a:latin typeface="Nunito Sans"/>
                <a:ea typeface="Nunito Sans"/>
                <a:cs typeface="Nunito Sans"/>
                <a:sym typeface="Nunito Sans"/>
              </a:rPr>
              <a:t>: Determine whether AfterPay is a sought after payment method</a:t>
            </a:r>
            <a:endParaRPr sz="1200">
              <a:solidFill>
                <a:schemeClr val="dk1"/>
              </a:solidFill>
              <a:latin typeface="Nunito Sans"/>
              <a:ea typeface="Nunito Sans"/>
              <a:cs typeface="Nunito Sans"/>
              <a:sym typeface="Nunito Sans"/>
            </a:endParaRPr>
          </a:p>
          <a:p>
            <a:pPr marL="0" lvl="0" indent="0" algn="just" rtl="0">
              <a:lnSpc>
                <a:spcPct val="100000"/>
              </a:lnSpc>
              <a:spcBef>
                <a:spcPts val="1200"/>
              </a:spcBef>
              <a:spcAft>
                <a:spcPts val="1200"/>
              </a:spcAft>
              <a:buClr>
                <a:schemeClr val="dk1"/>
              </a:buClr>
              <a:buSzPct val="91666"/>
              <a:buFont typeface="Arial"/>
              <a:buNone/>
            </a:pPr>
            <a:r>
              <a:rPr lang="en-US" b="1">
                <a:solidFill>
                  <a:srgbClr val="3C78D8"/>
                </a:solidFill>
                <a:latin typeface="Nunito Sans"/>
                <a:ea typeface="Nunito Sans"/>
                <a:cs typeface="Nunito Sans"/>
                <a:sym typeface="Nunito Sans"/>
              </a:rPr>
              <a:t>Recommendation 4:</a:t>
            </a:r>
            <a:r>
              <a:rPr lang="en-US" sz="1200">
                <a:solidFill>
                  <a:schemeClr val="dk1"/>
                </a:solidFill>
                <a:latin typeface="Nunito Sans"/>
                <a:ea typeface="Nunito Sans"/>
                <a:cs typeface="Nunito Sans"/>
                <a:sym typeface="Nunito Sans"/>
              </a:rPr>
              <a:t> In order to motivate Early Millennials,  Baby Boomers &amp; The Generation Jones and support their preferred payment usage by increasing payment options on credit; we would recommend to offer AfterPay; buy more pay later. </a:t>
            </a:r>
            <a:endParaRPr sz="1200">
              <a:solidFill>
                <a:schemeClr val="dk1"/>
              </a:solidFill>
              <a:latin typeface="Nunito Sans"/>
              <a:ea typeface="Nunito Sans"/>
              <a:cs typeface="Nunito Sans"/>
              <a:sym typeface="Nunito Sans"/>
            </a:endParaRPr>
          </a:p>
        </p:txBody>
      </p:sp>
      <p:sp>
        <p:nvSpPr>
          <p:cNvPr id="217" name="Google Shape;217;p11"/>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fontScale="77500" lnSpcReduction="20000"/>
          </a:bodyPr>
          <a:lstStyle/>
          <a:p>
            <a:pPr marL="0" lvl="0" indent="0" algn="l" rtl="0">
              <a:lnSpc>
                <a:spcPct val="100000"/>
              </a:lnSpc>
              <a:spcBef>
                <a:spcPts val="0"/>
              </a:spcBef>
              <a:spcAft>
                <a:spcPts val="0"/>
              </a:spcAft>
              <a:buClr>
                <a:schemeClr val="dk1"/>
              </a:buClr>
              <a:buFont typeface="Arial"/>
              <a:buNone/>
            </a:pPr>
            <a:r>
              <a:rPr lang="en-US" b="1" u="sng">
                <a:solidFill>
                  <a:schemeClr val="dk1"/>
                </a:solidFill>
                <a:latin typeface="Nunito Sans"/>
                <a:ea typeface="Nunito Sans"/>
                <a:cs typeface="Nunito Sans"/>
                <a:sym typeface="Nunito Sans"/>
              </a:rPr>
              <a:t>The Head of MKT would like to…</a:t>
            </a:r>
            <a:endParaRPr b="1" u="sng">
              <a:solidFill>
                <a:schemeClr val="dk1"/>
              </a:solidFill>
              <a:latin typeface="Nunito Sans"/>
              <a:ea typeface="Nunito Sans"/>
              <a:cs typeface="Nunito Sans"/>
              <a:sym typeface="Nunito Sans"/>
            </a:endParaRPr>
          </a:p>
          <a:p>
            <a:pPr marL="0" lvl="0" indent="0" algn="just" rtl="0">
              <a:lnSpc>
                <a:spcPct val="100000"/>
              </a:lnSpc>
              <a:spcBef>
                <a:spcPts val="1200"/>
              </a:spcBef>
              <a:spcAft>
                <a:spcPts val="0"/>
              </a:spcAft>
              <a:buClr>
                <a:schemeClr val="dk1"/>
              </a:buClr>
              <a:buSzPct val="78571"/>
              <a:buFont typeface="Arial"/>
              <a:buNone/>
            </a:pPr>
            <a:r>
              <a:rPr lang="en-US" b="1">
                <a:solidFill>
                  <a:schemeClr val="dk1"/>
                </a:solidFill>
                <a:latin typeface="Nunito Sans"/>
                <a:ea typeface="Nunito Sans"/>
                <a:cs typeface="Nunito Sans"/>
                <a:sym typeface="Nunito Sans"/>
              </a:rPr>
              <a:t>Target 5: </a:t>
            </a:r>
            <a:r>
              <a:rPr lang="en-US">
                <a:solidFill>
                  <a:schemeClr val="dk1"/>
                </a:solidFill>
                <a:latin typeface="Nunito Sans"/>
                <a:ea typeface="Nunito Sans"/>
                <a:cs typeface="Nunito Sans"/>
                <a:sym typeface="Nunito Sans"/>
              </a:rPr>
              <a:t>Send out targeted promotional EDMs to subscribers to alert on seasonal product line expansions</a:t>
            </a:r>
            <a:endParaRPr>
              <a:solidFill>
                <a:schemeClr val="dk1"/>
              </a:solidFill>
              <a:latin typeface="Nunito Sans"/>
              <a:ea typeface="Nunito Sans"/>
              <a:cs typeface="Nunito Sans"/>
              <a:sym typeface="Nunito Sans"/>
            </a:endParaRPr>
          </a:p>
          <a:p>
            <a:pPr marL="0" lvl="0" indent="0" algn="just" rtl="0">
              <a:lnSpc>
                <a:spcPct val="100000"/>
              </a:lnSpc>
              <a:spcBef>
                <a:spcPts val="1200"/>
              </a:spcBef>
              <a:spcAft>
                <a:spcPts val="0"/>
              </a:spcAft>
              <a:buClr>
                <a:schemeClr val="dk1"/>
              </a:buClr>
              <a:buSzPct val="78571"/>
              <a:buFont typeface="Arial"/>
              <a:buNone/>
            </a:pPr>
            <a:r>
              <a:rPr lang="en-US" b="1">
                <a:solidFill>
                  <a:srgbClr val="3C78D8"/>
                </a:solidFill>
                <a:latin typeface="Nunito Sans"/>
                <a:ea typeface="Nunito Sans"/>
                <a:cs typeface="Nunito Sans"/>
                <a:sym typeface="Nunito Sans"/>
              </a:rPr>
              <a:t>Recommendation 5:</a:t>
            </a:r>
            <a:r>
              <a:rPr lang="en-US" b="1">
                <a:solidFill>
                  <a:schemeClr val="dk1"/>
                </a:solidFill>
                <a:latin typeface="Nunito Sans"/>
                <a:ea typeface="Nunito Sans"/>
                <a:cs typeface="Nunito Sans"/>
                <a:sym typeface="Nunito Sans"/>
              </a:rPr>
              <a:t> </a:t>
            </a:r>
            <a:r>
              <a:rPr lang="en-US">
                <a:solidFill>
                  <a:schemeClr val="dk1"/>
                </a:solidFill>
                <a:latin typeface="Nunito Sans"/>
                <a:ea typeface="Nunito Sans"/>
                <a:cs typeface="Nunito Sans"/>
                <a:sym typeface="Nunito Sans"/>
              </a:rPr>
              <a:t>EDM to all customers notifying of the new rewards scheme providing tiered discounts for subscribers who make the highest amount of purchases</a:t>
            </a:r>
            <a:endParaRPr>
              <a:solidFill>
                <a:schemeClr val="dk1"/>
              </a:solidFill>
              <a:latin typeface="Nunito Sans"/>
              <a:ea typeface="Nunito Sans"/>
              <a:cs typeface="Nunito Sans"/>
              <a:sym typeface="Nunito Sans"/>
            </a:endParaRPr>
          </a:p>
          <a:p>
            <a:pPr marL="0" lvl="0" indent="0" algn="just" rtl="0">
              <a:lnSpc>
                <a:spcPct val="100000"/>
              </a:lnSpc>
              <a:spcBef>
                <a:spcPts val="1200"/>
              </a:spcBef>
              <a:spcAft>
                <a:spcPts val="0"/>
              </a:spcAft>
              <a:buClr>
                <a:schemeClr val="dk1"/>
              </a:buClr>
              <a:buSzPct val="78571"/>
              <a:buFont typeface="Arial"/>
              <a:buNone/>
            </a:pPr>
            <a:r>
              <a:rPr lang="en-US" b="1">
                <a:solidFill>
                  <a:schemeClr val="dk1"/>
                </a:solidFill>
                <a:latin typeface="Nunito Sans"/>
                <a:ea typeface="Nunito Sans"/>
                <a:cs typeface="Nunito Sans"/>
                <a:sym typeface="Nunito Sans"/>
              </a:rPr>
              <a:t>Target 6: </a:t>
            </a:r>
            <a:r>
              <a:rPr lang="en-US">
                <a:solidFill>
                  <a:schemeClr val="dk1"/>
                </a:solidFill>
                <a:latin typeface="Nunito Sans"/>
                <a:ea typeface="Nunito Sans"/>
                <a:cs typeface="Nunito Sans"/>
                <a:sym typeface="Nunito Sans"/>
              </a:rPr>
              <a:t>Send out targeted promotional EDMs by shopping behavior per territory</a:t>
            </a:r>
            <a:endParaRPr>
              <a:solidFill>
                <a:schemeClr val="dk1"/>
              </a:solidFill>
              <a:latin typeface="Nunito Sans"/>
              <a:ea typeface="Nunito Sans"/>
              <a:cs typeface="Nunito Sans"/>
              <a:sym typeface="Nunito Sans"/>
            </a:endParaRPr>
          </a:p>
          <a:p>
            <a:pPr marL="0" lvl="0" indent="0" algn="l" rtl="0">
              <a:lnSpc>
                <a:spcPct val="100000"/>
              </a:lnSpc>
              <a:spcBef>
                <a:spcPts val="1200"/>
              </a:spcBef>
              <a:spcAft>
                <a:spcPts val="0"/>
              </a:spcAft>
              <a:buClr>
                <a:schemeClr val="dk1"/>
              </a:buClr>
              <a:buSzPct val="78571"/>
              <a:buFont typeface="Arial"/>
              <a:buNone/>
            </a:pPr>
            <a:r>
              <a:rPr lang="en-US" b="1">
                <a:solidFill>
                  <a:srgbClr val="3C78D8"/>
                </a:solidFill>
                <a:latin typeface="Nunito Sans"/>
                <a:ea typeface="Nunito Sans"/>
                <a:cs typeface="Nunito Sans"/>
                <a:sym typeface="Nunito Sans"/>
              </a:rPr>
              <a:t>Recommendation 6:</a:t>
            </a:r>
            <a:r>
              <a:rPr lang="en-US" b="1">
                <a:solidFill>
                  <a:schemeClr val="dk1"/>
                </a:solidFill>
                <a:latin typeface="Nunito Sans"/>
                <a:ea typeface="Nunito Sans"/>
                <a:cs typeface="Nunito Sans"/>
                <a:sym typeface="Nunito Sans"/>
              </a:rPr>
              <a:t> </a:t>
            </a:r>
            <a:r>
              <a:rPr lang="en-US">
                <a:solidFill>
                  <a:schemeClr val="dk1"/>
                </a:solidFill>
                <a:latin typeface="Nunito Sans"/>
                <a:ea typeface="Nunito Sans"/>
                <a:cs typeface="Nunito Sans"/>
                <a:sym typeface="Nunito Sans"/>
              </a:rPr>
              <a:t>EDM by geographic location to set trends via blogs etc. to set product incentives as per territory climate </a:t>
            </a:r>
            <a:endParaRPr>
              <a:solidFill>
                <a:schemeClr val="dk1"/>
              </a:solidFill>
              <a:latin typeface="Nunito Sans"/>
              <a:ea typeface="Nunito Sans"/>
              <a:cs typeface="Nunito Sans"/>
              <a:sym typeface="Nunito Sans"/>
            </a:endParaRPr>
          </a:p>
          <a:p>
            <a:pPr marL="0" lvl="0" indent="0" algn="l" rtl="0">
              <a:lnSpc>
                <a:spcPct val="100000"/>
              </a:lnSpc>
              <a:spcBef>
                <a:spcPts val="1200"/>
              </a:spcBef>
              <a:spcAft>
                <a:spcPts val="0"/>
              </a:spcAft>
              <a:buNone/>
            </a:pPr>
            <a:r>
              <a:rPr lang="en-US" b="1" u="sng">
                <a:solidFill>
                  <a:schemeClr val="dk1"/>
                </a:solidFill>
                <a:latin typeface="Nunito Sans"/>
                <a:ea typeface="Nunito Sans"/>
                <a:cs typeface="Nunito Sans"/>
                <a:sym typeface="Nunito Sans"/>
              </a:rPr>
              <a:t>The LT would like to…</a:t>
            </a:r>
            <a:endParaRPr>
              <a:solidFill>
                <a:schemeClr val="dk1"/>
              </a:solidFill>
            </a:endParaRPr>
          </a:p>
          <a:p>
            <a:pPr marL="0" lvl="0" indent="0" algn="l" rtl="0">
              <a:lnSpc>
                <a:spcPct val="100000"/>
              </a:lnSpc>
              <a:spcBef>
                <a:spcPts val="1200"/>
              </a:spcBef>
              <a:spcAft>
                <a:spcPts val="0"/>
              </a:spcAft>
              <a:buClr>
                <a:schemeClr val="dk1"/>
              </a:buClr>
              <a:buSzPct val="78571"/>
              <a:buFont typeface="Arial"/>
              <a:buNone/>
            </a:pPr>
            <a:r>
              <a:rPr lang="en-US" b="1">
                <a:solidFill>
                  <a:schemeClr val="dk1"/>
                </a:solidFill>
                <a:latin typeface="Nunito Sans"/>
                <a:ea typeface="Nunito Sans"/>
                <a:cs typeface="Nunito Sans"/>
                <a:sym typeface="Nunito Sans"/>
              </a:rPr>
              <a:t>Target 7: </a:t>
            </a:r>
            <a:r>
              <a:rPr lang="en-US">
                <a:solidFill>
                  <a:schemeClr val="dk1"/>
                </a:solidFill>
                <a:latin typeface="Nunito Sans"/>
                <a:ea typeface="Nunito Sans"/>
                <a:cs typeface="Nunito Sans"/>
                <a:sym typeface="Nunito Sans"/>
              </a:rPr>
              <a:t>Set a marketing promotional calendar strategy for the 2026 Calendar year</a:t>
            </a:r>
            <a:endParaRPr>
              <a:solidFill>
                <a:schemeClr val="dk1"/>
              </a:solidFill>
              <a:latin typeface="Nunito Sans"/>
              <a:ea typeface="Nunito Sans"/>
              <a:cs typeface="Nunito Sans"/>
              <a:sym typeface="Nunito Sans"/>
            </a:endParaRPr>
          </a:p>
          <a:p>
            <a:pPr marL="0" lvl="0" indent="0" algn="l" rtl="0">
              <a:lnSpc>
                <a:spcPct val="100000"/>
              </a:lnSpc>
              <a:spcBef>
                <a:spcPts val="1200"/>
              </a:spcBef>
              <a:spcAft>
                <a:spcPts val="1200"/>
              </a:spcAft>
              <a:buClr>
                <a:schemeClr val="dk1"/>
              </a:buClr>
              <a:buSzPct val="78571"/>
              <a:buFont typeface="Arial"/>
              <a:buNone/>
            </a:pPr>
            <a:r>
              <a:rPr lang="en-US" b="1">
                <a:solidFill>
                  <a:srgbClr val="3C78D8"/>
                </a:solidFill>
                <a:latin typeface="Nunito Sans"/>
                <a:ea typeface="Nunito Sans"/>
                <a:cs typeface="Nunito Sans"/>
                <a:sym typeface="Nunito Sans"/>
              </a:rPr>
              <a:t>Recommendation 7</a:t>
            </a:r>
            <a:r>
              <a:rPr lang="en-US">
                <a:solidFill>
                  <a:srgbClr val="3C78D8"/>
                </a:solidFill>
                <a:latin typeface="Nunito Sans"/>
                <a:ea typeface="Nunito Sans"/>
                <a:cs typeface="Nunito Sans"/>
                <a:sym typeface="Nunito Sans"/>
              </a:rPr>
              <a:t>:</a:t>
            </a:r>
            <a:r>
              <a:rPr lang="en-US">
                <a:solidFill>
                  <a:schemeClr val="dk1"/>
                </a:solidFill>
                <a:latin typeface="Nunito Sans"/>
                <a:ea typeface="Nunito Sans"/>
                <a:cs typeface="Nunito Sans"/>
                <a:sym typeface="Nunito Sans"/>
              </a:rPr>
              <a:t> Trends in seasonal spikes to set subscriber promotional calendar per each territory</a:t>
            </a:r>
            <a:endParaRPr>
              <a:solidFill>
                <a:schemeClr val="dk1"/>
              </a:solidFill>
              <a:latin typeface="Nunito Sans"/>
              <a:ea typeface="Nunito Sans"/>
              <a:cs typeface="Nunito Sans"/>
              <a:sym typeface="Nunito Sans"/>
            </a:endParaRPr>
          </a:p>
        </p:txBody>
      </p:sp>
      <p:sp>
        <p:nvSpPr>
          <p:cNvPr id="218" name="Google Shape;218;p11"/>
          <p:cNvSpPr/>
          <p:nvPr/>
        </p:nvSpPr>
        <p:spPr>
          <a:xfrm>
            <a:off x="422382" y="970932"/>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Sans"/>
                <a:ea typeface="Nunito Sans"/>
                <a:cs typeface="Nunito Sans"/>
                <a:sym typeface="Nunito Sans"/>
              </a:rPr>
              <a:t>Key Learnings</a:t>
            </a:r>
            <a:endParaRPr b="0">
              <a:latin typeface="Nunito Sans"/>
              <a:ea typeface="Nunito Sans"/>
              <a:cs typeface="Nunito Sans"/>
              <a:sym typeface="Nunito Sans"/>
            </a:endParaRPr>
          </a:p>
        </p:txBody>
      </p:sp>
      <p:sp>
        <p:nvSpPr>
          <p:cNvPr id="224" name="Google Shape;224;p1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30000"/>
              </a:lnSpc>
              <a:spcBef>
                <a:spcPts val="0"/>
              </a:spcBef>
              <a:spcAft>
                <a:spcPts val="0"/>
              </a:spcAft>
              <a:buSzPts val="1200"/>
              <a:buNone/>
            </a:pPr>
            <a:r>
              <a:rPr lang="en-US">
                <a:latin typeface="Nunito Sans"/>
                <a:ea typeface="Nunito Sans"/>
                <a:cs typeface="Nunito Sans"/>
                <a:sym typeface="Nunito Sans"/>
              </a:rPr>
              <a:t>When running the queries and realising that some of the results don’t make much sense, ensure that the data has been inputted in the dataset; reporting in real life accurately.</a:t>
            </a:r>
            <a:endParaRPr>
              <a:latin typeface="Nunito Sans"/>
              <a:ea typeface="Nunito Sans"/>
              <a:cs typeface="Nunito Sans"/>
              <a:sym typeface="Nunito Sans"/>
            </a:endParaRPr>
          </a:p>
          <a:p>
            <a:pPr marL="0" lvl="0" indent="0" algn="l" rtl="0">
              <a:lnSpc>
                <a:spcPct val="130000"/>
              </a:lnSpc>
              <a:spcBef>
                <a:spcPts val="0"/>
              </a:spcBef>
              <a:spcAft>
                <a:spcPts val="0"/>
              </a:spcAft>
              <a:buSzPts val="1200"/>
              <a:buNone/>
            </a:pPr>
            <a:endParaRPr>
              <a:latin typeface="Nunito Sans"/>
              <a:ea typeface="Nunito Sans"/>
              <a:cs typeface="Nunito Sans"/>
              <a:sym typeface="Nunito Sans"/>
            </a:endParaRPr>
          </a:p>
          <a:p>
            <a:pPr marL="0" lvl="0" indent="0" algn="l" rtl="0">
              <a:lnSpc>
                <a:spcPct val="130000"/>
              </a:lnSpc>
              <a:spcBef>
                <a:spcPts val="0"/>
              </a:spcBef>
              <a:spcAft>
                <a:spcPts val="0"/>
              </a:spcAft>
              <a:buSzPts val="1200"/>
              <a:buNone/>
            </a:pPr>
            <a:r>
              <a:rPr lang="en-US">
                <a:latin typeface="Nunito Sans"/>
                <a:ea typeface="Nunito Sans"/>
                <a:cs typeface="Nunito Sans"/>
                <a:sym typeface="Nunito Sans"/>
              </a:rPr>
              <a:t>Solution -&gt; Cross check the data with the department manager/SMEs. </a:t>
            </a:r>
            <a:endParaRPr>
              <a:latin typeface="Nunito Sans"/>
              <a:ea typeface="Nunito Sans"/>
              <a:cs typeface="Nunito Sans"/>
              <a:sym typeface="Nunito Sans"/>
            </a:endParaRPr>
          </a:p>
        </p:txBody>
      </p:sp>
      <p:sp>
        <p:nvSpPr>
          <p:cNvPr id="225" name="Google Shape;225;p12"/>
          <p:cNvSpPr/>
          <p:nvPr/>
        </p:nvSpPr>
        <p:spPr>
          <a:xfrm>
            <a:off x="422382" y="970932"/>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200"/>
              <a:buNone/>
            </a:pPr>
            <a:r>
              <a:rPr lang="en-US" b="0"/>
              <a:t>Thank You</a:t>
            </a:r>
            <a:endParaRPr b="0"/>
          </a:p>
        </p:txBody>
      </p:sp>
      <p:sp>
        <p:nvSpPr>
          <p:cNvPr id="231" name="Google Shape;231;p13"/>
          <p:cNvSpPr/>
          <p:nvPr/>
        </p:nvSpPr>
        <p:spPr>
          <a:xfrm>
            <a:off x="3442650" y="2842327"/>
            <a:ext cx="22587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200"/>
              <a:buNone/>
            </a:pPr>
            <a:r>
              <a:rPr lang="en-US" b="0">
                <a:latin typeface="Nunito"/>
                <a:ea typeface="Nunito"/>
                <a:cs typeface="Nunito"/>
                <a:sym typeface="Nunito"/>
              </a:rPr>
              <a:t>References</a:t>
            </a:r>
            <a:endParaRPr b="0">
              <a:latin typeface="Nunito"/>
              <a:ea typeface="Nunito"/>
              <a:cs typeface="Nunito"/>
              <a:sym typeface="Nunito"/>
            </a:endParaRPr>
          </a:p>
        </p:txBody>
      </p:sp>
      <p:sp>
        <p:nvSpPr>
          <p:cNvPr id="237" name="Google Shape;237;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342900" algn="l" rtl="0">
              <a:lnSpc>
                <a:spcPct val="130000"/>
              </a:lnSpc>
              <a:spcBef>
                <a:spcPts val="1000"/>
              </a:spcBef>
              <a:spcAft>
                <a:spcPts val="0"/>
              </a:spcAft>
              <a:buSzPts val="1800"/>
              <a:buAutoNum type="arabicPeriod"/>
            </a:pPr>
            <a:r>
              <a:rPr lang="en-US">
                <a:latin typeface="Proxima Nova"/>
                <a:ea typeface="Proxima Nova"/>
                <a:cs typeface="Proxima Nova"/>
                <a:sym typeface="Proxima Nova"/>
              </a:rPr>
              <a:t>Link to dataset from Kaggle : </a:t>
            </a:r>
            <a:r>
              <a:rPr lang="en-US" sz="1100" u="sng">
                <a:solidFill>
                  <a:schemeClr val="hlink"/>
                </a:solidFill>
                <a:latin typeface="Arial"/>
                <a:ea typeface="Arial"/>
                <a:cs typeface="Arial"/>
                <a:sym typeface="Arial"/>
                <a:hlinkClick r:id="rId3"/>
              </a:rPr>
              <a:t>https://www.kaggle.com/datasets/zubairamuti/shopping-behaviours-dataset</a:t>
            </a:r>
            <a:endParaRPr>
              <a:latin typeface="Proxima Nova"/>
              <a:ea typeface="Proxima Nova"/>
              <a:cs typeface="Proxima Nova"/>
              <a:sym typeface="Proxima Nova"/>
            </a:endParaRPr>
          </a:p>
          <a:p>
            <a:pPr marL="457200" lvl="0" indent="-342900" algn="l" rtl="0">
              <a:lnSpc>
                <a:spcPct val="130000"/>
              </a:lnSpc>
              <a:spcBef>
                <a:spcPts val="0"/>
              </a:spcBef>
              <a:spcAft>
                <a:spcPts val="0"/>
              </a:spcAft>
              <a:buSzPts val="1800"/>
              <a:buFont typeface="Proxima Nova"/>
              <a:buAutoNum type="arabicPeriod"/>
            </a:pPr>
            <a:r>
              <a:rPr lang="en-US">
                <a:latin typeface="Proxima Nova"/>
                <a:ea typeface="Proxima Nova"/>
                <a:cs typeface="Proxima Nova"/>
                <a:sym typeface="Proxima Nova"/>
              </a:rPr>
              <a:t>Shopping Behavior updated: attached</a:t>
            </a:r>
            <a:endParaRPr>
              <a:latin typeface="Proxima Nova"/>
              <a:ea typeface="Proxima Nova"/>
              <a:cs typeface="Proxima Nova"/>
              <a:sym typeface="Proxima Nova"/>
            </a:endParaRPr>
          </a:p>
          <a:p>
            <a:pPr marL="457200" lvl="0" indent="-342900" algn="l" rtl="0">
              <a:lnSpc>
                <a:spcPct val="130000"/>
              </a:lnSpc>
              <a:spcBef>
                <a:spcPts val="0"/>
              </a:spcBef>
              <a:spcAft>
                <a:spcPts val="0"/>
              </a:spcAft>
              <a:buSzPts val="1800"/>
              <a:buFont typeface="Proxima Nova"/>
              <a:buAutoNum type="arabicPeriod"/>
            </a:pPr>
            <a:r>
              <a:rPr lang="en-US">
                <a:latin typeface="Proxima Nova"/>
                <a:ea typeface="Proxima Nova"/>
                <a:cs typeface="Proxima Nova"/>
                <a:sym typeface="Proxima Nova"/>
              </a:rPr>
              <a:t>Final queries file : attached </a:t>
            </a:r>
            <a:endParaRPr>
              <a:latin typeface="Proxima Nova"/>
              <a:ea typeface="Proxima Nova"/>
              <a:cs typeface="Proxima Nova"/>
              <a:sym typeface="Proxima Nova"/>
            </a:endParaRPr>
          </a:p>
          <a:p>
            <a:pPr marL="457200" lvl="0" indent="-342900" algn="l" rtl="0">
              <a:lnSpc>
                <a:spcPct val="130000"/>
              </a:lnSpc>
              <a:spcBef>
                <a:spcPts val="0"/>
              </a:spcBef>
              <a:spcAft>
                <a:spcPts val="0"/>
              </a:spcAft>
              <a:buSzPts val="1800"/>
              <a:buFont typeface="Proxima Nova"/>
              <a:buAutoNum type="arabicPeriod"/>
            </a:pPr>
            <a:r>
              <a:rPr lang="en-US">
                <a:latin typeface="Proxima Nova"/>
                <a:ea typeface="Proxima Nova"/>
                <a:cs typeface="Proxima Nova"/>
                <a:sym typeface="Proxima Nova"/>
              </a:rPr>
              <a:t>Individual table csvs: attached </a:t>
            </a:r>
            <a:endParaRPr>
              <a:latin typeface="Proxima Nova"/>
              <a:ea typeface="Proxima Nova"/>
              <a:cs typeface="Proxima Nova"/>
              <a:sym typeface="Proxima Nova"/>
            </a:endParaRPr>
          </a:p>
          <a:p>
            <a:pPr marL="457200" lvl="0" indent="-342900" algn="l" rtl="0">
              <a:lnSpc>
                <a:spcPct val="130000"/>
              </a:lnSpc>
              <a:spcBef>
                <a:spcPts val="0"/>
              </a:spcBef>
              <a:spcAft>
                <a:spcPts val="0"/>
              </a:spcAft>
              <a:buSzPts val="1800"/>
              <a:buFont typeface="Proxima Nova"/>
              <a:buAutoNum type="arabicPeriod"/>
            </a:pPr>
            <a:r>
              <a:rPr lang="en-US">
                <a:latin typeface="Proxima Nova"/>
                <a:ea typeface="Proxima Nova"/>
                <a:cs typeface="Proxima Nova"/>
                <a:sym typeface="Proxima Nova"/>
              </a:rPr>
              <a:t>Persona Statistical Analysis: attached </a:t>
            </a:r>
            <a:endParaRPr>
              <a:latin typeface="Proxima Nova"/>
              <a:ea typeface="Proxima Nova"/>
              <a:cs typeface="Proxima Nova"/>
              <a:sym typeface="Proxima Nova"/>
            </a:endParaRPr>
          </a:p>
          <a:p>
            <a:pPr marL="457200" lvl="0" indent="0" algn="l" rtl="0">
              <a:lnSpc>
                <a:spcPct val="130000"/>
              </a:lnSpc>
              <a:spcBef>
                <a:spcPts val="1000"/>
              </a:spcBef>
              <a:spcAft>
                <a:spcPts val="0"/>
              </a:spcAft>
              <a:buNone/>
            </a:pPr>
            <a:endParaRPr>
              <a:latin typeface="Proxima Nova"/>
              <a:ea typeface="Proxima Nova"/>
              <a:cs typeface="Proxima Nova"/>
              <a:sym typeface="Proxima Nova"/>
            </a:endParaRPr>
          </a:p>
          <a:p>
            <a:pPr marL="0" lvl="0" indent="0" algn="l" rtl="0">
              <a:lnSpc>
                <a:spcPct val="130000"/>
              </a:lnSpc>
              <a:spcBef>
                <a:spcPts val="1000"/>
              </a:spcBef>
              <a:spcAft>
                <a:spcPts val="1000"/>
              </a:spcAft>
              <a:buSzPts val="1200"/>
              <a:buNone/>
            </a:pPr>
            <a:endParaRPr/>
          </a:p>
        </p:txBody>
      </p:sp>
      <p:sp>
        <p:nvSpPr>
          <p:cNvPr id="238" name="Google Shape;238;p15"/>
          <p:cNvSpPr/>
          <p:nvPr/>
        </p:nvSpPr>
        <p:spPr>
          <a:xfrm>
            <a:off x="422382" y="970932"/>
            <a:ext cx="3721500" cy="9000"/>
          </a:xfrm>
          <a:prstGeom prst="rect">
            <a:avLst/>
          </a:prstGeom>
          <a:solidFill>
            <a:srgbClr val="FF9900"/>
          </a:solid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3181</Words>
  <Application>Microsoft Office PowerPoint</Application>
  <PresentationFormat>On-screen Show (16:9)</PresentationFormat>
  <Paragraphs>317</Paragraphs>
  <Slides>22</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Nunito Sans</vt:lpstr>
      <vt:lpstr>Avenir</vt:lpstr>
      <vt:lpstr>Merriweather</vt:lpstr>
      <vt:lpstr>Nunito</vt:lpstr>
      <vt:lpstr>Merriweather Sans</vt:lpstr>
      <vt:lpstr>Helvetica Neue</vt:lpstr>
      <vt:lpstr>Aptos Narrow</vt:lpstr>
      <vt:lpstr>Roboto</vt:lpstr>
      <vt:lpstr>Georgia</vt:lpstr>
      <vt:lpstr>Proxima Nova</vt:lpstr>
      <vt:lpstr>Arial</vt:lpstr>
      <vt:lpstr>Simple Light</vt:lpstr>
      <vt:lpstr>Shopping Behaviour Analysis</vt:lpstr>
      <vt:lpstr>Agenda</vt:lpstr>
      <vt:lpstr>The Problem Statement</vt:lpstr>
      <vt:lpstr>Hypothesis</vt:lpstr>
      <vt:lpstr>Data and Tools Used</vt:lpstr>
      <vt:lpstr>Data Processing</vt:lpstr>
      <vt:lpstr>Data Processing </vt:lpstr>
      <vt:lpstr>Statistical Analysis</vt:lpstr>
      <vt:lpstr>Do product preferences vary by gender?</vt:lpstr>
      <vt:lpstr>Older customers spend more per purchase than younger customers</vt:lpstr>
      <vt:lpstr>Customer Persona</vt:lpstr>
      <vt:lpstr>Do higher-rated products sell more?</vt:lpstr>
      <vt:lpstr>Does shipping type affect the number of purchases?</vt:lpstr>
      <vt:lpstr>PowerPoint Presentation</vt:lpstr>
      <vt:lpstr>Do subscribed customers purchase more frequently?</vt:lpstr>
      <vt:lpstr>Subscriber seasonal purchasing patterns</vt:lpstr>
      <vt:lpstr>PowerPoint Presentation</vt:lpstr>
      <vt:lpstr>Establishing trends in seasonal spikes</vt:lpstr>
      <vt:lpstr>Summary Conclusions</vt:lpstr>
      <vt:lpstr>Key Learnings</vt:lpstr>
      <vt:lpstr>Thank You</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Aleem Shaikh</cp:lastModifiedBy>
  <cp:revision>1</cp:revision>
  <dcterms:modified xsi:type="dcterms:W3CDTF">2025-10-22T17:38:17Z</dcterms:modified>
</cp:coreProperties>
</file>