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  <p:sldMasterId id="2147483685" r:id="rId3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71" r:id="rId12"/>
    <p:sldId id="272" r:id="rId13"/>
    <p:sldId id="273" r:id="rId14"/>
    <p:sldId id="274" r:id="rId15"/>
    <p:sldId id="275" r:id="rId16"/>
    <p:sldId id="270" r:id="rId17"/>
    <p:sldId id="264" r:id="rId18"/>
    <p:sldId id="265" r:id="rId19"/>
    <p:sldId id="266" r:id="rId20"/>
    <p:sldId id="267" r:id="rId21"/>
    <p:sldId id="268" r:id="rId22"/>
    <p:sldId id="269" r:id="rId23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25"/>
      <p:bold r:id="rId26"/>
      <p:italic r:id="rId27"/>
      <p:boldItalic r:id="rId28"/>
    </p:embeddedFont>
    <p:embeddedFont>
      <p:font typeface="Georgia" panose="02040502050405020303" pitchFamily="18" charset="0"/>
      <p:regular r:id="rId29"/>
      <p:bold r:id="rId30"/>
      <p:italic r:id="rId31"/>
      <p:boldItalic r:id="rId32"/>
    </p:embeddedFont>
    <p:embeddedFont>
      <p:font typeface="Helvetica Neue" panose="020B0604020202020204" charset="0"/>
      <p:regular r:id="rId33"/>
      <p:bold r:id="rId34"/>
      <p:italic r:id="rId35"/>
      <p:boldItalic r:id="rId36"/>
    </p:embeddedFont>
    <p:embeddedFont>
      <p:font typeface="Merriweather" panose="00000500000000000000" pitchFamily="2" charset="0"/>
      <p:regular r:id="rId37"/>
      <p:bold r:id="rId38"/>
      <p:italic r:id="rId39"/>
      <p:boldItalic r:id="rId40"/>
    </p:embeddedFont>
    <p:embeddedFont>
      <p:font typeface="Merriweather Light" panose="00000400000000000000" pitchFamily="2" charset="0"/>
      <p:regular r:id="rId41"/>
      <p:bold r:id="rId42"/>
      <p:italic r:id="rId43"/>
      <p:boldItalic r:id="rId44"/>
    </p:embeddedFont>
    <p:embeddedFont>
      <p:font typeface="Merriweather Sans" pitchFamily="2" charset="0"/>
      <p:regular r:id="rId45"/>
      <p:bold r:id="rId46"/>
      <p:italic r:id="rId47"/>
      <p:boldItalic r:id="rId48"/>
    </p:embeddedFont>
    <p:embeddedFont>
      <p:font typeface="Nunito" pitchFamily="2" charset="0"/>
      <p:regular r:id="rId49"/>
      <p:bold r:id="rId50"/>
      <p:italic r:id="rId51"/>
      <p:boldItalic r:id="rId52"/>
    </p:embeddedFont>
    <p:embeddedFont>
      <p:font typeface="Nunito Sans" pitchFamily="2" charset="0"/>
      <p:regular r:id="rId53"/>
      <p:bold r:id="rId54"/>
      <p:italic r:id="rId55"/>
      <p:boldItalic r:id="rId56"/>
    </p:embeddedFont>
    <p:embeddedFont>
      <p:font typeface="Proxima Nova" panose="020B0604020202020204" charset="0"/>
      <p:regular r:id="rId57"/>
      <p:bold r:id="rId58"/>
      <p:italic r:id="rId59"/>
      <p:boldItalic r:id="rId60"/>
    </p:embeddedFont>
    <p:embeddedFont>
      <p:font typeface="Roboto" panose="02000000000000000000" pitchFamily="2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1"/>
  </p:normalViewPr>
  <p:slideViewPr>
    <p:cSldViewPr snapToGrid="0">
      <p:cViewPr varScale="1">
        <p:scale>
          <a:sx n="128" d="100"/>
          <a:sy n="128" d="100"/>
        </p:scale>
        <p:origin x="96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font2.fntdata"/><Relationship Id="rId21" Type="http://schemas.openxmlformats.org/officeDocument/2006/relationships/slide" Target="slides/slide18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50" Type="http://schemas.openxmlformats.org/officeDocument/2006/relationships/font" Target="fonts/font26.fntdata"/><Relationship Id="rId55" Type="http://schemas.openxmlformats.org/officeDocument/2006/relationships/font" Target="fonts/font31.fntdata"/><Relationship Id="rId63" Type="http://schemas.openxmlformats.org/officeDocument/2006/relationships/font" Target="fonts/font39.fntdata"/><Relationship Id="rId68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5.fntdata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3" Type="http://schemas.openxmlformats.org/officeDocument/2006/relationships/font" Target="fonts/font29.fntdata"/><Relationship Id="rId58" Type="http://schemas.openxmlformats.org/officeDocument/2006/relationships/font" Target="fonts/font34.fntdata"/><Relationship Id="rId66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font" Target="fonts/font37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56" Type="http://schemas.openxmlformats.org/officeDocument/2006/relationships/font" Target="fonts/font32.fntdata"/><Relationship Id="rId64" Type="http://schemas.openxmlformats.org/officeDocument/2006/relationships/font" Target="fonts/font40.fntdata"/><Relationship Id="rId8" Type="http://schemas.openxmlformats.org/officeDocument/2006/relationships/slide" Target="slides/slide5.xml"/><Relationship Id="rId51" Type="http://schemas.openxmlformats.org/officeDocument/2006/relationships/font" Target="fonts/font27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59" Type="http://schemas.openxmlformats.org/officeDocument/2006/relationships/font" Target="fonts/font35.fntdata"/><Relationship Id="rId67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font" Target="fonts/font17.fntdata"/><Relationship Id="rId54" Type="http://schemas.openxmlformats.org/officeDocument/2006/relationships/font" Target="fonts/font30.fntdata"/><Relationship Id="rId62" Type="http://schemas.openxmlformats.org/officeDocument/2006/relationships/font" Target="fonts/font3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font" Target="fonts/font25.fntdata"/><Relationship Id="rId57" Type="http://schemas.openxmlformats.org/officeDocument/2006/relationships/font" Target="fonts/font33.fntdata"/><Relationship Id="rId10" Type="http://schemas.openxmlformats.org/officeDocument/2006/relationships/slide" Target="slides/slide7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font" Target="fonts/font28.fntdata"/><Relationship Id="rId60" Type="http://schemas.openxmlformats.org/officeDocument/2006/relationships/font" Target="fonts/font36.fntdata"/><Relationship Id="rId6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font" Target="fonts/font1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aik\Documents\DataAnalysis\BrainStation\00Keystone%20Project\Queries%20and%20graph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aik\Documents\DataAnalysis\BrainStation\00Keystone%20Project\Queries%20and%20graph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aik\Documents\DataAnalysis\BrainStation\00Keystone%20Project\Queries%20and%20graph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aik\Documents\DataAnalysis\BrainStation\00Keystone%20Project\Queries%20and%20graph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shaik\Documents\DataAnalysis\BrainStation\00Keystone%20Project\Queries%20and%20graph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Age Vs. Total Spend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'Hp1'!$B$1</c:f>
              <c:strCache>
                <c:ptCount val="1"/>
                <c:pt idx="0">
                  <c:v>Total_purchase_amount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'Hp1'!$A$2:$A$7</c:f>
              <c:strCache>
                <c:ptCount val="6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  <c:pt idx="5">
                  <c:v>66+</c:v>
                </c:pt>
              </c:strCache>
            </c:strRef>
          </c:cat>
          <c:val>
            <c:numRef>
              <c:f>'Hp1'!$B$2:$B$7</c:f>
              <c:numCache>
                <c:formatCode>_("$"* #,##0.00_);_("$"* \(#,##0.00\);_("$"* "-"??_);_(@_)</c:formatCode>
                <c:ptCount val="6"/>
                <c:pt idx="0">
                  <c:v>34630</c:v>
                </c:pt>
                <c:pt idx="1">
                  <c:v>44342</c:v>
                </c:pt>
                <c:pt idx="2">
                  <c:v>43234</c:v>
                </c:pt>
                <c:pt idx="3">
                  <c:v>45619</c:v>
                </c:pt>
                <c:pt idx="4">
                  <c:v>44352</c:v>
                </c:pt>
                <c:pt idx="5">
                  <c:v>20904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BE-44E8-95F1-EE7FA43400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7646320"/>
        <c:axId val="1627640080"/>
      </c:barChart>
      <c:catAx>
        <c:axId val="16276463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Age Groups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640080"/>
        <c:crosses val="autoZero"/>
        <c:auto val="1"/>
        <c:lblAlgn val="ctr"/>
        <c:lblOffset val="100"/>
        <c:noMultiLvlLbl val="0"/>
      </c:catAx>
      <c:valAx>
        <c:axId val="1627640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Total Spend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646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Subscription</a:t>
            </a:r>
            <a:r>
              <a:rPr lang="en-US" baseline="0"/>
              <a:t> Purchase Share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'Hp2'!$B$1</c:f>
              <c:strCache>
                <c:ptCount val="1"/>
                <c:pt idx="0">
                  <c:v>Avg_purchase_count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AB6-4AD4-9AE1-BC4312A4583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AB6-4AD4-9AE1-BC4312A4583C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'Hp2'!$A$2:$A$3</c:f>
              <c:strCache>
                <c:ptCount val="2"/>
                <c:pt idx="0">
                  <c:v>Subcribed</c:v>
                </c:pt>
                <c:pt idx="1">
                  <c:v>Unsubscribed</c:v>
                </c:pt>
              </c:strCache>
            </c:strRef>
          </c:cat>
          <c:val>
            <c:numRef>
              <c:f>'Hp2'!$B$2:$B$3</c:f>
              <c:numCache>
                <c:formatCode>General</c:formatCode>
                <c:ptCount val="2"/>
                <c:pt idx="0">
                  <c:v>26.084499999999998</c:v>
                </c:pt>
                <c:pt idx="1">
                  <c:v>25.080400000000001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AB6-4AD4-9AE1-BC4312A458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'Hp4'!$F$1</c:f>
              <c:strCache>
                <c:ptCount val="1"/>
                <c:pt idx="0">
                  <c:v>Total_Purchase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'Hp4'!$E$2:$E$5</c:f>
              <c:strCache>
                <c:ptCount val="4"/>
                <c:pt idx="0">
                  <c:v>Fall</c:v>
                </c:pt>
                <c:pt idx="1">
                  <c:v>Winter</c:v>
                </c:pt>
                <c:pt idx="2">
                  <c:v>Spring</c:v>
                </c:pt>
                <c:pt idx="3">
                  <c:v>Summer</c:v>
                </c:pt>
              </c:strCache>
            </c:strRef>
          </c:cat>
          <c:val>
            <c:numRef>
              <c:f>'Hp4'!$F$2:$F$5</c:f>
              <c:numCache>
                <c:formatCode>General</c:formatCode>
                <c:ptCount val="4"/>
                <c:pt idx="0">
                  <c:v>975</c:v>
                </c:pt>
                <c:pt idx="1">
                  <c:v>971</c:v>
                </c:pt>
                <c:pt idx="2">
                  <c:v>999</c:v>
                </c:pt>
                <c:pt idx="3">
                  <c:v>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21-4BFF-A395-3E451C5429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2987504"/>
        <c:axId val="1812985104"/>
      </c:barChart>
      <c:catAx>
        <c:axId val="18129875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Seasons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2985104"/>
        <c:crosses val="autoZero"/>
        <c:auto val="1"/>
        <c:lblAlgn val="ctr"/>
        <c:lblOffset val="100"/>
        <c:noMultiLvlLbl val="0"/>
      </c:catAx>
      <c:valAx>
        <c:axId val="1812985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Total Purchase 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2987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dirty="0"/>
              <a:t>Product Rating Vs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'hp5'!$B$1</c:f>
              <c:strCache>
                <c:ptCount val="1"/>
                <c:pt idx="0">
                  <c:v>Purchase_count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'hp5'!$A$2:$A$27</c:f>
              <c:numCache>
                <c:formatCode>General</c:formatCode>
                <c:ptCount val="26"/>
                <c:pt idx="0">
                  <c:v>2.5</c:v>
                </c:pt>
                <c:pt idx="1">
                  <c:v>2.6</c:v>
                </c:pt>
                <c:pt idx="2">
                  <c:v>2.7</c:v>
                </c:pt>
                <c:pt idx="3">
                  <c:v>2.8</c:v>
                </c:pt>
                <c:pt idx="4">
                  <c:v>2.9</c:v>
                </c:pt>
                <c:pt idx="5">
                  <c:v>3</c:v>
                </c:pt>
                <c:pt idx="6">
                  <c:v>3.1</c:v>
                </c:pt>
                <c:pt idx="7">
                  <c:v>3.2</c:v>
                </c:pt>
                <c:pt idx="8">
                  <c:v>3.3</c:v>
                </c:pt>
                <c:pt idx="9">
                  <c:v>3.4</c:v>
                </c:pt>
                <c:pt idx="10">
                  <c:v>3.5</c:v>
                </c:pt>
                <c:pt idx="11">
                  <c:v>3.6</c:v>
                </c:pt>
                <c:pt idx="12">
                  <c:v>3.7</c:v>
                </c:pt>
                <c:pt idx="13">
                  <c:v>3.8</c:v>
                </c:pt>
                <c:pt idx="14">
                  <c:v>3.9</c:v>
                </c:pt>
                <c:pt idx="15">
                  <c:v>4</c:v>
                </c:pt>
                <c:pt idx="16">
                  <c:v>4.0999999999999996</c:v>
                </c:pt>
                <c:pt idx="17">
                  <c:v>4.2</c:v>
                </c:pt>
                <c:pt idx="18">
                  <c:v>4.3</c:v>
                </c:pt>
                <c:pt idx="19">
                  <c:v>4.4000000000000004</c:v>
                </c:pt>
                <c:pt idx="20">
                  <c:v>4.5</c:v>
                </c:pt>
                <c:pt idx="21">
                  <c:v>4.5999999999999996</c:v>
                </c:pt>
                <c:pt idx="22">
                  <c:v>4.7</c:v>
                </c:pt>
                <c:pt idx="23">
                  <c:v>4.8</c:v>
                </c:pt>
                <c:pt idx="24">
                  <c:v>4.9000000000000004</c:v>
                </c:pt>
                <c:pt idx="25">
                  <c:v>5</c:v>
                </c:pt>
              </c:numCache>
            </c:numRef>
          </c:cat>
          <c:val>
            <c:numRef>
              <c:f>'hp5'!$B$2:$B$27</c:f>
              <c:numCache>
                <c:formatCode>General</c:formatCode>
                <c:ptCount val="26"/>
                <c:pt idx="0">
                  <c:v>66</c:v>
                </c:pt>
                <c:pt idx="1">
                  <c:v>159</c:v>
                </c:pt>
                <c:pt idx="2">
                  <c:v>154</c:v>
                </c:pt>
                <c:pt idx="3">
                  <c:v>136</c:v>
                </c:pt>
                <c:pt idx="4">
                  <c:v>170</c:v>
                </c:pt>
                <c:pt idx="5">
                  <c:v>162</c:v>
                </c:pt>
                <c:pt idx="6">
                  <c:v>157</c:v>
                </c:pt>
                <c:pt idx="7">
                  <c:v>152</c:v>
                </c:pt>
                <c:pt idx="8">
                  <c:v>152</c:v>
                </c:pt>
                <c:pt idx="9">
                  <c:v>182</c:v>
                </c:pt>
                <c:pt idx="10">
                  <c:v>156</c:v>
                </c:pt>
                <c:pt idx="11">
                  <c:v>149</c:v>
                </c:pt>
                <c:pt idx="12">
                  <c:v>156</c:v>
                </c:pt>
                <c:pt idx="13">
                  <c:v>142</c:v>
                </c:pt>
                <c:pt idx="14">
                  <c:v>163</c:v>
                </c:pt>
                <c:pt idx="15">
                  <c:v>181</c:v>
                </c:pt>
                <c:pt idx="16">
                  <c:v>148</c:v>
                </c:pt>
                <c:pt idx="17">
                  <c:v>171</c:v>
                </c:pt>
                <c:pt idx="18">
                  <c:v>147</c:v>
                </c:pt>
                <c:pt idx="19">
                  <c:v>158</c:v>
                </c:pt>
                <c:pt idx="20">
                  <c:v>139</c:v>
                </c:pt>
                <c:pt idx="21">
                  <c:v>174</c:v>
                </c:pt>
                <c:pt idx="22">
                  <c:v>148</c:v>
                </c:pt>
                <c:pt idx="23">
                  <c:v>144</c:v>
                </c:pt>
                <c:pt idx="24">
                  <c:v>166</c:v>
                </c:pt>
                <c:pt idx="25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5D-40A3-AD73-5F6E5DE5382A}"/>
            </c:ext>
          </c:extLst>
        </c:ser>
        <c:ser>
          <c:idx val="1"/>
          <c:order val="1"/>
          <c:tx>
            <c:strRef>
              <c:f>'hp5'!$C$1</c:f>
              <c:strCache>
                <c:ptCount val="1"/>
                <c:pt idx="0">
                  <c:v>Avg_spend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'hp5'!$A$2:$A$27</c:f>
              <c:numCache>
                <c:formatCode>General</c:formatCode>
                <c:ptCount val="26"/>
                <c:pt idx="0">
                  <c:v>2.5</c:v>
                </c:pt>
                <c:pt idx="1">
                  <c:v>2.6</c:v>
                </c:pt>
                <c:pt idx="2">
                  <c:v>2.7</c:v>
                </c:pt>
                <c:pt idx="3">
                  <c:v>2.8</c:v>
                </c:pt>
                <c:pt idx="4">
                  <c:v>2.9</c:v>
                </c:pt>
                <c:pt idx="5">
                  <c:v>3</c:v>
                </c:pt>
                <c:pt idx="6">
                  <c:v>3.1</c:v>
                </c:pt>
                <c:pt idx="7">
                  <c:v>3.2</c:v>
                </c:pt>
                <c:pt idx="8">
                  <c:v>3.3</c:v>
                </c:pt>
                <c:pt idx="9">
                  <c:v>3.4</c:v>
                </c:pt>
                <c:pt idx="10">
                  <c:v>3.5</c:v>
                </c:pt>
                <c:pt idx="11">
                  <c:v>3.6</c:v>
                </c:pt>
                <c:pt idx="12">
                  <c:v>3.7</c:v>
                </c:pt>
                <c:pt idx="13">
                  <c:v>3.8</c:v>
                </c:pt>
                <c:pt idx="14">
                  <c:v>3.9</c:v>
                </c:pt>
                <c:pt idx="15">
                  <c:v>4</c:v>
                </c:pt>
                <c:pt idx="16">
                  <c:v>4.0999999999999996</c:v>
                </c:pt>
                <c:pt idx="17">
                  <c:v>4.2</c:v>
                </c:pt>
                <c:pt idx="18">
                  <c:v>4.3</c:v>
                </c:pt>
                <c:pt idx="19">
                  <c:v>4.4000000000000004</c:v>
                </c:pt>
                <c:pt idx="20">
                  <c:v>4.5</c:v>
                </c:pt>
                <c:pt idx="21">
                  <c:v>4.5999999999999996</c:v>
                </c:pt>
                <c:pt idx="22">
                  <c:v>4.7</c:v>
                </c:pt>
                <c:pt idx="23">
                  <c:v>4.8</c:v>
                </c:pt>
                <c:pt idx="24">
                  <c:v>4.9000000000000004</c:v>
                </c:pt>
                <c:pt idx="25">
                  <c:v>5</c:v>
                </c:pt>
              </c:numCache>
            </c:numRef>
          </c:cat>
          <c:val>
            <c:numRef>
              <c:f>'hp5'!$C$2:$C$27</c:f>
              <c:numCache>
                <c:formatCode>General</c:formatCode>
                <c:ptCount val="26"/>
                <c:pt idx="0">
                  <c:v>62.287878787878697</c:v>
                </c:pt>
                <c:pt idx="1">
                  <c:v>59.566037735849001</c:v>
                </c:pt>
                <c:pt idx="2">
                  <c:v>59.363636363636303</c:v>
                </c:pt>
                <c:pt idx="3">
                  <c:v>57.066176470588204</c:v>
                </c:pt>
                <c:pt idx="4">
                  <c:v>56.470588235294102</c:v>
                </c:pt>
                <c:pt idx="5">
                  <c:v>60.7283950617283</c:v>
                </c:pt>
                <c:pt idx="6">
                  <c:v>58.7707006369426</c:v>
                </c:pt>
                <c:pt idx="7">
                  <c:v>61.315789473684198</c:v>
                </c:pt>
                <c:pt idx="8">
                  <c:v>59.861842105263101</c:v>
                </c:pt>
                <c:pt idx="9">
                  <c:v>59.005494505494497</c:v>
                </c:pt>
                <c:pt idx="10">
                  <c:v>58.8333333333333</c:v>
                </c:pt>
                <c:pt idx="11">
                  <c:v>57.322147651006702</c:v>
                </c:pt>
                <c:pt idx="12">
                  <c:v>58.9743589743589</c:v>
                </c:pt>
                <c:pt idx="13">
                  <c:v>60.873239436619698</c:v>
                </c:pt>
                <c:pt idx="14">
                  <c:v>58.926380368098101</c:v>
                </c:pt>
                <c:pt idx="15">
                  <c:v>59.237569060773403</c:v>
                </c:pt>
                <c:pt idx="16">
                  <c:v>61.959459459459403</c:v>
                </c:pt>
                <c:pt idx="17">
                  <c:v>60.853801169590596</c:v>
                </c:pt>
                <c:pt idx="18">
                  <c:v>59.673469387755098</c:v>
                </c:pt>
                <c:pt idx="19">
                  <c:v>60.525316455696199</c:v>
                </c:pt>
                <c:pt idx="20">
                  <c:v>59.489208633093497</c:v>
                </c:pt>
                <c:pt idx="21">
                  <c:v>57.683908045976999</c:v>
                </c:pt>
                <c:pt idx="22">
                  <c:v>59.283783783783697</c:v>
                </c:pt>
                <c:pt idx="23">
                  <c:v>61.8819444444444</c:v>
                </c:pt>
                <c:pt idx="24">
                  <c:v>63.885542168674696</c:v>
                </c:pt>
                <c:pt idx="25">
                  <c:v>64.352941176470594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65D-40A3-AD73-5F6E5DE53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upDownBars>
          <c:gapWidth val="150"/>
          <c:upBars>
            <c:spPr>
              <a:solidFill>
                <a:schemeClr val="lt1"/>
              </a:solidFill>
              <a:ln w="9525">
                <a:solidFill>
                  <a:schemeClr val="tx1">
                    <a:lumMod val="15000"/>
                    <a:lumOff val="85000"/>
                  </a:schemeClr>
                </a:solidFill>
              </a:ln>
              <a:effectLst/>
            </c:spPr>
          </c:upBars>
          <c:downBars>
            <c:spPr>
              <a:solidFill>
                <a:schemeClr val="bg1">
                  <a:lumMod val="85000"/>
                </a:schemeClr>
              </a:solidFill>
              <a:ln w="9525">
                <a:noFill/>
              </a:ln>
              <a:effectLst>
                <a:glow>
                  <a:schemeClr val="accent1">
                    <a:alpha val="40000"/>
                  </a:schemeClr>
                </a:glow>
                <a:outerShdw blurRad="50800" dist="50800" dir="5400000" sx="3000" sy="3000" algn="ctr" rotWithShape="0">
                  <a:srgbClr val="000000">
                    <a:alpha val="43137"/>
                  </a:srgbClr>
                </a:outerShdw>
              </a:effectLst>
            </c:spPr>
          </c:downBars>
        </c:upDownBars>
        <c:smooth val="0"/>
        <c:axId val="1638312672"/>
        <c:axId val="1638313152"/>
      </c:lineChart>
      <c:catAx>
        <c:axId val="1638312672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Product Rating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8313152"/>
        <c:crosses val="autoZero"/>
        <c:auto val="1"/>
        <c:lblAlgn val="ctr"/>
        <c:lblOffset val="100"/>
        <c:noMultiLvlLbl val="0"/>
      </c:catAx>
      <c:valAx>
        <c:axId val="16383131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8312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'hp3'!$F$2:$H$11</cx:f>
        <cx:lvl ptCount="10">
          <cx:pt idx="0">Blouse</cx:pt>
          <cx:pt idx="1">Sandals</cx:pt>
          <cx:pt idx="2">Shirt</cx:pt>
          <cx:pt idx="3">Socks</cx:pt>
          <cx:pt idx="4">Handbag</cx:pt>
          <cx:pt idx="5">Pants</cx:pt>
          <cx:pt idx="6">Jewelry</cx:pt>
          <cx:pt idx="7">Dress</cx:pt>
          <cx:pt idx="8">Coat</cx:pt>
          <cx:pt idx="9">Sweater</cx:pt>
        </cx:lvl>
        <cx:lvl ptCount="10">
          <cx:pt idx="0">Clothing</cx:pt>
          <cx:pt idx="1">Footwear</cx:pt>
          <cx:pt idx="2">Clothing</cx:pt>
          <cx:pt idx="3">Clothing</cx:pt>
          <cx:pt idx="4">Accessories</cx:pt>
          <cx:pt idx="5">Clothing</cx:pt>
          <cx:pt idx="6">Accessories</cx:pt>
          <cx:pt idx="7">Clothing</cx:pt>
          <cx:pt idx="8">Outerwear</cx:pt>
          <cx:pt idx="9">Clothing</cx:pt>
        </cx:lvl>
        <cx:lvl ptCount="10">
          <cx:pt idx="0">Female</cx:pt>
          <cx:pt idx="1">Female</cx:pt>
          <cx:pt idx="2">Female</cx:pt>
          <cx:pt idx="3">Female</cx:pt>
          <cx:pt idx="4">Female</cx:pt>
          <cx:pt idx="5">Male</cx:pt>
          <cx:pt idx="6">Male</cx:pt>
          <cx:pt idx="7">Male</cx:pt>
          <cx:pt idx="8">Male</cx:pt>
          <cx:pt idx="9">Male</cx:pt>
        </cx:lvl>
      </cx:strDim>
      <cx:numDim type="size">
        <cx:f>'hp3'!$I$2:$I$11</cx:f>
        <cx:lvl ptCount="10" formatCode="General">
          <cx:pt idx="0">66</cx:pt>
          <cx:pt idx="1">59</cx:pt>
          <cx:pt idx="2">59</cx:pt>
          <cx:pt idx="3">58</cx:pt>
          <cx:pt idx="4">58</cx:pt>
          <cx:pt idx="5">123</cx:pt>
          <cx:pt idx="6">119</cx:pt>
          <cx:pt idx="7">114</cx:pt>
          <cx:pt idx="8">114</cx:pt>
          <cx:pt idx="9">114</cx:pt>
        </cx:lvl>
      </cx:numDim>
    </cx:data>
  </cx:chartData>
  <cx:chart>
    <cx:title pos="t" align="ctr" overlay="0">
      <cx:tx>
        <cx:txData>
          <cx:v>Top Product By Gender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GB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Top Product By Gender</a:t>
          </a:r>
        </a:p>
      </cx:txPr>
    </cx:title>
    <cx:plotArea>
      <cx:plotAreaRegion>
        <cx:series layoutId="treemap" uniqueId="{2929ECAC-0D8F-435B-BFAE-3209AB27ACAE}">
          <cx:tx>
            <cx:txData>
              <cx:f>'hp3'!$I$1</cx:f>
              <cx:v>Purchase_count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7ff3ab5996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7ff3ab5996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7ff3ab5996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7ff3ab5996_0_2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b292a6a24b_4_1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b292a6a24b_4_14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>
                <a:latin typeface="Nunito Sans"/>
                <a:ea typeface="Nunito Sans"/>
                <a:cs typeface="Nunito Sans"/>
                <a:sym typeface="Nunito Sans"/>
              </a:rPr>
              <a:t>Barbara: The Marketing &amp; Sales team at Dress to Impress has shopping behavior of customers of the Dress to Impress online store based on age, gender, season, rating, shipping method and payment method 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b292a6a24b_4_1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b292a6a24b_4_14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Barbara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b292a6a24b_4_1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b292a6a24b_4_14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Barbara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b292a6a24b_4_1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b292a6a24b_4_14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f34c8dc71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f34c8dc717_0_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b292a6a24b_4_1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b292a6a24b_4_14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Barbara</a:t>
            </a:r>
          </a:p>
        </p:txBody>
      </p:sp>
    </p:spTree>
    <p:extLst>
      <p:ext uri="{BB962C8B-B14F-4D97-AF65-F5344CB8AC3E}">
        <p14:creationId xmlns:p14="http://schemas.microsoft.com/office/powerpoint/2010/main" val="2283242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b292a6a24b_4_1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b292a6a24b_4_149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b292a6a24b_4_1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b292a6a24b_4_148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f34c8dc71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f34c8dc717_0_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27ff3ab5996_0_1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27ff3ab5996_0_1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7ff3ab5996_0_1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27ff3ab5996_0_1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27ff3ab5996_0_1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27ff3ab5996_0_13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BLANK_1">
    <p:bg>
      <p:bgPr>
        <a:solidFill>
          <a:schemeClr val="accen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149600" y="3974525"/>
            <a:ext cx="6844800" cy="9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Roboto"/>
              <a:buNone/>
            </a:pPr>
            <a:endParaRPr sz="2100" b="1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-16506" y="3519700"/>
            <a:ext cx="9177000" cy="127200"/>
          </a:xfrm>
          <a:prstGeom prst="rect">
            <a:avLst/>
          </a:prstGeom>
          <a:solidFill>
            <a:srgbClr val="101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4011" y="492852"/>
            <a:ext cx="1417427" cy="23677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602375" y="3763775"/>
            <a:ext cx="584700" cy="43500"/>
          </a:xfrm>
          <a:prstGeom prst="rect">
            <a:avLst/>
          </a:prstGeom>
          <a:solidFill>
            <a:srgbClr val="FFC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481625" y="1661408"/>
            <a:ext cx="4995600" cy="20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2"/>
          </p:nvPr>
        </p:nvSpPr>
        <p:spPr>
          <a:xfrm>
            <a:off x="481625" y="1214325"/>
            <a:ext cx="4995600" cy="4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unito Sans"/>
              <a:buNone/>
              <a:defRPr sz="1600">
                <a:solidFill>
                  <a:schemeClr val="accent3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3"/>
          </p:nvPr>
        </p:nvSpPr>
        <p:spPr>
          <a:xfrm>
            <a:off x="489681" y="4077301"/>
            <a:ext cx="49956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"/>
              <a:buNone/>
              <a:defRPr sz="1200" b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opic">
  <p:cSld name="Title &amp; Subtitle copy_1_1">
    <p:bg>
      <p:bgPr>
        <a:solidFill>
          <a:schemeClr val="accent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grpSp>
        <p:nvGrpSpPr>
          <p:cNvPr id="60" name="Google Shape;60;p14"/>
          <p:cNvGrpSpPr/>
          <p:nvPr/>
        </p:nvGrpSpPr>
        <p:grpSpPr>
          <a:xfrm>
            <a:off x="0" y="4214375"/>
            <a:ext cx="3205550" cy="940800"/>
            <a:chOff x="-7375" y="4207325"/>
            <a:chExt cx="3205550" cy="940800"/>
          </a:xfrm>
        </p:grpSpPr>
        <p:cxnSp>
          <p:nvCxnSpPr>
            <p:cNvPr id="61" name="Google Shape;61;p14"/>
            <p:cNvCxnSpPr/>
            <p:nvPr/>
          </p:nvCxnSpPr>
          <p:spPr>
            <a:xfrm rot="10800000" flipH="1">
              <a:off x="-7375" y="4208925"/>
              <a:ext cx="2490300" cy="503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14"/>
            <p:cNvCxnSpPr/>
            <p:nvPr/>
          </p:nvCxnSpPr>
          <p:spPr>
            <a:xfrm rot="10800000" flipH="1">
              <a:off x="1070975" y="4213625"/>
              <a:ext cx="1409700" cy="934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14"/>
            <p:cNvCxnSpPr/>
            <p:nvPr/>
          </p:nvCxnSpPr>
          <p:spPr>
            <a:xfrm rot="10800000">
              <a:off x="2478175" y="4207325"/>
              <a:ext cx="720000" cy="9408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" name="Google Shape;64;p14"/>
          <p:cNvGrpSpPr/>
          <p:nvPr/>
        </p:nvGrpSpPr>
        <p:grpSpPr>
          <a:xfrm rot="10800000">
            <a:off x="5938450" y="0"/>
            <a:ext cx="3205550" cy="940800"/>
            <a:chOff x="-7375" y="4207325"/>
            <a:chExt cx="3205550" cy="940800"/>
          </a:xfrm>
        </p:grpSpPr>
        <p:cxnSp>
          <p:nvCxnSpPr>
            <p:cNvPr id="65" name="Google Shape;65;p14"/>
            <p:cNvCxnSpPr/>
            <p:nvPr/>
          </p:nvCxnSpPr>
          <p:spPr>
            <a:xfrm rot="10800000" flipH="1">
              <a:off x="-7375" y="4208925"/>
              <a:ext cx="2490300" cy="503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14"/>
            <p:cNvCxnSpPr/>
            <p:nvPr/>
          </p:nvCxnSpPr>
          <p:spPr>
            <a:xfrm rot="10800000" flipH="1">
              <a:off x="1070975" y="4213625"/>
              <a:ext cx="1409700" cy="934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67;p14"/>
            <p:cNvCxnSpPr/>
            <p:nvPr/>
          </p:nvCxnSpPr>
          <p:spPr>
            <a:xfrm rot="10800000">
              <a:off x="2478175" y="4207325"/>
              <a:ext cx="720000" cy="9408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ndard 2">
  <p:cSld name="TITLE_2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None/>
              <a:defRPr sz="2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485800" y="1124025"/>
            <a:ext cx="460500" cy="49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8651249" y="4824025"/>
            <a:ext cx="3306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900">
              <a:solidFill>
                <a:srgbClr val="99999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type="blank">
  <p:cSld name="BLANK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1525950" y="1996138"/>
            <a:ext cx="6092100" cy="3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title" idx="2"/>
          </p:nvPr>
        </p:nvSpPr>
        <p:spPr>
          <a:xfrm>
            <a:off x="2442450" y="2815693"/>
            <a:ext cx="4259100" cy="1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3"/>
          </p:nvPr>
        </p:nvSpPr>
        <p:spPr>
          <a:xfrm>
            <a:off x="2442450" y="2982958"/>
            <a:ext cx="4259100" cy="1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ndard">
  <p:cSld name="TITLE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None/>
              <a:defRPr sz="2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83" name="Google Shape;83;p18"/>
          <p:cNvSpPr/>
          <p:nvPr/>
        </p:nvSpPr>
        <p:spPr>
          <a:xfrm>
            <a:off x="485800" y="1124025"/>
            <a:ext cx="460500" cy="49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8651249" y="4824025"/>
            <a:ext cx="3306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900">
              <a:solidFill>
                <a:srgbClr val="99999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>
  <p:cSld name="Title &amp; Subtitle copy_1_1">
    <p:bg>
      <p:bgPr>
        <a:solidFill>
          <a:srgbClr val="434343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9"/>
          <p:cNvGrpSpPr/>
          <p:nvPr/>
        </p:nvGrpSpPr>
        <p:grpSpPr>
          <a:xfrm>
            <a:off x="125" y="0"/>
            <a:ext cx="9143740" cy="644743"/>
            <a:chOff x="125" y="0"/>
            <a:chExt cx="9143740" cy="644743"/>
          </a:xfrm>
        </p:grpSpPr>
        <p:grpSp>
          <p:nvGrpSpPr>
            <p:cNvPr id="88" name="Google Shape;88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89" name="Google Shape;8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" name="Google Shape;98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99" name="Google Shape;9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" name="Google Shape;108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109" name="Google Shape;10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119" name="Google Shape;11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" name="Google Shape;128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129" name="Google Shape;12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139" name="Google Shape;139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" name="Google Shape;148;p19"/>
          <p:cNvGrpSpPr/>
          <p:nvPr/>
        </p:nvGrpSpPr>
        <p:grpSpPr>
          <a:xfrm>
            <a:off x="125" y="644750"/>
            <a:ext cx="9143740" cy="644743"/>
            <a:chOff x="125" y="0"/>
            <a:chExt cx="9143740" cy="644743"/>
          </a:xfrm>
        </p:grpSpPr>
        <p:grpSp>
          <p:nvGrpSpPr>
            <p:cNvPr id="149" name="Google Shape;149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150" name="Google Shape;15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160" name="Google Shape;16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170" name="Google Shape;17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180" name="Google Shape;18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190" name="Google Shape;19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9" name="Google Shape;199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200" name="Google Shape;200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" name="Google Shape;209;p19"/>
          <p:cNvGrpSpPr/>
          <p:nvPr/>
        </p:nvGrpSpPr>
        <p:grpSpPr>
          <a:xfrm>
            <a:off x="125" y="1289500"/>
            <a:ext cx="9143740" cy="644743"/>
            <a:chOff x="125" y="0"/>
            <a:chExt cx="9143740" cy="644743"/>
          </a:xfrm>
        </p:grpSpPr>
        <p:grpSp>
          <p:nvGrpSpPr>
            <p:cNvPr id="210" name="Google Shape;210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211" name="Google Shape;21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221" name="Google Shape;22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" name="Google Shape;230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231" name="Google Shape;23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0" name="Google Shape;240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241" name="Google Shape;24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0" name="Google Shape;250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251" name="Google Shape;25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261" name="Google Shape;261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0" name="Google Shape;270;p19"/>
          <p:cNvGrpSpPr/>
          <p:nvPr/>
        </p:nvGrpSpPr>
        <p:grpSpPr>
          <a:xfrm>
            <a:off x="125" y="1934250"/>
            <a:ext cx="9143740" cy="644743"/>
            <a:chOff x="125" y="0"/>
            <a:chExt cx="9143740" cy="644743"/>
          </a:xfrm>
        </p:grpSpPr>
        <p:grpSp>
          <p:nvGrpSpPr>
            <p:cNvPr id="271" name="Google Shape;271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272" name="Google Shape;27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282" name="Google Shape;28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" name="Google Shape;291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292" name="Google Shape;29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1" name="Google Shape;301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302" name="Google Shape;30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1" name="Google Shape;311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312" name="Google Shape;31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1" name="Google Shape;321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322" name="Google Shape;322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1" name="Google Shape;331;p19"/>
          <p:cNvGrpSpPr/>
          <p:nvPr/>
        </p:nvGrpSpPr>
        <p:grpSpPr>
          <a:xfrm>
            <a:off x="125" y="2579000"/>
            <a:ext cx="9143740" cy="644743"/>
            <a:chOff x="125" y="0"/>
            <a:chExt cx="9143740" cy="644743"/>
          </a:xfrm>
        </p:grpSpPr>
        <p:grpSp>
          <p:nvGrpSpPr>
            <p:cNvPr id="332" name="Google Shape;332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333" name="Google Shape;33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2" name="Google Shape;342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343" name="Google Shape;34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2" name="Google Shape;352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353" name="Google Shape;35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" name="Google Shape;362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363" name="Google Shape;36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2" name="Google Shape;372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373" name="Google Shape;37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2" name="Google Shape;382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383" name="Google Shape;383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2" name="Google Shape;392;p19"/>
          <p:cNvGrpSpPr/>
          <p:nvPr/>
        </p:nvGrpSpPr>
        <p:grpSpPr>
          <a:xfrm>
            <a:off x="125" y="3223750"/>
            <a:ext cx="9143740" cy="644743"/>
            <a:chOff x="125" y="0"/>
            <a:chExt cx="9143740" cy="644743"/>
          </a:xfrm>
        </p:grpSpPr>
        <p:grpSp>
          <p:nvGrpSpPr>
            <p:cNvPr id="393" name="Google Shape;393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394" name="Google Shape;39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3" name="Google Shape;403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404" name="Google Shape;40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3" name="Google Shape;413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414" name="Google Shape;41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3" name="Google Shape;423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424" name="Google Shape;42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434" name="Google Shape;43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3" name="Google Shape;443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444" name="Google Shape;444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3" name="Google Shape;453;p19"/>
          <p:cNvGrpSpPr/>
          <p:nvPr/>
        </p:nvGrpSpPr>
        <p:grpSpPr>
          <a:xfrm>
            <a:off x="125" y="3868500"/>
            <a:ext cx="9143740" cy="644743"/>
            <a:chOff x="125" y="0"/>
            <a:chExt cx="9143740" cy="644743"/>
          </a:xfrm>
        </p:grpSpPr>
        <p:grpSp>
          <p:nvGrpSpPr>
            <p:cNvPr id="454" name="Google Shape;454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455" name="Google Shape;45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4" name="Google Shape;464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465" name="Google Shape;46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4" name="Google Shape;474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475" name="Google Shape;47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4" name="Google Shape;484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485" name="Google Shape;48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4" name="Google Shape;494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495" name="Google Shape;49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4" name="Google Shape;504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505" name="Google Shape;505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125" y="4513250"/>
            <a:ext cx="9143740" cy="644743"/>
            <a:chOff x="125" y="0"/>
            <a:chExt cx="9143740" cy="644743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125" y="0"/>
              <a:ext cx="3047649" cy="322368"/>
              <a:chOff x="137" y="0"/>
              <a:chExt cx="9143863" cy="967200"/>
            </a:xfrm>
          </p:grpSpPr>
          <p:sp>
            <p:nvSpPr>
              <p:cNvPr id="516" name="Google Shape;51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5" name="Google Shape;525;p19"/>
            <p:cNvGrpSpPr/>
            <p:nvPr/>
          </p:nvGrpSpPr>
          <p:grpSpPr>
            <a:xfrm>
              <a:off x="3048305" y="0"/>
              <a:ext cx="3047649" cy="322368"/>
              <a:chOff x="137" y="0"/>
              <a:chExt cx="9143863" cy="967200"/>
            </a:xfrm>
          </p:grpSpPr>
          <p:sp>
            <p:nvSpPr>
              <p:cNvPr id="526" name="Google Shape;52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" name="Google Shape;535;p19"/>
            <p:cNvGrpSpPr/>
            <p:nvPr/>
          </p:nvGrpSpPr>
          <p:grpSpPr>
            <a:xfrm>
              <a:off x="6096216" y="0"/>
              <a:ext cx="3047649" cy="322368"/>
              <a:chOff x="137" y="0"/>
              <a:chExt cx="9143863" cy="967200"/>
            </a:xfrm>
          </p:grpSpPr>
          <p:sp>
            <p:nvSpPr>
              <p:cNvPr id="536" name="Google Shape;53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19"/>
            <p:cNvGrpSpPr/>
            <p:nvPr/>
          </p:nvGrpSpPr>
          <p:grpSpPr>
            <a:xfrm>
              <a:off x="125" y="322375"/>
              <a:ext cx="3047649" cy="322368"/>
              <a:chOff x="137" y="0"/>
              <a:chExt cx="9143863" cy="967200"/>
            </a:xfrm>
          </p:grpSpPr>
          <p:sp>
            <p:nvSpPr>
              <p:cNvPr id="546" name="Google Shape;54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5" name="Google Shape;555;p19"/>
            <p:cNvGrpSpPr/>
            <p:nvPr/>
          </p:nvGrpSpPr>
          <p:grpSpPr>
            <a:xfrm>
              <a:off x="3048305" y="322375"/>
              <a:ext cx="3047649" cy="322368"/>
              <a:chOff x="137" y="0"/>
              <a:chExt cx="9143863" cy="967200"/>
            </a:xfrm>
          </p:grpSpPr>
          <p:sp>
            <p:nvSpPr>
              <p:cNvPr id="556" name="Google Shape;55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5" name="Google Shape;565;p19"/>
            <p:cNvGrpSpPr/>
            <p:nvPr/>
          </p:nvGrpSpPr>
          <p:grpSpPr>
            <a:xfrm>
              <a:off x="6096216" y="322375"/>
              <a:ext cx="3047649" cy="322368"/>
              <a:chOff x="137" y="0"/>
              <a:chExt cx="9143863" cy="967200"/>
            </a:xfrm>
          </p:grpSpPr>
          <p:sp>
            <p:nvSpPr>
              <p:cNvPr id="566" name="Google Shape;566;p19"/>
              <p:cNvSpPr/>
              <p:nvPr/>
            </p:nvSpPr>
            <p:spPr>
              <a:xfrm rot="5400000">
                <a:off x="2443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9"/>
              <p:cNvSpPr/>
              <p:nvPr/>
            </p:nvSpPr>
            <p:spPr>
              <a:xfrm rot="5400000">
                <a:off x="1040445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9"/>
              <p:cNvSpPr/>
              <p:nvPr/>
            </p:nvSpPr>
            <p:spPr>
              <a:xfrm rot="5400000">
                <a:off x="2056453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9"/>
              <p:cNvSpPr/>
              <p:nvPr/>
            </p:nvSpPr>
            <p:spPr>
              <a:xfrm rot="5400000">
                <a:off x="3072461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9"/>
              <p:cNvSpPr/>
              <p:nvPr/>
            </p:nvSpPr>
            <p:spPr>
              <a:xfrm rot="5400000">
                <a:off x="4088469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19"/>
              <p:cNvSpPr/>
              <p:nvPr/>
            </p:nvSpPr>
            <p:spPr>
              <a:xfrm rot="5400000">
                <a:off x="5104477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19"/>
              <p:cNvSpPr/>
              <p:nvPr/>
            </p:nvSpPr>
            <p:spPr>
              <a:xfrm rot="5400000">
                <a:off x="6120484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19"/>
              <p:cNvSpPr/>
              <p:nvPr/>
            </p:nvSpPr>
            <p:spPr>
              <a:xfrm rot="5400000">
                <a:off x="7136492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9"/>
              <p:cNvSpPr/>
              <p:nvPr/>
            </p:nvSpPr>
            <p:spPr>
              <a:xfrm rot="5400000">
                <a:off x="8152500" y="-24300"/>
                <a:ext cx="967200" cy="1015800"/>
              </a:xfrm>
              <a:prstGeom prst="rtTriangle">
                <a:avLst/>
              </a:prstGeom>
              <a:solidFill>
                <a:srgbClr val="4F4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19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Title &amp; Subtitle copy_1_1_1">
    <p:bg>
      <p:bgPr>
        <a:noFill/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0"/>
          <p:cNvSpPr txBox="1">
            <a:spLocks noGrp="1"/>
          </p:cNvSpPr>
          <p:nvPr>
            <p:ph type="title"/>
          </p:nvPr>
        </p:nvSpPr>
        <p:spPr>
          <a:xfrm>
            <a:off x="1412000" y="1763700"/>
            <a:ext cx="6223800" cy="88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78" name="Google Shape;578;p20"/>
          <p:cNvSpPr txBox="1">
            <a:spLocks noGrp="1"/>
          </p:cNvSpPr>
          <p:nvPr>
            <p:ph type="title" idx="2"/>
          </p:nvPr>
        </p:nvSpPr>
        <p:spPr>
          <a:xfrm>
            <a:off x="2720538" y="3290175"/>
            <a:ext cx="37029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Page Number">
  <p:cSld name="CUSTOM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1"/>
          <p:cNvSpPr txBox="1">
            <a:spLocks noGrp="1"/>
          </p:cNvSpPr>
          <p:nvPr>
            <p:ph type="subTitle" idx="1"/>
          </p:nvPr>
        </p:nvSpPr>
        <p:spPr>
          <a:xfrm>
            <a:off x="131169" y="62902"/>
            <a:ext cx="2040600" cy="3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81" name="Google Shape;581;p21"/>
          <p:cNvSpPr txBox="1"/>
          <p:nvPr/>
        </p:nvSpPr>
        <p:spPr>
          <a:xfrm>
            <a:off x="8651249" y="4824025"/>
            <a:ext cx="3306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900">
              <a:solidFill>
                <a:srgbClr val="9999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Review 1">
  <p:cSld name="Title &amp; Subtitle copy_1_1_2">
    <p:bg>
      <p:bgPr>
        <a:solidFill>
          <a:srgbClr val="0096FF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22"/>
          <p:cNvPicPr preferRelativeResize="0"/>
          <p:nvPr/>
        </p:nvPicPr>
        <p:blipFill rotWithShape="1">
          <a:blip r:embed="rId2">
            <a:alphaModFix/>
          </a:blip>
          <a:srcRect t="109" b="109"/>
          <a:stretch/>
        </p:blipFill>
        <p:spPr>
          <a:xfrm>
            <a:off x="0" y="5542"/>
            <a:ext cx="9144000" cy="5132414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2"/>
          <p:cNvSpPr txBox="1">
            <a:spLocks noGrp="1"/>
          </p:cNvSpPr>
          <p:nvPr>
            <p:ph type="subTitle" idx="1"/>
          </p:nvPr>
        </p:nvSpPr>
        <p:spPr>
          <a:xfrm>
            <a:off x="3033000" y="1968197"/>
            <a:ext cx="3078000" cy="6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22"/>
          <p:cNvSpPr txBox="1">
            <a:spLocks noGrp="1"/>
          </p:cNvSpPr>
          <p:nvPr>
            <p:ph type="title"/>
          </p:nvPr>
        </p:nvSpPr>
        <p:spPr>
          <a:xfrm>
            <a:off x="850500" y="243670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92" name="Google Shape;592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3" name="Google Shape;59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6" name="Google Shape;59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0" name="Google Shape;60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04" name="Google Shape;604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05" name="Google Shape;60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1" name="Google Shape;611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12" name="Google Shape;61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15" name="Google Shape;615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19" name="Google Shape;619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0" name="Google Shape;620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1" name="Google Shape;62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24" name="Google Shape;6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7" name="Google Shape;627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8" name="Google Shape;628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BLANK_1"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5"/>
          <p:cNvSpPr txBox="1">
            <a:spLocks noGrp="1"/>
          </p:cNvSpPr>
          <p:nvPr>
            <p:ph type="title"/>
          </p:nvPr>
        </p:nvSpPr>
        <p:spPr>
          <a:xfrm>
            <a:off x="1525950" y="1996138"/>
            <a:ext cx="6092100" cy="3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33" name="Google Shape;633;p35"/>
          <p:cNvSpPr txBox="1">
            <a:spLocks noGrp="1"/>
          </p:cNvSpPr>
          <p:nvPr>
            <p:ph type="title" idx="2"/>
          </p:nvPr>
        </p:nvSpPr>
        <p:spPr>
          <a:xfrm>
            <a:off x="2442450" y="2815693"/>
            <a:ext cx="4259100" cy="1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34" name="Google Shape;634;p35"/>
          <p:cNvSpPr txBox="1">
            <a:spLocks noGrp="1"/>
          </p:cNvSpPr>
          <p:nvPr>
            <p:ph type="title" idx="3"/>
          </p:nvPr>
        </p:nvSpPr>
        <p:spPr>
          <a:xfrm>
            <a:off x="2442450" y="2982958"/>
            <a:ext cx="4259100" cy="1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opic">
  <p:cSld name="Title &amp; Subtitle copy_1_1">
    <p:bg>
      <p:bgPr>
        <a:solidFill>
          <a:schemeClr val="accent2"/>
        </a:solidFill>
        <a:effectLst/>
      </p:bgPr>
    </p:bg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6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grpSp>
        <p:nvGrpSpPr>
          <p:cNvPr id="637" name="Google Shape;637;p36"/>
          <p:cNvGrpSpPr/>
          <p:nvPr/>
        </p:nvGrpSpPr>
        <p:grpSpPr>
          <a:xfrm>
            <a:off x="0" y="4214375"/>
            <a:ext cx="3205550" cy="940800"/>
            <a:chOff x="-7375" y="4207325"/>
            <a:chExt cx="3205550" cy="940800"/>
          </a:xfrm>
        </p:grpSpPr>
        <p:cxnSp>
          <p:nvCxnSpPr>
            <p:cNvPr id="638" name="Google Shape;638;p36"/>
            <p:cNvCxnSpPr/>
            <p:nvPr/>
          </p:nvCxnSpPr>
          <p:spPr>
            <a:xfrm rot="10800000" flipH="1">
              <a:off x="-7375" y="4208925"/>
              <a:ext cx="2490300" cy="503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9" name="Google Shape;639;p36"/>
            <p:cNvCxnSpPr/>
            <p:nvPr/>
          </p:nvCxnSpPr>
          <p:spPr>
            <a:xfrm rot="10800000" flipH="1">
              <a:off x="1070975" y="4213625"/>
              <a:ext cx="1409700" cy="934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36"/>
            <p:cNvCxnSpPr/>
            <p:nvPr/>
          </p:nvCxnSpPr>
          <p:spPr>
            <a:xfrm rot="10800000">
              <a:off x="2478175" y="4207325"/>
              <a:ext cx="720000" cy="9408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1" name="Google Shape;641;p36"/>
          <p:cNvGrpSpPr/>
          <p:nvPr/>
        </p:nvGrpSpPr>
        <p:grpSpPr>
          <a:xfrm rot="10800000">
            <a:off x="5938450" y="0"/>
            <a:ext cx="3205550" cy="940800"/>
            <a:chOff x="-7375" y="4207325"/>
            <a:chExt cx="3205550" cy="940800"/>
          </a:xfrm>
        </p:grpSpPr>
        <p:cxnSp>
          <p:nvCxnSpPr>
            <p:cNvPr id="642" name="Google Shape;642;p36"/>
            <p:cNvCxnSpPr/>
            <p:nvPr/>
          </p:nvCxnSpPr>
          <p:spPr>
            <a:xfrm rot="10800000" flipH="1">
              <a:off x="-7375" y="4208925"/>
              <a:ext cx="2490300" cy="503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36"/>
            <p:cNvCxnSpPr/>
            <p:nvPr/>
          </p:nvCxnSpPr>
          <p:spPr>
            <a:xfrm rot="10800000" flipH="1">
              <a:off x="1070975" y="4213625"/>
              <a:ext cx="1409700" cy="934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36"/>
            <p:cNvCxnSpPr/>
            <p:nvPr/>
          </p:nvCxnSpPr>
          <p:spPr>
            <a:xfrm rot="10800000">
              <a:off x="2478175" y="4207325"/>
              <a:ext cx="720000" cy="9408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ndard 1">
  <p:cSld name="TITLE_2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7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None/>
              <a:defRPr sz="2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6FF"/>
              </a:buClr>
              <a:buSzPts val="2200"/>
              <a:buFont typeface="Merriweather"/>
              <a:buNone/>
              <a:defRPr sz="2200">
                <a:solidFill>
                  <a:srgbClr val="0096FF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47" name="Google Shape;647;p37"/>
          <p:cNvSpPr/>
          <p:nvPr/>
        </p:nvSpPr>
        <p:spPr>
          <a:xfrm>
            <a:off x="485800" y="1124025"/>
            <a:ext cx="460500" cy="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37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●"/>
              <a:defRPr sz="1200"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○"/>
              <a:defRPr sz="1200"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Georgia"/>
              <a:buChar char="■"/>
              <a:defRPr sz="1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49" name="Google Shape;649;p37"/>
          <p:cNvSpPr txBox="1"/>
          <p:nvPr/>
        </p:nvSpPr>
        <p:spPr>
          <a:xfrm>
            <a:off x="8651249" y="4824025"/>
            <a:ext cx="3306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900">
              <a:solidFill>
                <a:srgbClr val="99999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Review 1">
  <p:cSld name="Title &amp; Subtitle copy_1_1_2">
    <p:bg>
      <p:bgPr>
        <a:solidFill>
          <a:srgbClr val="0096FF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38"/>
          <p:cNvPicPr preferRelativeResize="0"/>
          <p:nvPr/>
        </p:nvPicPr>
        <p:blipFill rotWithShape="1">
          <a:blip r:embed="rId2">
            <a:alphaModFix/>
          </a:blip>
          <a:srcRect t="109" b="109"/>
          <a:stretch/>
        </p:blipFill>
        <p:spPr>
          <a:xfrm>
            <a:off x="0" y="5542"/>
            <a:ext cx="9144000" cy="5132414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8"/>
          <p:cNvSpPr txBox="1">
            <a:spLocks noGrp="1"/>
          </p:cNvSpPr>
          <p:nvPr>
            <p:ph type="subTitle" idx="1"/>
          </p:nvPr>
        </p:nvSpPr>
        <p:spPr>
          <a:xfrm>
            <a:off x="3033000" y="1968197"/>
            <a:ext cx="3078000" cy="6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53" name="Google Shape;653;p38"/>
          <p:cNvSpPr txBox="1">
            <a:spLocks noGrp="1"/>
          </p:cNvSpPr>
          <p:nvPr>
            <p:ph type="title"/>
          </p:nvPr>
        </p:nvSpPr>
        <p:spPr>
          <a:xfrm>
            <a:off x="850500" y="243670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Proxima Nova"/>
              <a:buNone/>
              <a:defRPr sz="2200" b="1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B95FD"/>
              </a:buClr>
              <a:buSzPts val="2200"/>
              <a:buFont typeface="Proxima Nova"/>
              <a:buNone/>
              <a:defRPr sz="2200" b="1">
                <a:solidFill>
                  <a:srgbClr val="2B95FD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116375" y="1356761"/>
            <a:ext cx="60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●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○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■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●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○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■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●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175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eorgia"/>
              <a:buChar char="○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17500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400"/>
              <a:buFont typeface="Georgia"/>
              <a:buChar char="■"/>
              <a:defRPr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8" name="Google Shape;58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9" name="Google Shape;58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9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</a:t>
            </a:r>
            <a:endParaRPr b="0"/>
          </a:p>
        </p:txBody>
      </p:sp>
      <p:pic>
        <p:nvPicPr>
          <p:cNvPr id="659" name="Google Shape;659;p39"/>
          <p:cNvPicPr preferRelativeResize="0"/>
          <p:nvPr/>
        </p:nvPicPr>
        <p:blipFill rotWithShape="1">
          <a:blip r:embed="rId3">
            <a:alphaModFix/>
          </a:blip>
          <a:srcRect t="16072"/>
          <a:stretch/>
        </p:blipFill>
        <p:spPr>
          <a:xfrm>
            <a:off x="0" y="0"/>
            <a:ext cx="91883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9"/>
          <p:cNvSpPr/>
          <p:nvPr/>
        </p:nvSpPr>
        <p:spPr>
          <a:xfrm>
            <a:off x="0" y="1777800"/>
            <a:ext cx="9188400" cy="1587900"/>
          </a:xfrm>
          <a:prstGeom prst="rect">
            <a:avLst/>
          </a:prstGeom>
          <a:solidFill>
            <a:srgbClr val="FFFFFF">
              <a:alpha val="88460"/>
            </a:srgbClr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1" name="Google Shape;661;p39"/>
          <p:cNvSpPr txBox="1"/>
          <p:nvPr/>
        </p:nvSpPr>
        <p:spPr>
          <a:xfrm>
            <a:off x="1525950" y="1996138"/>
            <a:ext cx="60921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200" dirty="0">
                <a:latin typeface="Nunito Sans"/>
                <a:ea typeface="Nunito Sans"/>
                <a:cs typeface="Nunito Sans"/>
                <a:sym typeface="Nunito Sans"/>
              </a:rPr>
              <a:t>Shopping Behavior Analysis</a:t>
            </a:r>
            <a:endParaRPr sz="2200" dirty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62" name="Google Shape;662;p39"/>
          <p:cNvSpPr txBox="1"/>
          <p:nvPr/>
        </p:nvSpPr>
        <p:spPr>
          <a:xfrm>
            <a:off x="2442450" y="2815693"/>
            <a:ext cx="42591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Nunito Sans"/>
                <a:ea typeface="Nunito Sans"/>
                <a:cs typeface="Nunito Sans"/>
                <a:sym typeface="Nunito Sans"/>
              </a:rPr>
              <a:t>Barbara Klimova, Aleem Shaikh</a:t>
            </a:r>
            <a:endParaRPr sz="800" dirty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63" name="Google Shape;663;p39"/>
          <p:cNvSpPr txBox="1"/>
          <p:nvPr/>
        </p:nvSpPr>
        <p:spPr>
          <a:xfrm>
            <a:off x="2442450" y="2982958"/>
            <a:ext cx="42591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Nunito Sans"/>
                <a:ea typeface="Nunito Sans"/>
                <a:cs typeface="Nunito Sans"/>
                <a:sym typeface="Nunito Sans"/>
              </a:rPr>
              <a:t>Brain Station - Data Analytics Certificate</a:t>
            </a:r>
            <a:endParaRPr sz="800" dirty="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0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Agenda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71" name="Google Shape;671;p40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1000"/>
              </a:spcBef>
              <a:buClr>
                <a:schemeClr val="dk1"/>
              </a:buClr>
              <a:buSzPts val="1100"/>
              <a:buFont typeface="Arial"/>
              <a:buAutoNum type="romanUcPeriod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Hypothesis formulation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romanUcPeriod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Data Cleansing &amp; Organization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romanUcPeriod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Analysis of findings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romanUcPeriod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Visualization of the storyline 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romanUcPeriod"/>
            </a:pP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1"/>
          <p:cNvSpPr txBox="1">
            <a:spLocks noGrp="1"/>
          </p:cNvSpPr>
          <p:nvPr>
            <p:ph type="title"/>
          </p:nvPr>
        </p:nvSpPr>
        <p:spPr>
          <a:xfrm>
            <a:off x="302623" y="294296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latin typeface="Nunito Sans"/>
                <a:ea typeface="Nunito Sans"/>
                <a:cs typeface="Nunito Sans"/>
                <a:sym typeface="Nunito Sans"/>
              </a:rPr>
              <a:t>The Problem Statement</a:t>
            </a:r>
            <a:endParaRPr b="0" dirty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77" name="Google Shape;677;p41"/>
          <p:cNvSpPr txBox="1">
            <a:spLocks noGrp="1"/>
          </p:cNvSpPr>
          <p:nvPr>
            <p:ph type="body" idx="1"/>
          </p:nvPr>
        </p:nvSpPr>
        <p:spPr>
          <a:xfrm>
            <a:off x="434385" y="1803629"/>
            <a:ext cx="3452400" cy="33398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="1" u="sng" dirty="0">
                <a:latin typeface="Nunito Sans"/>
                <a:ea typeface="Nunito Sans"/>
                <a:cs typeface="Nunito Sans"/>
                <a:sym typeface="Nunito Sans"/>
              </a:rPr>
              <a:t>Target Audience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b="1" u="sng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latin typeface="Nunito Sans"/>
                <a:ea typeface="Nunito Sans"/>
                <a:cs typeface="Nunito Sans"/>
                <a:sym typeface="Nunito Sans"/>
              </a:rPr>
              <a:t>The Marketing &amp; Sales teams at Dress to Impress has an interest to scale their e-com business into further product lines.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="1" u="sng" dirty="0">
                <a:latin typeface="Nunito Sans"/>
                <a:ea typeface="Nunito Sans"/>
                <a:cs typeface="Nunito Sans"/>
                <a:sym typeface="Nunito Sans"/>
              </a:rPr>
              <a:t>Target Focus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b="1" u="sng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latin typeface="Nunito Sans"/>
                <a:ea typeface="Nunito Sans"/>
                <a:cs typeface="Nunito Sans"/>
                <a:sym typeface="Nunito Sans"/>
              </a:rPr>
              <a:t>The focus is on on evaluating seasonality and consumer trends </a:t>
            </a: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by demographic profile based on age, gender and shopping </a:t>
            </a:r>
            <a:r>
              <a:rPr lang="en-US" dirty="0" err="1">
                <a:latin typeface="Nunito Sans"/>
                <a:ea typeface="Nunito Sans"/>
                <a:cs typeface="Nunito Sans"/>
                <a:sym typeface="Nunito Sans"/>
              </a:rPr>
              <a:t>behaviour</a:t>
            </a: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 patterns.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>
                <a:latin typeface="Nunito Sans"/>
                <a:ea typeface="Nunito Sans"/>
                <a:cs typeface="Nunito Sans"/>
                <a:sym typeface="Nunito Sans"/>
              </a:rPr>
            </a:br>
            <a:endParaRPr dirty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58FE29-901B-27A7-5D06-943B36701563}"/>
              </a:ext>
            </a:extLst>
          </p:cNvPr>
          <p:cNvSpPr txBox="1"/>
          <p:nvPr/>
        </p:nvSpPr>
        <p:spPr>
          <a:xfrm>
            <a:off x="2409878" y="880355"/>
            <a:ext cx="19050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solidFill>
                  <a:schemeClr val="accent5">
                    <a:lumMod val="75000"/>
                  </a:schemeClr>
                </a:solidFill>
                <a:latin typeface="AppleMyungjo" pitchFamily="2" charset="-127"/>
                <a:ea typeface="AppleMyungjo" pitchFamily="2" charset="-127"/>
              </a:rPr>
              <a:t>Dress </a:t>
            </a:r>
          </a:p>
          <a:p>
            <a:pPr algn="ctr"/>
            <a:r>
              <a:rPr lang="en-US" sz="2000" u="sng" dirty="0">
                <a:solidFill>
                  <a:schemeClr val="accent5">
                    <a:lumMod val="75000"/>
                  </a:schemeClr>
                </a:solidFill>
                <a:latin typeface="AppleMyungjo" pitchFamily="2" charset="-127"/>
                <a:ea typeface="AppleMyungjo" pitchFamily="2" charset="-127"/>
              </a:rPr>
              <a:t>to </a:t>
            </a:r>
          </a:p>
          <a:p>
            <a:pPr algn="ctr"/>
            <a:r>
              <a:rPr lang="en-US" sz="2000" u="sng" dirty="0">
                <a:solidFill>
                  <a:schemeClr val="accent5">
                    <a:lumMod val="75000"/>
                  </a:schemeClr>
                </a:solidFill>
                <a:latin typeface="AppleMyungjo" pitchFamily="2" charset="-127"/>
                <a:ea typeface="AppleMyungjo" pitchFamily="2" charset="-127"/>
              </a:rPr>
              <a:t>Impress</a:t>
            </a:r>
          </a:p>
          <a:p>
            <a:pPr algn="ctr"/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AppleMyungjo" pitchFamily="2" charset="-127"/>
                <a:ea typeface="AppleMyungjo" pitchFamily="2" charset="-127"/>
              </a:rPr>
              <a:t>Basic to premium clothing &amp; accessories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C7D168-FE92-D500-9EFB-93F3F8B97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727" y="930904"/>
            <a:ext cx="385782" cy="8991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5BABF7-AD92-D801-388D-A213076670DC}"/>
              </a:ext>
            </a:extLst>
          </p:cNvPr>
          <p:cNvSpPr txBox="1"/>
          <p:nvPr/>
        </p:nvSpPr>
        <p:spPr>
          <a:xfrm>
            <a:off x="4742387" y="403741"/>
            <a:ext cx="372726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Nunito Sans"/>
                <a:ea typeface="Nunito Sans"/>
                <a:cs typeface="Nunito Sans"/>
                <a:sym typeface="Nunito Sans"/>
              </a:rPr>
              <a:t>Target Purpose</a:t>
            </a:r>
          </a:p>
          <a:p>
            <a:endParaRPr lang="en-US" sz="1200" b="1" u="sng" dirty="0">
              <a:latin typeface="Nunito Sans"/>
              <a:ea typeface="Nunito Sans"/>
              <a:cs typeface="Nunito Sans"/>
              <a:sym typeface="Nunito Sans"/>
            </a:endParaRPr>
          </a:p>
          <a:p>
            <a:r>
              <a:rPr lang="en-US" sz="1200" b="1" u="sng" dirty="0">
                <a:latin typeface="Nunito Sans"/>
                <a:ea typeface="Nunito Sans"/>
                <a:cs typeface="Nunito Sans"/>
                <a:sym typeface="Nunito Sans"/>
              </a:rPr>
              <a:t>The Head of Sales would like to…</a:t>
            </a:r>
          </a:p>
          <a:p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Nunito Sans"/>
                <a:ea typeface="Nunito Sans"/>
                <a:cs typeface="Nunito Sans"/>
                <a:sym typeface="Nunito Sans"/>
              </a:rPr>
              <a:t>Understand their consumer demographic trends to establish a sales strategy for NTB</a:t>
            </a:r>
          </a:p>
          <a:p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Nunito Sans"/>
                <a:ea typeface="Nunito Sans"/>
                <a:cs typeface="Nunito Sans"/>
                <a:sym typeface="Nunito Sans"/>
              </a:rPr>
              <a:t>Set promotions by seasonal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r>
              <a:rPr lang="en-US" sz="1200" b="1" u="sng" dirty="0">
                <a:latin typeface="Nunito Sans"/>
                <a:ea typeface="Nunito Sans"/>
                <a:cs typeface="Nunito Sans"/>
                <a:sym typeface="Nunito Sans"/>
              </a:rPr>
              <a:t>The Head of MKT would like to…</a:t>
            </a:r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Nunito Sans"/>
                <a:ea typeface="Nunito Sans"/>
                <a:cs typeface="Nunito Sans"/>
                <a:sym typeface="Nunito Sans"/>
              </a:rPr>
              <a:t>Send out targeted promotional EDMs to potential subscribers</a:t>
            </a:r>
          </a:p>
          <a:p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Nunito Sans"/>
                <a:ea typeface="Nunito Sans"/>
                <a:cs typeface="Nunito Sans"/>
                <a:sym typeface="Nunito Sans"/>
              </a:rPr>
              <a:t>Send out targeted promotional EDMs by shopping behavior </a:t>
            </a:r>
          </a:p>
          <a:p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u="sng" dirty="0">
                <a:latin typeface="Nunito Sans"/>
                <a:ea typeface="Nunito Sans"/>
                <a:cs typeface="Nunito Sans"/>
                <a:sym typeface="Nunito Sans"/>
              </a:rPr>
              <a:t>BOTH would like to</a:t>
            </a:r>
          </a:p>
          <a:p>
            <a:endParaRPr lang="en-US" sz="1200" b="1" u="sng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Nunito Sans"/>
                <a:ea typeface="Nunito Sans"/>
                <a:cs typeface="Nunito Sans"/>
                <a:sym typeface="Nunito Sans"/>
              </a:rPr>
              <a:t>Introduce rewards program for potential subscribers based on purchasing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Nunito Sans"/>
              <a:ea typeface="Nunito Sans"/>
              <a:cs typeface="Nunito Sans"/>
              <a:sym typeface="Nunito Sans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2E57AF-2513-427B-A2DE-533B66DA1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905" y="904508"/>
            <a:ext cx="415555" cy="8991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2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Hypothesis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83" name="Google Shape;683;p42"/>
          <p:cNvSpPr txBox="1">
            <a:spLocks noGrp="1"/>
          </p:cNvSpPr>
          <p:nvPr>
            <p:ph type="body" idx="1"/>
          </p:nvPr>
        </p:nvSpPr>
        <p:spPr>
          <a:xfrm>
            <a:off x="380999" y="1435790"/>
            <a:ext cx="7886075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AutoNum type="arabicPeriod"/>
            </a:pPr>
            <a:r>
              <a:rPr lang="en-US" dirty="0"/>
              <a:t>Older customers tend to spend more per purchase than younger customers.</a:t>
            </a:r>
          </a:p>
          <a:p>
            <a:pPr marL="228600" lvl="0" indent="-228600">
              <a:buAutoNum type="arabicPeriod"/>
            </a:pPr>
            <a:r>
              <a:rPr lang="en-US" dirty="0"/>
              <a:t>Subscribed customers have higher purchase frequency and total purchase count than unsubscribed ones.</a:t>
            </a:r>
          </a:p>
          <a:p>
            <a:pPr marL="228600" lvl="0" indent="-228600">
              <a:buAutoNum type="arabicPeriod"/>
            </a:pPr>
            <a:r>
              <a:rPr lang="en-US" dirty="0"/>
              <a:t>Product category preferences vary significantly by gender; females most likely purchase more accessories and footwear.</a:t>
            </a:r>
          </a:p>
          <a:p>
            <a:pPr marL="228600" lvl="0" indent="-228600">
              <a:buAutoNum type="arabicPeriod"/>
            </a:pPr>
            <a:r>
              <a:rPr lang="en-US" dirty="0"/>
              <a:t> Products from “summer” or “spring” season show spikes in number of purchases midway through the season whilst “winter” and “fall” at the beginning of the season. </a:t>
            </a:r>
          </a:p>
          <a:p>
            <a:pPr marL="228600" lvl="0" indent="-228600">
              <a:buAutoNum type="arabicPeriod"/>
            </a:pPr>
            <a:r>
              <a:rPr lang="en-US" dirty="0"/>
              <a:t>Higher-rated products are purchased more frequently and generate higher revenue.</a:t>
            </a:r>
          </a:p>
          <a:p>
            <a:pPr marL="228600" lvl="0" indent="-228600">
              <a:buAutoNum type="arabicPeriod"/>
            </a:pPr>
            <a:r>
              <a:rPr lang="en-US" dirty="0"/>
              <a:t>The average customer would spend more on their purchase if they are offered free shipping. </a:t>
            </a:r>
          </a:p>
          <a:p>
            <a:pPr marL="228600" lvl="0" indent="-228600">
              <a:buAutoNum type="arabicPeriod"/>
            </a:pPr>
            <a:r>
              <a:rPr lang="en-US" dirty="0"/>
              <a:t>Younger customers prefer digital wallets (e.g., PayPal), while older customers lean toward credit cards.</a:t>
            </a:r>
          </a:p>
          <a:p>
            <a:pPr marL="228600" lvl="0" indent="-228600">
              <a:buAutoNum type="arabicPeriod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Location: TBC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Data and Tools Used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89" name="Google Shape;689;p43"/>
          <p:cNvSpPr txBox="1">
            <a:spLocks noGrp="1"/>
          </p:cNvSpPr>
          <p:nvPr>
            <p:ph type="body" idx="1"/>
          </p:nvPr>
        </p:nvSpPr>
        <p:spPr>
          <a:xfrm>
            <a:off x="381000" y="126300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-"/>
            </a:pPr>
            <a:r>
              <a:rPr lang="en-US" b="1" dirty="0">
                <a:latin typeface="Nunito Sans"/>
                <a:ea typeface="Nunito Sans"/>
                <a:cs typeface="Nunito Sans"/>
                <a:sym typeface="Nunito Sans"/>
              </a:rPr>
              <a:t>Where did you find the dataset?</a:t>
            </a: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400" dirty="0">
                <a:solidFill>
                  <a:srgbClr val="000000"/>
                </a:solidFill>
                <a:latin typeface="Nunito Sans"/>
                <a:sym typeface="Nunito Sans"/>
              </a:rPr>
              <a:t>Our dataset was found on </a:t>
            </a:r>
            <a:r>
              <a:rPr lang="en-US" sz="1400" dirty="0" err="1">
                <a:solidFill>
                  <a:srgbClr val="000000"/>
                </a:solidFill>
                <a:latin typeface="Nunito Sans"/>
                <a:sym typeface="Nunito Sans"/>
              </a:rPr>
              <a:t>Kaggle.com</a:t>
            </a:r>
            <a:endParaRPr lang="en-US" sz="1400" dirty="0">
              <a:solidFill>
                <a:srgbClr val="000000"/>
              </a:solidFill>
              <a:latin typeface="Nunito Sans"/>
              <a:sym typeface="Nunito Sans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1400" dirty="0">
              <a:solidFill>
                <a:srgbClr val="000000"/>
              </a:solidFill>
              <a:latin typeface="Nunito Sans"/>
              <a:sym typeface="Nunito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-"/>
            </a:pPr>
            <a:endParaRPr lang="en-US" b="1" dirty="0">
              <a:latin typeface="Nunito Sans"/>
              <a:ea typeface="Nunito Sans"/>
              <a:cs typeface="Nunito Sans"/>
              <a:sym typeface="Nunito Sans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200"/>
              <a:buFontTx/>
              <a:buChar char="-"/>
            </a:pPr>
            <a:r>
              <a:rPr lang="en-US" b="1" dirty="0">
                <a:latin typeface="Nunito Sans"/>
                <a:ea typeface="Nunito Sans"/>
                <a:cs typeface="Nunito Sans"/>
                <a:sym typeface="Nunito Sans"/>
              </a:rPr>
              <a:t>Did you have to join multiple datasets in order to create the ideal dataset? </a:t>
            </a: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b="1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52400" indent="0">
              <a:buNone/>
            </a:pPr>
            <a:r>
              <a:rPr lang="en-US" sz="1400" dirty="0">
                <a:solidFill>
                  <a:srgbClr val="000000"/>
                </a:solidFill>
                <a:latin typeface="Nunito Sans"/>
                <a:sym typeface="Nunito Sans"/>
              </a:rPr>
              <a:t>No, however our dataset had to be cleaned, and variables e.g. purchase date and purchase id added so that we could build a relational database </a:t>
            </a:r>
            <a:endParaRPr sz="1400" dirty="0">
              <a:solidFill>
                <a:srgbClr val="000000"/>
              </a:solidFill>
              <a:latin typeface="Nunito Sans"/>
              <a:sym typeface="Nunito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-"/>
            </a:pPr>
            <a:endParaRPr dirty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4AB3B1-561B-A954-8CF1-BCF4F775F7F4}"/>
              </a:ext>
            </a:extLst>
          </p:cNvPr>
          <p:cNvSpPr txBox="1"/>
          <p:nvPr/>
        </p:nvSpPr>
        <p:spPr>
          <a:xfrm>
            <a:off x="4572000" y="505097"/>
            <a:ext cx="398852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04800">
              <a:buSzPts val="1200"/>
              <a:buFont typeface="Nunito Sans"/>
              <a:buChar char="-"/>
            </a:pPr>
            <a:r>
              <a:rPr lang="en-US" sz="1200" b="1" dirty="0">
                <a:latin typeface="Nunito Sans"/>
                <a:ea typeface="Nunito Sans"/>
                <a:cs typeface="Nunito Sans"/>
                <a:sym typeface="Nunito Sans"/>
              </a:rPr>
              <a:t>What other data would you have liked to  have in an ideal scenario?</a:t>
            </a:r>
          </a:p>
          <a:p>
            <a:pPr marL="457200" lvl="0" indent="-304800">
              <a:buSzPts val="1200"/>
              <a:buFont typeface="Nunito Sans"/>
              <a:buChar char="-"/>
            </a:pPr>
            <a:endParaRPr lang="en-US" sz="1200" b="1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52400" lvl="0">
              <a:buSzPts val="1200"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Lead source of acquisition channel to assist the Marketing team on strategy of most profitable channels and expansion into further channels</a:t>
            </a:r>
          </a:p>
          <a:p>
            <a:pPr marL="152400" lvl="0">
              <a:buSzPts val="1200"/>
            </a:pPr>
            <a:endParaRPr lang="en-US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52400" lvl="0">
              <a:buSzPts val="1200"/>
            </a:pPr>
            <a:endParaRPr lang="en-US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52400" lvl="0">
              <a:buSzPts val="1200"/>
            </a:pPr>
            <a:endParaRPr lang="en-US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52400" lvl="0">
              <a:buSzPts val="1200"/>
            </a:pPr>
            <a:endParaRPr lang="en-US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52400" lvl="0">
              <a:buSzPts val="1200"/>
            </a:pPr>
            <a:endParaRPr lang="en-US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52400" lvl="0">
              <a:buSzPts val="1200"/>
            </a:pPr>
            <a:endParaRPr lang="en-US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52400" lvl="0">
              <a:buSzPts val="1200"/>
            </a:pPr>
            <a:endParaRPr lang="en-US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52400" lvl="0">
              <a:buSzPts val="1200"/>
            </a:pPr>
            <a:endParaRPr lang="en-US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152400" lvl="0">
              <a:buSzPts val="1200"/>
            </a:pPr>
            <a:endParaRPr lang="en-US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04800">
              <a:buSzPts val="1200"/>
              <a:buFont typeface="Nunito Sans"/>
              <a:buChar char="-"/>
            </a:pPr>
            <a:r>
              <a:rPr lang="en-US" sz="1200" b="1" dirty="0">
                <a:latin typeface="Nunito Sans"/>
                <a:ea typeface="Nunito Sans"/>
                <a:cs typeface="Nunito Sans"/>
                <a:sym typeface="Nunito Sans"/>
              </a:rPr>
              <a:t>Which tools did you use to undertake the processing and statistical analysis?</a:t>
            </a:r>
          </a:p>
          <a:p>
            <a:pPr lvl="1"/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 </a:t>
            </a:r>
          </a:p>
          <a:p>
            <a:pPr lvl="1"/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Microsoft Excel &amp; SQL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90C7F3-8AB2-429D-65AB-4D1448A6A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934" y="2080491"/>
            <a:ext cx="3251466" cy="1701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4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Data Processing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95" name="Google Shape;695;p44"/>
          <p:cNvSpPr txBox="1">
            <a:spLocks noGrp="1"/>
          </p:cNvSpPr>
          <p:nvPr>
            <p:ph type="body" idx="1"/>
          </p:nvPr>
        </p:nvSpPr>
        <p:spPr>
          <a:xfrm>
            <a:off x="380999" y="1435790"/>
            <a:ext cx="8313295" cy="34809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What did you do to refine your data: outline your process.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Inspected column types, nulls, and row counts across tables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Removed duplicates using DISTINCT and ROW_NUMBER() on product attributes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Validated joins between purchases, products, and customers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Standardized inconsistent values and normalized categories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Parsed </a:t>
            </a:r>
            <a:r>
              <a:rPr lang="en-US" dirty="0" err="1">
                <a:latin typeface="Nunito Sans"/>
                <a:ea typeface="Nunito Sans"/>
                <a:cs typeface="Nunito Sans"/>
                <a:sym typeface="Nunito Sans"/>
              </a:rPr>
              <a:t>purchase_date</a:t>
            </a: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 into MONTH() and YEAR() for seasonal analysis</a:t>
            </a:r>
          </a:p>
          <a:p>
            <a:pPr marL="0" indent="0">
              <a:buNone/>
            </a:pPr>
            <a:endParaRPr lang="en-US" b="1"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indent="0">
              <a:buNone/>
            </a:pPr>
            <a:r>
              <a:rPr lang="en-US" b="1" dirty="0">
                <a:latin typeface="Nunito Sans"/>
                <a:ea typeface="Nunito Sans"/>
                <a:cs typeface="Nunito Sans"/>
                <a:sym typeface="Nunito Sans"/>
              </a:rPr>
              <a:t>Outliers</a:t>
            </a: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. How did you determine outliers in your dataset? What thresholds did you set? Did you have to make any additional assumptions? </a:t>
            </a:r>
            <a:endParaRPr lang="en-US" dirty="0">
              <a:latin typeface="Nunito Sans"/>
              <a:sym typeface="Nunito Sans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sym typeface="Nunito Sans"/>
              </a:rPr>
              <a:t>Flagged outliers in purchase amount, rating, and purchase count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sym typeface="Nunito Sans"/>
              </a:rPr>
              <a:t>Set business rules (e.g., purchase count &gt; 50) for additional flags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sym typeface="Nunito Sans"/>
              </a:rPr>
              <a:t>Preserved valid outliers unless clearly erroneous or duplicated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5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Data Processing 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01" name="Google Shape;701;p45"/>
          <p:cNvSpPr txBox="1">
            <a:spLocks noGrp="1"/>
          </p:cNvSpPr>
          <p:nvPr>
            <p:ph type="body" idx="1"/>
          </p:nvPr>
        </p:nvSpPr>
        <p:spPr>
          <a:xfrm>
            <a:off x="380999" y="1435790"/>
            <a:ext cx="8523157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Were there any surprising insights from your data processing/exploration?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Outerwear peaked in summer, dipped in fall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Jewelry dominated spring purchases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Younger users favored digital payments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High ratings didn’t always mean high sales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Plots showing these insights? These can be visuals exported from Tableau.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C13605-65A1-9D40-86A2-312ACBBBC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24" y="3233046"/>
            <a:ext cx="2790829" cy="16404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6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latin typeface="Nunito Sans"/>
                <a:ea typeface="Nunito Sans"/>
                <a:cs typeface="Nunito Sans"/>
                <a:sym typeface="Nunito Sans"/>
              </a:rPr>
              <a:t>Statistical Analysis</a:t>
            </a:r>
            <a:endParaRPr b="0" dirty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07" name="Google Shape;707;p46"/>
          <p:cNvSpPr txBox="1">
            <a:spLocks noGrp="1"/>
          </p:cNvSpPr>
          <p:nvPr>
            <p:ph type="body" idx="1"/>
          </p:nvPr>
        </p:nvSpPr>
        <p:spPr>
          <a:xfrm>
            <a:off x="380999" y="1435790"/>
            <a:ext cx="6484495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An overview of the different statistical analyses performed, and </a:t>
            </a:r>
            <a:r>
              <a:rPr lang="en-US" b="1" dirty="0">
                <a:latin typeface="Nunito Sans"/>
                <a:ea typeface="Nunito Sans"/>
                <a:cs typeface="Nunito Sans"/>
                <a:sym typeface="Nunito Sans"/>
              </a:rPr>
              <a:t>why</a:t>
            </a: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 they were chosen.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Descriptive statistics for purchase behavior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Aggregation by category, season, and demographic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Seasonal </a:t>
            </a: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alignment logic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latin typeface="Nunito Sans"/>
                <a:ea typeface="Nunito Sans"/>
                <a:cs typeface="Nunito Sans"/>
                <a:sym typeface="Nunito Sans"/>
              </a:rPr>
              <a:t>Note: Feel free to make multiple slides to discuss each one in more detail. </a:t>
            </a:r>
            <a:endParaRPr dirty="0"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746A-480F-4ACD-A80C-D87EEA0DD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09600"/>
            <a:ext cx="8358266" cy="347700"/>
          </a:xfrm>
        </p:spPr>
        <p:txBody>
          <a:bodyPr/>
          <a:lstStyle/>
          <a:p>
            <a:r>
              <a:rPr lang="en-US" dirty="0"/>
              <a:t>Older customers tend to spend more per purchase than younger customers.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30D7D-1FC5-1DF8-941F-458C5DAD0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CA" dirty="0"/>
              <a:t>Customers aged 46-55 have the most disposable income as they have spent the most in total purchases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DF721D2-53B3-CEF5-E8E0-AF0DCC9B0E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8444550"/>
              </p:ext>
            </p:extLst>
          </p:nvPr>
        </p:nvGraphicFramePr>
        <p:xfrm>
          <a:off x="3833400" y="143579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51B9CA-48EC-D013-200C-A4ED96192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691551"/>
              </p:ext>
            </p:extLst>
          </p:nvPr>
        </p:nvGraphicFramePr>
        <p:xfrm>
          <a:off x="596094" y="2571750"/>
          <a:ext cx="2476500" cy="13335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1595372370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70340560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1" u="none" strike="noStrike" dirty="0" err="1">
                          <a:solidFill>
                            <a:srgbClr val="FFFFFF"/>
                          </a:solidFill>
                          <a:effectLst/>
                        </a:rPr>
                        <a:t>Age_Group</a:t>
                      </a:r>
                      <a:endParaRPr lang="en-CA" sz="9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1" u="none" strike="noStrike">
                          <a:solidFill>
                            <a:srgbClr val="FFFFFF"/>
                          </a:solidFill>
                          <a:effectLst/>
                        </a:rPr>
                        <a:t>Total_purchase_amount</a:t>
                      </a:r>
                      <a:endParaRPr lang="en-CA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44742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18-25</a:t>
                      </a:r>
                      <a:endParaRPr lang="en-CA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 $                               34,630.00 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50971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26-35</a:t>
                      </a:r>
                      <a:endParaRPr lang="en-CA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                    44,342.00 </a:t>
                      </a:r>
                      <a:endParaRPr lang="en-CA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18132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36-45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                    43,234.00 </a:t>
                      </a:r>
                      <a:endParaRPr lang="en-CA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2033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46-55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                    45,619.00 </a:t>
                      </a:r>
                      <a:endParaRPr lang="en-CA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61627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56-65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                    44,352.00 </a:t>
                      </a:r>
                      <a:endParaRPr lang="en-CA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28242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66+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$                               20,904.00 </a:t>
                      </a:r>
                      <a:endParaRPr lang="en-CA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029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69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C5779-AC06-C6E1-FD31-2BE5523A2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A715-D5A4-CC11-E4BA-ECD3B526C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09600"/>
            <a:ext cx="8358266" cy="347700"/>
          </a:xfrm>
        </p:spPr>
        <p:txBody>
          <a:bodyPr/>
          <a:lstStyle/>
          <a:p>
            <a:pPr lvl="0"/>
            <a:r>
              <a:rPr lang="en-CA" dirty="0"/>
              <a:t>Do subscribed customers purchase more frequently?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E4771-8F42-4F11-1F74-99140BDBA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7501" y="1421737"/>
            <a:ext cx="3452400" cy="2617500"/>
          </a:xfrm>
        </p:spPr>
        <p:txBody>
          <a:bodyPr/>
          <a:lstStyle/>
          <a:p>
            <a:pPr marL="152400" indent="0">
              <a:buNone/>
            </a:pPr>
            <a:r>
              <a:rPr lang="en-CA" dirty="0"/>
              <a:t> Average purchase count stands at 26.08 for subscribed customers vs. 25.08 for unsubscribed.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BF523D9-AEF8-D74A-0472-8F5340A516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0198207"/>
              </p:ext>
            </p:extLst>
          </p:nvPr>
        </p:nvGraphicFramePr>
        <p:xfrm>
          <a:off x="285501" y="14217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6A26FD-43A8-E9A5-E6DB-59AA6B3D0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566070"/>
              </p:ext>
            </p:extLst>
          </p:nvPr>
        </p:nvGraphicFramePr>
        <p:xfrm>
          <a:off x="5027951" y="2665920"/>
          <a:ext cx="3111500" cy="5715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1680945397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26036919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 dirty="0" err="1">
                          <a:effectLst/>
                        </a:rPr>
                        <a:t>Customer_subscription</a:t>
                      </a:r>
                      <a:endParaRPr lang="en-CA" sz="9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Avg_purchase_count</a:t>
                      </a:r>
                      <a:endParaRPr lang="en-CA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39692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Subcribed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26.0845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077968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Unsubscribed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 dirty="0">
                          <a:effectLst/>
                        </a:rPr>
                        <a:t>25.0804</a:t>
                      </a:r>
                      <a:endParaRPr lang="en-CA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1023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426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B915-9A34-77B7-CE9F-47669A65B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0A78F-0271-51C6-9A72-F8CE753B8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09600"/>
            <a:ext cx="8358266" cy="347700"/>
          </a:xfrm>
        </p:spPr>
        <p:txBody>
          <a:bodyPr/>
          <a:lstStyle/>
          <a:p>
            <a:pPr lvl="0"/>
            <a:r>
              <a:rPr lang="en-CA" dirty="0"/>
              <a:t>Do product preferences vary by gender?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FCD02-A16A-3E24-5305-0547C3BEE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CA" dirty="0"/>
              <a:t> Product category preferences vary significantly by gender (e.g., tech vs. apparel).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19B7DA-7E90-F074-AD1E-C371C0D00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521332"/>
              </p:ext>
            </p:extLst>
          </p:nvPr>
        </p:nvGraphicFramePr>
        <p:xfrm>
          <a:off x="574728" y="2359264"/>
          <a:ext cx="3809896" cy="1888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363">
                  <a:extLst>
                    <a:ext uri="{9D8B030D-6E8A-4147-A177-3AD203B41FA5}">
                      <a16:colId xmlns:a16="http://schemas.microsoft.com/office/drawing/2014/main" val="3432806400"/>
                    </a:ext>
                  </a:extLst>
                </a:gridCol>
                <a:gridCol w="1007597">
                  <a:extLst>
                    <a:ext uri="{9D8B030D-6E8A-4147-A177-3AD203B41FA5}">
                      <a16:colId xmlns:a16="http://schemas.microsoft.com/office/drawing/2014/main" val="3780042498"/>
                    </a:ext>
                  </a:extLst>
                </a:gridCol>
                <a:gridCol w="820436">
                  <a:extLst>
                    <a:ext uri="{9D8B030D-6E8A-4147-A177-3AD203B41FA5}">
                      <a16:colId xmlns:a16="http://schemas.microsoft.com/office/drawing/2014/main" val="516779512"/>
                    </a:ext>
                  </a:extLst>
                </a:gridCol>
                <a:gridCol w="943500">
                  <a:extLst>
                    <a:ext uri="{9D8B030D-6E8A-4147-A177-3AD203B41FA5}">
                      <a16:colId xmlns:a16="http://schemas.microsoft.com/office/drawing/2014/main" val="2703821875"/>
                    </a:ext>
                  </a:extLst>
                </a:gridCol>
              </a:tblGrid>
              <a:tr h="171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Customer_gender</a:t>
                      </a:r>
                      <a:endParaRPr lang="en-CA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Product_category</a:t>
                      </a:r>
                      <a:endParaRPr lang="en-CA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Product_item</a:t>
                      </a:r>
                      <a:endParaRPr lang="en-CA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 dirty="0" err="1">
                          <a:effectLst/>
                        </a:rPr>
                        <a:t>Purchase_count</a:t>
                      </a:r>
                      <a:endParaRPr lang="en-CA" sz="9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5618873"/>
                  </a:ext>
                </a:extLst>
              </a:tr>
              <a:tr h="171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Female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Clothing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Blouse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66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6671477"/>
                  </a:ext>
                </a:extLst>
              </a:tr>
              <a:tr h="171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Female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Footwear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Sandals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59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70663971"/>
                  </a:ext>
                </a:extLst>
              </a:tr>
              <a:tr h="171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Female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Clothing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Shirt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59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8464873"/>
                  </a:ext>
                </a:extLst>
              </a:tr>
              <a:tr h="171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Female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Clothing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Socks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58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0365137"/>
                  </a:ext>
                </a:extLst>
              </a:tr>
              <a:tr h="171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Female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Accessories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Handbag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58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59210429"/>
                  </a:ext>
                </a:extLst>
              </a:tr>
              <a:tr h="171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Male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Clothing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Pants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123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39291014"/>
                  </a:ext>
                </a:extLst>
              </a:tr>
              <a:tr h="171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Male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Accessories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Jewelry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119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8701211"/>
                  </a:ext>
                </a:extLst>
              </a:tr>
              <a:tr h="171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Male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Clothing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Dress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114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500657"/>
                  </a:ext>
                </a:extLst>
              </a:tr>
              <a:tr h="171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Male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Outerwear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Coat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114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0747296"/>
                  </a:ext>
                </a:extLst>
              </a:tr>
              <a:tr h="171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Male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Clothing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u="none" strike="noStrike">
                          <a:effectLst/>
                        </a:rPr>
                        <a:t>Sweater</a:t>
                      </a:r>
                      <a:endParaRPr lang="en-CA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900" u="none" strike="noStrike" dirty="0">
                          <a:effectLst/>
                        </a:rPr>
                        <a:t>114</a:t>
                      </a:r>
                      <a:endParaRPr lang="en-CA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815559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950F95B4-7EC1-539B-A5DC-EDAD8516470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96721973"/>
                  </p:ext>
                </p:extLst>
              </p:nvPr>
            </p:nvGraphicFramePr>
            <p:xfrm>
              <a:off x="4572000" y="1516686"/>
              <a:ext cx="3990921" cy="283046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950F95B4-7EC1-539B-A5DC-EDAD851647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2000" y="1516686"/>
                <a:ext cx="3990921" cy="283046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7000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C37F8-3E48-5E55-EF1D-42612435D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705A4-9F6C-5073-1CF4-4C53E401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09600"/>
            <a:ext cx="8358266" cy="347700"/>
          </a:xfrm>
        </p:spPr>
        <p:txBody>
          <a:bodyPr/>
          <a:lstStyle/>
          <a:p>
            <a:pPr lvl="0"/>
            <a:r>
              <a:rPr lang="en-CA" dirty="0"/>
              <a:t>Are seasonal products purchased more during their season?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94EFF-77BA-949B-65C7-EB561A737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7501" y="1421737"/>
            <a:ext cx="3452400" cy="2617500"/>
          </a:xfrm>
        </p:spPr>
        <p:txBody>
          <a:bodyPr/>
          <a:lstStyle/>
          <a:p>
            <a:pPr marL="152400" indent="0">
              <a:buNone/>
            </a:pPr>
            <a:r>
              <a:rPr lang="en-CA" dirty="0"/>
              <a:t> Products labeled as “summer” or “winter” show seasonal spikes in purchase amount.</a:t>
            </a:r>
          </a:p>
          <a:p>
            <a:pPr marL="152400" indent="0">
              <a:buNone/>
            </a:pP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B78894-6A8D-EC89-83DC-25A1AFD13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506889"/>
              </p:ext>
            </p:extLst>
          </p:nvPr>
        </p:nvGraphicFramePr>
        <p:xfrm>
          <a:off x="5089161" y="2317087"/>
          <a:ext cx="1828800" cy="9525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13137">
                  <a:extLst>
                    <a:ext uri="{9D8B030D-6E8A-4147-A177-3AD203B41FA5}">
                      <a16:colId xmlns:a16="http://schemas.microsoft.com/office/drawing/2014/main" val="2695388826"/>
                    </a:ext>
                  </a:extLst>
                </a:gridCol>
                <a:gridCol w="1115663">
                  <a:extLst>
                    <a:ext uri="{9D8B030D-6E8A-4147-A177-3AD203B41FA5}">
                      <a16:colId xmlns:a16="http://schemas.microsoft.com/office/drawing/2014/main" val="287805055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u="none" strike="noStrike">
                          <a:effectLst/>
                        </a:rPr>
                        <a:t>Seasons</a:t>
                      </a:r>
                      <a:endParaRPr lang="en-CA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u="none" strike="noStrike">
                          <a:effectLst/>
                        </a:rPr>
                        <a:t>Total_Purchase</a:t>
                      </a:r>
                      <a:endParaRPr lang="en-CA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95242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u="none" strike="noStrike">
                          <a:effectLst/>
                        </a:rPr>
                        <a:t>Fall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100" u="none" strike="noStrike">
                          <a:effectLst/>
                        </a:rPr>
                        <a:t>975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06195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u="none" strike="noStrike">
                          <a:effectLst/>
                        </a:rPr>
                        <a:t>Winter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100" u="none" strike="noStrike">
                          <a:effectLst/>
                        </a:rPr>
                        <a:t>971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7061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u="none" strike="noStrike">
                          <a:effectLst/>
                        </a:rPr>
                        <a:t>Spring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100" u="none" strike="noStrike">
                          <a:effectLst/>
                        </a:rPr>
                        <a:t>999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80882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u="none" strike="noStrike">
                          <a:effectLst/>
                        </a:rPr>
                        <a:t>Summer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100" u="none" strike="noStrike" dirty="0">
                          <a:effectLst/>
                        </a:rPr>
                        <a:t>955</a:t>
                      </a: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64955340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56631BF-A15C-4D30-67E2-F07CE8266A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0806363"/>
              </p:ext>
            </p:extLst>
          </p:nvPr>
        </p:nvGraphicFramePr>
        <p:xfrm>
          <a:off x="285501" y="14217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3838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A61B3-959D-5894-21D8-6004BE07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3D02-BF7F-A3E0-58A5-654760083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09600"/>
            <a:ext cx="8358266" cy="347700"/>
          </a:xfrm>
        </p:spPr>
        <p:txBody>
          <a:bodyPr/>
          <a:lstStyle/>
          <a:p>
            <a:pPr lvl="0"/>
            <a:r>
              <a:rPr lang="en-CA" dirty="0"/>
              <a:t>Do higher-rated products sell more?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A19E4-2571-1771-911F-682DE7F2E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435790"/>
            <a:ext cx="8020987" cy="347700"/>
          </a:xfrm>
        </p:spPr>
        <p:txBody>
          <a:bodyPr/>
          <a:lstStyle/>
          <a:p>
            <a:pPr marL="152400" indent="0">
              <a:buNone/>
            </a:pPr>
            <a:r>
              <a:rPr lang="en-CA" dirty="0"/>
              <a:t> Higher-rated products are purchased more frequently and generate higher revenue.</a:t>
            </a:r>
          </a:p>
          <a:p>
            <a:pPr marL="152400" indent="0">
              <a:buNone/>
            </a:pPr>
            <a:endParaRPr lang="en-CA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A479631-852D-842F-B608-E6EDFCE332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1431626"/>
              </p:ext>
            </p:extLst>
          </p:nvPr>
        </p:nvGraphicFramePr>
        <p:xfrm>
          <a:off x="664936" y="1984806"/>
          <a:ext cx="6028173" cy="2750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67752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06E3-85C6-B658-2EEE-AB1066BF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151" y="104503"/>
            <a:ext cx="6984274" cy="1072471"/>
          </a:xfrm>
        </p:spPr>
        <p:txBody>
          <a:bodyPr/>
          <a:lstStyle/>
          <a:p>
            <a:pPr algn="ctr"/>
            <a:r>
              <a:rPr lang="en-US" dirty="0">
                <a:latin typeface="Nunito Sans" pitchFamily="2" charset="77"/>
              </a:rPr>
              <a:t>Rewards program based on subscriber seasonal purchasing patterns</a:t>
            </a:r>
            <a:br>
              <a:rPr lang="en-US" dirty="0">
                <a:latin typeface="Nunito Sans" pitchFamily="2" charset="77"/>
              </a:rPr>
            </a:br>
            <a:endParaRPr lang="en-US" dirty="0">
              <a:latin typeface="Nunito Sans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92F698-D617-C15C-71B8-9D3B06DDA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186" y="766901"/>
            <a:ext cx="3270128" cy="4388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5D5587-8531-C87A-1F84-07D9440CE2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58" r="1326"/>
          <a:stretch>
            <a:fillRect/>
          </a:stretch>
        </p:blipFill>
        <p:spPr>
          <a:xfrm>
            <a:off x="306610" y="867871"/>
            <a:ext cx="3183663" cy="427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5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7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Insights Discussion 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13" name="Google Shape;713;p47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What were the main insights from the Statistical Analyses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Note: Using visuals to discuss these would be ideal. These can be visuals exported from Tableau 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8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Summary Conclusions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19" name="Google Shape;719;p48"/>
          <p:cNvSpPr txBox="1">
            <a:spLocks noGrp="1"/>
          </p:cNvSpPr>
          <p:nvPr>
            <p:ph type="body" idx="1"/>
          </p:nvPr>
        </p:nvSpPr>
        <p:spPr>
          <a:xfrm>
            <a:off x="381000" y="1435800"/>
            <a:ext cx="39672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Was your expected Hypothesis confirmed or not? 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Did the problem get solved from your analysis?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If not, then where do you think the issue happened. 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i="1">
                <a:latin typeface="Nunito Sans"/>
                <a:ea typeface="Nunito Sans"/>
                <a:cs typeface="Nunito Sans"/>
                <a:sym typeface="Nunito Sans"/>
              </a:rPr>
              <a:t>Note: A Hypothesis not getting confirmed is </a:t>
            </a:r>
            <a:r>
              <a:rPr lang="en-US" b="1" i="1">
                <a:latin typeface="Nunito Sans"/>
                <a:ea typeface="Nunito Sans"/>
                <a:cs typeface="Nunito Sans"/>
                <a:sym typeface="Nunito Sans"/>
              </a:rPr>
              <a:t>not</a:t>
            </a:r>
            <a:r>
              <a:rPr lang="en-US" i="1">
                <a:latin typeface="Nunito Sans"/>
                <a:ea typeface="Nunito Sans"/>
                <a:cs typeface="Nunito Sans"/>
                <a:sym typeface="Nunito Sans"/>
              </a:rPr>
              <a:t> a failure. It is a scientific method of improving understanding. Be comfortable with negative results as they are just as important in informing decisions!</a:t>
            </a:r>
            <a:endParaRPr i="1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9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 Sans"/>
                <a:ea typeface="Nunito Sans"/>
                <a:cs typeface="Nunito Sans"/>
                <a:sym typeface="Nunito Sans"/>
              </a:rPr>
              <a:t>Key Learnings</a:t>
            </a:r>
            <a:endParaRPr b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25" name="Google Shape;725;p49"/>
          <p:cNvSpPr txBox="1">
            <a:spLocks noGrp="1"/>
          </p:cNvSpPr>
          <p:nvPr>
            <p:ph type="body" idx="1"/>
          </p:nvPr>
        </p:nvSpPr>
        <p:spPr>
          <a:xfrm>
            <a:off x="381000" y="1435800"/>
            <a:ext cx="39672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unito Sans"/>
                <a:ea typeface="Nunito Sans"/>
                <a:cs typeface="Nunito Sans"/>
                <a:sym typeface="Nunito Sans"/>
              </a:rPr>
              <a:t>What would you change in this project process if you could do this all over again?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0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Thank You</a:t>
            </a:r>
            <a:endParaRPr b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1"/>
          <p:cNvSpPr txBox="1">
            <a:spLocks noGrp="1"/>
          </p:cNvSpPr>
          <p:nvPr>
            <p:ph type="title"/>
          </p:nvPr>
        </p:nvSpPr>
        <p:spPr>
          <a:xfrm>
            <a:off x="850500" y="2202450"/>
            <a:ext cx="74430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Appendix</a:t>
            </a:r>
            <a:endParaRPr b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2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4686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Nunito"/>
                <a:ea typeface="Nunito"/>
                <a:cs typeface="Nunito"/>
                <a:sym typeface="Nunito"/>
              </a:rPr>
              <a:t>References</a:t>
            </a:r>
            <a:endParaRPr b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1" name="Google Shape;741;p52"/>
          <p:cNvSpPr txBox="1">
            <a:spLocks noGrp="1"/>
          </p:cNvSpPr>
          <p:nvPr>
            <p:ph type="body" idx="1"/>
          </p:nvPr>
        </p:nvSpPr>
        <p:spPr>
          <a:xfrm>
            <a:off x="381000" y="1435790"/>
            <a:ext cx="3452400" cy="26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References for the entire workflow can go here or in Speaker Notes per slide.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rainStation Learner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1073</Words>
  <Application>Microsoft Office PowerPoint</Application>
  <PresentationFormat>On-screen Show (16:9)</PresentationFormat>
  <Paragraphs>214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Georgia</vt:lpstr>
      <vt:lpstr>Arial</vt:lpstr>
      <vt:lpstr>Merriweather Light</vt:lpstr>
      <vt:lpstr>AppleMyungjo</vt:lpstr>
      <vt:lpstr>Helvetica Neue</vt:lpstr>
      <vt:lpstr>Roboto</vt:lpstr>
      <vt:lpstr>Proxima Nova</vt:lpstr>
      <vt:lpstr>Avenir</vt:lpstr>
      <vt:lpstr>Merriweather</vt:lpstr>
      <vt:lpstr>Merriweather Sans</vt:lpstr>
      <vt:lpstr>Nunito</vt:lpstr>
      <vt:lpstr>Aptos Narrow</vt:lpstr>
      <vt:lpstr>Nunito Sans</vt:lpstr>
      <vt:lpstr>Simple Light</vt:lpstr>
      <vt:lpstr>BrainStation Learner Slide Template</vt:lpstr>
      <vt:lpstr>Simple Light</vt:lpstr>
      <vt:lpstr>Welcome</vt:lpstr>
      <vt:lpstr>Agenda</vt:lpstr>
      <vt:lpstr>The Problem Statement</vt:lpstr>
      <vt:lpstr>Hypothesis</vt:lpstr>
      <vt:lpstr>Data and Tools Used</vt:lpstr>
      <vt:lpstr>Data Processing</vt:lpstr>
      <vt:lpstr>Data Processing </vt:lpstr>
      <vt:lpstr>Statistical Analysis</vt:lpstr>
      <vt:lpstr>Older customers tend to spend more per purchase than younger customers.</vt:lpstr>
      <vt:lpstr>Do subscribed customers purchase more frequently?</vt:lpstr>
      <vt:lpstr>Do product preferences vary by gender?</vt:lpstr>
      <vt:lpstr>Are seasonal products purchased more during their season?</vt:lpstr>
      <vt:lpstr>Do higher-rated products sell more?</vt:lpstr>
      <vt:lpstr>Rewards program based on subscriber seasonal purchasing patterns </vt:lpstr>
      <vt:lpstr>Insights Discussion </vt:lpstr>
      <vt:lpstr>Summary Conclusions</vt:lpstr>
      <vt:lpstr>Key Learnings</vt:lpstr>
      <vt:lpstr>Thank You</vt:lpstr>
      <vt:lpstr>Appendix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Aleem Shaikh</cp:lastModifiedBy>
  <cp:revision>12</cp:revision>
  <dcterms:modified xsi:type="dcterms:W3CDTF">2025-10-18T20:12:50Z</dcterms:modified>
</cp:coreProperties>
</file>